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71" autoAdjust="0"/>
  </p:normalViewPr>
  <p:slideViewPr>
    <p:cSldViewPr snapToGrid="0">
      <p:cViewPr varScale="1">
        <p:scale>
          <a:sx n="82" d="100"/>
          <a:sy n="82" d="100"/>
        </p:scale>
        <p:origin x="16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barChart>
        <c:barDir val="bar"/>
        <c:grouping val="clustered"/>
        <c:varyColors val="0"/>
        <c:ser>
          <c:idx val="0"/>
          <c:order val="0"/>
          <c:tx>
            <c:strRef>
              <c:f>label 0</c:f>
              <c:strCache>
                <c:ptCount val="1"/>
                <c:pt idx="0">
                  <c:v>Pruebas</c:v>
                </c:pt>
              </c:strCache>
            </c:strRef>
          </c:tx>
          <c:spPr>
            <a:solidFill>
              <a:srgbClr val="065A82"/>
            </a:solidFill>
            <a:ln w="0">
              <a:noFill/>
            </a:ln>
          </c:spPr>
          <c:invertIfNegative val="0"/>
          <c:dLbls>
            <c:numFmt formatCode="0" sourceLinked="0"/>
            <c:spPr>
              <a:noFill/>
              <a:ln>
                <a:noFill/>
              </a:ln>
              <a:effectLst/>
            </c:spPr>
            <c:txPr>
              <a:bodyPr wrap="square"/>
              <a:lstStyle/>
              <a:p>
                <a:pPr>
                  <a:defRPr sz="1000" b="0" u="none" strike="noStrike">
                    <a:solidFill>
                      <a:srgbClr val="162230"/>
                    </a:solidFill>
                    <a:uFillTx/>
                    <a:latin typeface="Calibri"/>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000000"/>
                      </a:solidFill>
                    </a:ln>
                  </c:spPr>
                </c15:leaderLines>
              </c:ext>
            </c:extLst>
          </c:dLbls>
          <c:cat>
            <c:strRef>
              <c:f>categories</c:f>
              <c:strCache>
                <c:ptCount val="8"/>
                <c:pt idx="0">
                  <c:v>Artefactos generados</c:v>
                </c:pt>
                <c:pt idx="1">
                  <c:v>Normalización y trazabilidad</c:v>
                </c:pt>
                <c:pt idx="2">
                  <c:v>Política semántica</c:v>
                </c:pt>
                <c:pt idx="3">
                  <c:v>JSON Schema y validación</c:v>
                </c:pt>
                <c:pt idx="4">
                  <c:v>Parsers e importadores</c:v>
                </c:pt>
                <c:pt idx="5">
                  <c:v>Almacenamiento y versiones</c:v>
                </c:pt>
                <c:pt idx="6">
                  <c:v>Exportación</c:v>
                </c:pt>
                <c:pt idx="7">
                  <c:v>Extremo a extremo</c:v>
                </c:pt>
              </c:strCache>
            </c:strRef>
          </c:cat>
          <c:val>
            <c:numRef>
              <c:f>0</c:f>
              <c:numCache>
                <c:formatCode>General</c:formatCode>
                <c:ptCount val="8"/>
                <c:pt idx="0">
                  <c:v>146</c:v>
                </c:pt>
                <c:pt idx="1">
                  <c:v>90</c:v>
                </c:pt>
                <c:pt idx="2">
                  <c:v>76</c:v>
                </c:pt>
                <c:pt idx="3">
                  <c:v>25</c:v>
                </c:pt>
                <c:pt idx="4">
                  <c:v>63</c:v>
                </c:pt>
                <c:pt idx="5">
                  <c:v>25</c:v>
                </c:pt>
                <c:pt idx="6">
                  <c:v>19</c:v>
                </c:pt>
                <c:pt idx="7">
                  <c:v>44</c:v>
                </c:pt>
              </c:numCache>
            </c:numRef>
          </c:val>
          <c:extLst>
            <c:ext xmlns:c16="http://schemas.microsoft.com/office/drawing/2014/chart" uri="{C3380CC4-5D6E-409C-BE32-E72D297353CC}">
              <c16:uniqueId val="{00000000-79B3-4D72-9FFC-DF6187C71768}"/>
            </c:ext>
          </c:extLst>
        </c:ser>
        <c:dLbls>
          <c:showLegendKey val="0"/>
          <c:showVal val="0"/>
          <c:showCatName val="0"/>
          <c:showSerName val="0"/>
          <c:showPercent val="0"/>
          <c:showBubbleSize val="0"/>
        </c:dLbls>
        <c:gapWidth val="150"/>
        <c:axId val="21719795"/>
        <c:axId val="66621354"/>
      </c:barChart>
      <c:catAx>
        <c:axId val="21719795"/>
        <c:scaling>
          <c:orientation val="minMax"/>
        </c:scaling>
        <c:delete val="0"/>
        <c:axPos val="l"/>
        <c:numFmt formatCode="General" sourceLinked="1"/>
        <c:majorTickMark val="out"/>
        <c:minorTickMark val="none"/>
        <c:tickLblPos val="nextTo"/>
        <c:spPr>
          <a:ln w="9360">
            <a:solidFill>
              <a:srgbClr val="D8E2EA"/>
            </a:solidFill>
            <a:round/>
          </a:ln>
        </c:spPr>
        <c:txPr>
          <a:bodyPr/>
          <a:lstStyle/>
          <a:p>
            <a:pPr>
              <a:defRPr sz="1050" b="0" u="none" strike="noStrike">
                <a:solidFill>
                  <a:srgbClr val="162230"/>
                </a:solidFill>
                <a:uFillTx/>
                <a:latin typeface="Calibri"/>
              </a:defRPr>
            </a:pPr>
            <a:endParaRPr lang="en-US"/>
          </a:p>
        </c:txPr>
        <c:crossAx val="66621354"/>
        <c:crosses val="autoZero"/>
        <c:auto val="1"/>
        <c:lblAlgn val="ctr"/>
        <c:lblOffset val="100"/>
        <c:noMultiLvlLbl val="0"/>
      </c:catAx>
      <c:valAx>
        <c:axId val="66621354"/>
        <c:scaling>
          <c:orientation val="minMax"/>
          <c:max val="165"/>
          <c:min val="0"/>
        </c:scaling>
        <c:delete val="1"/>
        <c:axPos val="b"/>
        <c:numFmt formatCode="General" sourceLinked="1"/>
        <c:majorTickMark val="out"/>
        <c:minorTickMark val="none"/>
        <c:tickLblPos val="nextTo"/>
        <c:crossAx val="21719795"/>
        <c:crosses val="autoZero"/>
        <c:crossBetween val="between"/>
      </c:valAx>
      <c:spPr>
        <a:noFill/>
        <a:ln w="0">
          <a:noFill/>
        </a:ln>
      </c:spPr>
    </c:plotArea>
    <c:plotVisOnly val="1"/>
    <c:dispBlanksAs val="gap"/>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457200"/>
            <a:r>
              <a:rPr lang="en-US" sz="4400" b="0" u="none" strike="noStrike">
                <a:solidFill>
                  <a:schemeClr val="dk1"/>
                </a:solidFill>
                <a:effectLst/>
                <a:uFillTx/>
                <a:latin typeface="Calibri"/>
              </a:rPr>
              <a:t>Pulse para desplazar la diapositiva</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s-ES" sz="2000" b="0" u="none" strike="noStrike">
                <a:solidFill>
                  <a:srgbClr val="000000"/>
                </a:solidFill>
                <a:effectLst/>
                <a:uFillTx/>
                <a:latin typeface="Arial"/>
              </a:rPr>
              <a:t>Pulse para editar el formato de las notas</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s-ES" sz="1400" b="0" u="none" strike="noStrike">
                <a:solidFill>
                  <a:srgbClr val="000000"/>
                </a:solidFill>
                <a:effectLst/>
                <a:uFillTx/>
                <a:latin typeface="Times New Roman"/>
              </a:rPr>
              <a:t>&lt;cabecera&gt;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0184516C-367C-469F-8AF9-E9BD80DF8091}" type="slidenum">
              <a:rPr lang="es-ES" sz="1400" b="0" u="none" strike="noStrike">
                <a:solidFill>
                  <a:srgbClr val="000000"/>
                </a:solidFill>
                <a:effectLst/>
                <a:uFillTx/>
                <a:latin typeface="Times New Roman"/>
              </a:rPr>
              <a:t>‹Nº›</a:t>
            </a:fld>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noRot="1" noChangeAspect="1"/>
          </p:cNvSpPr>
          <p:nvPr>
            <p:ph type="sldImg"/>
          </p:nvPr>
        </p:nvSpPr>
        <p:spPr>
          <a:xfrm>
            <a:off x="381000" y="685800"/>
            <a:ext cx="6096000" cy="3429000"/>
          </a:xfrm>
          <a:prstGeom prst="rect">
            <a:avLst/>
          </a:prstGeom>
          <a:ln w="0">
            <a:noFill/>
          </a:ln>
        </p:spPr>
      </p:sp>
      <p:sp>
        <p:nvSpPr>
          <p:cNvPr id="4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0:25 (acumulado 0:25 sobre los 25 minutos de exposición; la diapositiva de cierre, la 22, queda fuera de este reparto porque marca el final y abre el turno de preguntas).</a:t>
            </a:r>
          </a:p>
          <a:p>
            <a:endParaRPr/>
          </a:p>
          <a:p>
            <a:r>
              <a:t>Buenos días/tardes. Mi nombre es Carlos Martínez Jaén y voy a presentar mi Trabajo Fin de Grado: especificación de formato y desarrollo de herramientas para el procesamiento de currículum vítae en el ámbito académico universitario. Lo denomino Open CVN: una arquitectura computacional abierta para representar, validar, transformar y exportar currículos académicos, dirigido por Luis De la Ossa Jiménez y codirigido por José Antonio Gámez Martín.</a:t>
            </a:r>
          </a:p>
          <a:p>
            <a:endParaRPr/>
          </a:p>
          <a:p>
            <a:r>
              <a:t>Transición: tras el saludo se presenta el índice de la exposición.</a:t>
            </a:r>
          </a:p>
        </p:txBody>
      </p:sp>
      <p:sp>
        <p:nvSpPr>
          <p:cNvPr id="44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B4ABE69-16DB-4529-94ED-5934C8B4E4EA}" type="slidenum">
              <a:rPr lang="en-US" sz="1200" b="0" u="none" strike="noStrike">
                <a:solidFill>
                  <a:srgbClr val="000000"/>
                </a:solidFill>
                <a:effectLst/>
                <a:uFillTx/>
                <a:latin typeface="Times New Roman"/>
              </a:rPr>
              <a:t>1</a:t>
            </a:fld>
            <a:endParaRPr lang="es-E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noRot="1" noChangeAspect="1"/>
          </p:cNvSpPr>
          <p:nvPr>
            <p:ph type="sldImg"/>
          </p:nvPr>
        </p:nvSpPr>
        <p:spPr>
          <a:xfrm>
            <a:off x="381000" y="685800"/>
            <a:ext cx="6096000" cy="3429000"/>
          </a:xfrm>
          <a:prstGeom prst="rect">
            <a:avLst/>
          </a:prstGeom>
          <a:ln w="0">
            <a:noFill/>
          </a:ln>
        </p:spPr>
      </p:sp>
      <p:sp>
        <p:nvSpPr>
          <p:cNvPr id="4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0:35 (acumulado 1:00).</a:t>
            </a:r>
          </a:p>
          <a:p>
            <a:endParaRPr/>
          </a:p>
          <a:p>
            <a:r>
              <a:t>La exposición sigue la estructura habitual de una defensa de Trabajo Fin de Grado: motivación y contexto, objetivos, análisis del ecosistema CVN, metodología y arquitectura, implementación del pipeline, el formato Open CVN y la herramienta que lo demuestra, evaluación de resultados y, por último, conclusiones y trabajo futuro. La exposición dura veinticinco minutos; a continuación tendrá lugar el turno de preguntas del tribunal.</a:t>
            </a:r>
          </a:p>
          <a:p>
            <a:endParaRPr/>
          </a:p>
          <a:p>
            <a:r>
              <a:t>Transición: se inicia el primer bloque, motivación y contexto.</a:t>
            </a:r>
          </a:p>
        </p:txBody>
      </p:sp>
      <p:sp>
        <p:nvSpPr>
          <p:cNvPr id="45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155C64-5380-416B-B07F-05BE682A737E}" type="slidenum">
              <a:rPr lang="en-US" sz="1200" b="0" u="none" strike="noStrike">
                <a:solidFill>
                  <a:srgbClr val="000000"/>
                </a:solidFill>
                <a:effectLst/>
                <a:uFillTx/>
                <a:latin typeface="Times New Roman"/>
              </a:rPr>
              <a:t>2</a:t>
            </a:fld>
            <a:endParaRPr lang="es-E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noRot="1" noChangeAspect="1"/>
          </p:cNvSpPr>
          <p:nvPr>
            <p:ph type="sldImg"/>
          </p:nvPr>
        </p:nvSpPr>
        <p:spPr>
          <a:xfrm>
            <a:off x="381000" y="685800"/>
            <a:ext cx="6096000" cy="3429000"/>
          </a:xfrm>
          <a:prstGeom prst="rect">
            <a:avLst/>
          </a:prstGeom>
          <a:ln w="0">
            <a:noFill/>
          </a:ln>
        </p:spPr>
      </p:sp>
      <p:sp>
        <p:nvSpPr>
          <p:cNvPr id="4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2:15).</a:t>
            </a:r>
          </a:p>
          <a:p>
            <a:endParaRPr/>
          </a:p>
          <a:p>
            <a:r>
              <a:t>FECYT define CVN como el formato común de presentación de datos curriculares de investigadores en España, concebido para ser interoperable con las bases de datos institucionales. Su uso, sin embargo, va más allá de la presentación: el currículo se emplea como entrada en evaluaciones, convocatorias, solicitudes de ayudas, acreditaciones y sistemas de gestión de la investigación.</a:t>
            </a:r>
          </a:p>
          <a:p>
            <a:endParaRPr/>
          </a:p>
          <a:p>
            <a:r>
              <a:t>Disponer de una norma común no elimina, no obstante, el coste de elaborar, mantener y adaptar un currículo a distintos contextos: pequeñas variaciones en la estructura o en el formato de salida obligan a tareas manuales repetitivas cada vez que un currículo se reutiliza. El uso automatizado de CVN sigue siendo costoso, y esa es la motivación de partida de este trabajo.</a:t>
            </a:r>
          </a:p>
          <a:p>
            <a:endParaRPr/>
          </a:p>
          <a:p>
            <a:r>
              <a:t>Transición: antes de continuar, conviene precisar en qué consiste realmente CVN.</a:t>
            </a:r>
          </a:p>
        </p:txBody>
      </p:sp>
      <p:sp>
        <p:nvSpPr>
          <p:cNvPr id="45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1677EDF-37DC-477E-A76B-B584A38539EE}" type="slidenum">
              <a:rPr lang="en-US" sz="1200" b="0" u="none" strike="noStrike">
                <a:solidFill>
                  <a:srgbClr val="000000"/>
                </a:solidFill>
                <a:effectLst/>
                <a:uFillTx/>
                <a:latin typeface="Times New Roman"/>
              </a:rPr>
              <a:t>3</a:t>
            </a:fld>
            <a:endParaRPr lang="es-E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381000" y="685800"/>
            <a:ext cx="6096000" cy="3429000"/>
          </a:xfrm>
          <a:prstGeom prst="rect">
            <a:avLst/>
          </a:prstGeom>
          <a:ln w="0">
            <a:noFill/>
          </a:ln>
        </p:spPr>
      </p:sp>
      <p:sp>
        <p:nvSpPr>
          <p:cNvPr id="4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1:25 (acumulado 3:40).</a:t>
            </a:r>
          </a:p>
          <a:p>
            <a:endParaRPr/>
          </a:p>
          <a:p>
            <a:r>
              <a:t>CVN no debe entenderse como un único documento, sino como un ecosistema de artefactos oficiales relacionados entre sí. El manual de especificaciones, en PDF, describe el significado funcional de cada campo para su lectura por personas; ese mismo contenido existe también en un manual estructurado en XML, ya pensado para ser procesado por software. Junto a él, un modelo en árbol, también en XML, enlaza cada código funcional con la posición real que ocupa dentro de un currículo.</a:t>
            </a:r>
          </a:p>
          <a:p>
            <a:endParaRPr/>
          </a:p>
          <a:p>
            <a:r>
              <a:t>El papel de XML y de XSD conviene precisarlo, porque no cumplen la misma función. XML es el formato en el que se serializan los datos: tanto el manual estructurado como el modelo en árbol están escritos en XML, y es el mecanismo que CVN emplea para representar e intercambiar la información. XSD, en cambio, no contiene datos: define la gramática formal que ese XML debe cumplir para considerarse válido, es decir, qué elementos son legales, en qué orden y con qué tipo de contenido, además del vocabulario de las tablas auxiliares. Dicho de otro modo, el manual y el modelo en árbol explican qué significa cada campo, mientras que XSD determina si un documento XML concreto tiene una forma correcta.</a:t>
            </a:r>
          </a:p>
          <a:p>
            <a:endParaRPr/>
          </a:p>
          <a:p>
            <a:r>
              <a:t>A estas cuatro capas se suman tres familias auxiliares: el catálogo de entidades, las tablas de referencia con sus subtipos, y el tesauro multilingüe. Todo el trabajo parte de esta fuente única y oficial, y XML es el mecanismo de representación de CVN, no el objeto conceptual del trabajo.</a:t>
            </a:r>
          </a:p>
          <a:p>
            <a:endParaRPr/>
          </a:p>
          <a:p>
            <a:r>
              <a:t>Transición: con esta base se presentan a continuación los objetivos concretos del trabajo.</a:t>
            </a:r>
          </a:p>
        </p:txBody>
      </p:sp>
      <p:sp>
        <p:nvSpPr>
          <p:cNvPr id="45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3290DA-F8C1-481D-8A48-6BBD7E4B38FB}" type="slidenum">
              <a:rPr lang="en-US" sz="1200" b="0" u="none" strike="noStrike">
                <a:solidFill>
                  <a:srgbClr val="000000"/>
                </a:solidFill>
                <a:effectLst/>
                <a:uFillTx/>
                <a:latin typeface="Times New Roman"/>
              </a:rPr>
              <a:t>4</a:t>
            </a:fld>
            <a:endParaRPr lang="es-E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381000" y="685800"/>
            <a:ext cx="6096000" cy="3429000"/>
          </a:xfrm>
          <a:prstGeom prst="rect">
            <a:avLst/>
          </a:prstGeom>
          <a:ln w="0">
            <a:noFill/>
          </a:ln>
        </p:spPr>
      </p:sp>
      <p:sp>
        <p:nvSpPr>
          <p:cNvPr id="4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1:30 (acumulado 5:10).</a:t>
            </a:r>
          </a:p>
          <a:p>
            <a:endParaRPr/>
          </a:p>
          <a:p>
            <a:r>
              <a:t>El objetivo general consiste en diseñar e implementar una arquitectura computacional abierta para representar, validar, transformar, almacenar y exportar currículos académicos e investigadores tomando CVN como norma de referencia, sin que su representación XML ni la herramienta oficial condicionen por completo el modelo interno del sistema. Este objetivo se retomará en las conclusiones para valorar su grado de cumplimiento.</a:t>
            </a:r>
          </a:p>
          <a:p>
            <a:endParaRPr/>
          </a:p>
          <a:p>
            <a:r>
              <a:t>De él se derivan diez objetivos específicos, organizados en cuatro bloques. Los objetivos OE1 y OE2 son de análisis: comprender el ecosistema CVN y estudiar alternativas de representación y validación de datos curriculares. Los objetivos OE3 a OE6 cubren la generación y la normalización: la obtención automática de las estructuras de datos a partir de los esquemas oficiales, y su posterior normalización en modelos de dominio. Los objetivos OE7 a OE9 cubren el formato y la herramienta: la definición de Open CVN JSON y la implementación del parseo, la validación, el almacenamiento, la exportación y la importación. Y el objetivo OE10 corresponde a la verificación, mediante pruebas automatizadas y flujos reproducibles de extremo a extremo.</a:t>
            </a:r>
          </a:p>
          <a:p>
            <a:endParaRPr/>
          </a:p>
          <a:p>
            <a:r>
              <a:t>Transición: antes de entrar en la arquitectura propuesta, se presentan las limitaciones detectadas en ese ecosistema.</a:t>
            </a:r>
          </a:p>
        </p:txBody>
      </p:sp>
      <p:sp>
        <p:nvSpPr>
          <p:cNvPr id="45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EE54A59-AA93-41F6-85FD-73E380C47E54}" type="slidenum">
              <a:rPr lang="en-US" sz="1200" b="0" u="none" strike="noStrike">
                <a:solidFill>
                  <a:srgbClr val="000000"/>
                </a:solidFill>
                <a:effectLst/>
                <a:uFillTx/>
                <a:latin typeface="Times New Roman"/>
              </a:rPr>
              <a:t>5</a:t>
            </a:fld>
            <a:endParaRPr lang="es-E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381000" y="685800"/>
            <a:ext cx="6096000" cy="3429000"/>
          </a:xfrm>
          <a:prstGeom prst="rect">
            <a:avLst/>
          </a:prstGeom>
          <a:ln w="0">
            <a:noFill/>
          </a:ln>
        </p:spPr>
      </p:sp>
      <p:sp>
        <p:nvSpPr>
          <p:cNvPr id="46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6:25).</a:t>
            </a:r>
          </a:p>
          <a:p>
            <a:endParaRPr/>
          </a:p>
          <a:p>
            <a:r>
              <a:t>El análisis en profundidad de este ecosistema reveló cuatro tipos de limitación técnica, cada una con una respuesta de diseño ya incorporada en Open CVN.</a:t>
            </a:r>
          </a:p>
          <a:p>
            <a:endParaRPr/>
          </a:p>
          <a:p>
            <a:r>
              <a:t>La primera son discrepancias puntuales entre el XML canónico del modelo en árbol y su propio esquema de validación XSD; es decir, casos en los que el propio paquete oficial no es del todo consistente consigo mismo. Estas discrepancias se tratan como evidencia de origen y quedan registradas de forma explícita, sin ocultarse.</a:t>
            </a:r>
          </a:p>
          <a:p>
            <a:endParaRPr/>
          </a:p>
          <a:p>
            <a:r>
              <a:t>La segunda son construcciones del lenguaje XSD que no se trasladan de forma perfecta a estructuras ejecutables. Es el caso, por ejemplo, del mecanismo "choice", que en XSD permite declarar varias alternativas posibles para un mismo campo sin garantizar que sean mutuamente excluyentes al generar código; ocurre también con ciertas cardinalidades y con atributos que se generan con un tipo demasiado genérico. Estas limitaciones quedan confinadas a la capa estructural generada, sin exponerse en el formato final.</a:t>
            </a:r>
          </a:p>
          <a:p>
            <a:endParaRPr/>
          </a:p>
          <a:p>
            <a:r>
              <a:t>La tercera son tablas auxiliares que no siempre constituyen enumeraciones cerradas: su elegibilidad como enumeración se evalúa a partir de evidencia concreta de cada tabla, no se asume por defecto.</a:t>
            </a:r>
          </a:p>
          <a:p>
            <a:endParaRPr/>
          </a:p>
          <a:p>
            <a:r>
              <a:t>Y la cuarta son referencias sin tabla equivalente localizable, junto con una deriva de empaquetado entre las familias auxiliares a lo largo de distintas versiones del paquete oficial. Estos casos se conservan como no resueltos o parcialmente trazables, en lugar de forzarse una conversión con pérdida de información.</a:t>
            </a:r>
          </a:p>
          <a:p>
            <a:endParaRPr/>
          </a:p>
          <a:p>
            <a:r>
              <a:t>Ninguna de estas limitaciones invalida la norma CVN: condicionan su uso directo como modelo interno de una herramienta, que es precisamente el problema que Open CVN aborda.</a:t>
            </a:r>
          </a:p>
          <a:p>
            <a:endParaRPr/>
          </a:p>
          <a:p>
            <a:r>
              <a:t>Transición: frente a estas limitaciones, se presenta a continuación la propuesta de Open CVN.</a:t>
            </a:r>
          </a:p>
        </p:txBody>
      </p:sp>
      <p:sp>
        <p:nvSpPr>
          <p:cNvPr id="46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2FE94B-967C-4521-933A-3D58C8C03A4B}" type="slidenum">
              <a:rPr lang="en-US" sz="1200" b="0" u="none" strike="noStrike">
                <a:solidFill>
                  <a:srgbClr val="000000"/>
                </a:solidFill>
                <a:effectLst/>
                <a:uFillTx/>
                <a:latin typeface="Times New Roman"/>
              </a:rPr>
              <a:t>6</a:t>
            </a:fld>
            <a:endParaRPr lang="es-E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381000" y="685800"/>
            <a:ext cx="6096000" cy="3429000"/>
          </a:xfrm>
          <a:prstGeom prst="rect">
            <a:avLst/>
          </a:prstGeom>
          <a:ln w="0">
            <a:noFill/>
          </a:ln>
        </p:spPr>
      </p:sp>
      <p:sp>
        <p:nvSpPr>
          <p:cNvPr id="46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7:35).</a:t>
            </a:r>
          </a:p>
          <a:p>
            <a:endParaRPr/>
          </a:p>
          <a:p>
            <a:r>
              <a:t>Open CVN no reproduce el paquete oficial como modelo interno: lo transforma de forma trazable, capa a capa. Como muestra la figura, el paquete CVN se convierte primero en metadatos normalizados; sobre ellos se aplica una política semántica; de ahí se deriva un modelo conceptual; y, finalmente, se obtiene el formato Open CVN JSON.</a:t>
            </a:r>
          </a:p>
          <a:p>
            <a:endParaRPr/>
          </a:p>
          <a:p>
            <a:r>
              <a:t>Cada capa añade una interpretación adicional sin descartar la relación con el paquete oficial: todo elemento del modelo final conserva evidencia verificable de la fuente CVN de la que procede.</a:t>
            </a:r>
          </a:p>
          <a:p>
            <a:endParaRPr/>
          </a:p>
          <a:p>
            <a:r>
              <a:t>Transición: a continuación se presenta la metodología y la arquitectura que hacen posible esta transformación.</a:t>
            </a:r>
          </a:p>
        </p:txBody>
      </p:sp>
      <p:sp>
        <p:nvSpPr>
          <p:cNvPr id="46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54B62CD-B733-48AC-8FF1-0B0101A081FE}" type="slidenum">
              <a:rPr lang="en-US" sz="1200" b="0" u="none" strike="noStrike">
                <a:solidFill>
                  <a:srgbClr val="000000"/>
                </a:solidFill>
                <a:effectLst/>
                <a:uFillTx/>
                <a:latin typeface="Times New Roman"/>
              </a:rPr>
              <a:t>7</a:t>
            </a:fld>
            <a:endParaRPr lang="es-E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381000" y="685800"/>
            <a:ext cx="6096000" cy="3429000"/>
          </a:xfrm>
          <a:prstGeom prst="rect">
            <a:avLst/>
          </a:prstGeom>
          <a:ln w="0">
            <a:noFill/>
          </a:ln>
        </p:spPr>
      </p:sp>
      <p:sp>
        <p:nvSpPr>
          <p:cNvPr id="46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8:50).</a:t>
            </a:r>
          </a:p>
          <a:p>
            <a:endParaRPr/>
          </a:p>
          <a:p>
            <a:r>
              <a:t>El desarrollo no se planteó como un proyecto de producto con iteraciones cortas, sino en cinco fases sucesivas, con documentación continua de decisiones y limitaciones como criterio transversal a todas ellas.</a:t>
            </a:r>
          </a:p>
          <a:p>
            <a:endParaRPr/>
          </a:p>
          <a:p>
            <a:r>
              <a:t>El análisis inicial consistió en delimitar el problema y estudiar la norma CVN junto con alternativas de representación y validación de datos curriculares, antes de tomar ninguna decisión de diseño. La exploración de artefactos supuso examinar en detalle cada documento del paquete oficial -manuales, modelo en árbol, esquemas y familias auxiliares- para identificar su contenido real y sus limitaciones. El diseño incremental por capas definió la arquitectura general antes de implementar ningún componente, capa a capa, de manera que cada una pudiera verificarse por separado. La implementación reproducible tradujo ese diseño en código: cada artefacto se genera mediante comandos deterministas, ejecutables por cualquier persona sobre el mismo paquete oficial. Y la verificación automatizada acompañó cada etapa con pruebas, en lugar de dejarse para el final del desarrollo.</a:t>
            </a:r>
          </a:p>
          <a:p>
            <a:endParaRPr/>
          </a:p>
          <a:p>
            <a:r>
              <a:t>Cada herramienta empleada se eligió porque permite generar o validar artefactos de forma reproducible: Python con uv para el entorno; xsdata para generar automáticamente las estructuras de datos a partir de los esquemas oficiales; Pydantic para los modelos; JSON Schema para la validación; SQLite para el almacenamiento local; Jinja y LaTeX para la exportación; pytest con xdist para las pruebas en paralelo; y Git con GitHub Actions para el control de versiones y la integración continua.</a:t>
            </a:r>
          </a:p>
          <a:p>
            <a:endParaRPr/>
          </a:p>
          <a:p>
            <a:r>
              <a:t>Transición: con esta metodología, la arquitectura general queda organizada en cuatro bloques.</a:t>
            </a:r>
          </a:p>
        </p:txBody>
      </p:sp>
      <p:sp>
        <p:nvSpPr>
          <p:cNvPr id="46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9E7A72-6001-4DB0-B714-E23ABA9B78F2}" type="slidenum">
              <a:rPr lang="en-US" sz="1200" b="0" u="none" strike="noStrike">
                <a:solidFill>
                  <a:srgbClr val="000000"/>
                </a:solidFill>
                <a:effectLst/>
                <a:uFillTx/>
                <a:latin typeface="Times New Roman"/>
              </a:rPr>
              <a:t>8</a:t>
            </a:fld>
            <a:endParaRPr lang="es-E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381000" y="685800"/>
            <a:ext cx="6096000" cy="3429000"/>
          </a:xfrm>
          <a:prstGeom prst="rect">
            <a:avLst/>
          </a:prstGeom>
          <a:ln w="0">
            <a:noFill/>
          </a:ln>
        </p:spPr>
      </p:sp>
      <p:sp>
        <p:nvSpPr>
          <p:cNvPr id="47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10:05).</a:t>
            </a:r>
          </a:p>
          <a:p>
            <a:endParaRPr/>
          </a:p>
          <a:p>
            <a:r>
              <a:t>La arquitectura general se organiza en cuatro bloques, alineados con módulos reales del repositorio. La fuente oficial CVN constituye la frontera externa: la única fuente formal del sistema. El bloque de generación y normalización agrupa las estructuras de datos generadas automáticamente, los metadatos normalizados y la política semántica. El bloque de dominio, conceptual y formato agrupa los modelos de dominio, el modelo conceptual y el JSON Schema. Y la herramienta local constituye el uso operativo: importación, gestión de versiones y exportación.</a:t>
            </a:r>
          </a:p>
          <a:p>
            <a:endParaRPr/>
          </a:p>
          <a:p>
            <a:r>
              <a:t>Transición: se detalla a continuación la implementación de estas etapas, comenzando por la generación y la normalización.</a:t>
            </a:r>
          </a:p>
        </p:txBody>
      </p:sp>
      <p:sp>
        <p:nvSpPr>
          <p:cNvPr id="47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C22A0BE-2087-4B94-B3AB-E4FA1AFA29DE}" type="slidenum">
              <a:rPr lang="en-US" sz="1200" b="0" u="none" strike="noStrike">
                <a:solidFill>
                  <a:srgbClr val="000000"/>
                </a:solidFill>
                <a:effectLst/>
                <a:uFillTx/>
                <a:latin typeface="Times New Roman"/>
              </a:rPr>
              <a:t>9</a:t>
            </a:fld>
            <a:endParaRPr lang="es-E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381000" y="685800"/>
            <a:ext cx="6096000" cy="3429000"/>
          </a:xfrm>
          <a:prstGeom prst="rect">
            <a:avLst/>
          </a:prstGeom>
          <a:ln w="0">
            <a:noFill/>
          </a:ln>
        </p:spPr>
      </p:sp>
      <p:sp>
        <p:nvSpPr>
          <p:cNvPr id="4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1:25 (acumulado 11:30).</a:t>
            </a:r>
          </a:p>
          <a:p>
            <a:endParaRPr/>
          </a:p>
          <a:p>
            <a:r>
              <a:t>El segundo bloque de la arquitectura se implementa en cuatro etapas. La generación estructural emplea xsdata para producir automáticamente las estructuras de datos a partir de los esquemas XSD oficiales, de forma fiel al XML de CVN y sin ninguna interpretación semántica todavía. La normalización unifica el manual funcional y el modelo en árbol en una única estructura, indexada por código CVN. La resolución auxiliar resuelve las referencias del manual hacia entidades, tablas y tesauro, dejando constancia de la evidencia empleada. Y la política semántica decide, campo a campo, su forma semántica: texto, fecha, enumeración cerrada, catálogo abierto, referencia, y así sucesivamente.</a:t>
            </a:r>
          </a:p>
          <a:p>
            <a:endParaRPr/>
          </a:p>
          <a:p>
            <a:r>
              <a:t>Estas etapas se mantienen y revisan manualmente en el módulo de pipeline, separadas de las estructuras que se generan de forma automática: el código generado no se edita nunca a mano, y la interpretación semántica se realiza siempre en capas posteriores.</a:t>
            </a:r>
          </a:p>
          <a:p>
            <a:endParaRPr/>
          </a:p>
          <a:p>
            <a:r>
              <a:t>Transición: se muestran a continuación las cifras reales que produce esta normalización.</a:t>
            </a:r>
          </a:p>
        </p:txBody>
      </p:sp>
      <p:sp>
        <p:nvSpPr>
          <p:cNvPr id="47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41DD63-076B-43C1-AEE2-C67FCDFA746B}" type="slidenum">
              <a:rPr lang="en-US" sz="1200" b="0" u="none" strike="noStrike">
                <a:solidFill>
                  <a:srgbClr val="000000"/>
                </a:solidFill>
                <a:effectLst/>
                <a:uFillTx/>
                <a:latin typeface="Times New Roman"/>
              </a:rPr>
              <a:t>10</a:t>
            </a:fld>
            <a:endParaRPr lang="es-E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381000" y="685800"/>
            <a:ext cx="6096000" cy="3429000"/>
          </a:xfrm>
          <a:prstGeom prst="rect">
            <a:avLst/>
          </a:prstGeom>
          <a:ln w="0">
            <a:noFill/>
          </a:ln>
        </p:spPr>
      </p:sp>
      <p:sp>
        <p:nvSpPr>
          <p:cNvPr id="4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12:40).</a:t>
            </a:r>
          </a:p>
          <a:p>
            <a:endParaRPr/>
          </a:p>
          <a:p>
            <a:r>
              <a:t>Sobre el paquete oficial vigente, la normalización produce 1457 entradas, de las cuales 1429 están presentes tanto en el manual como en el modelo en árbol, con 33 discrepancias registradas de forma explícita. De esas 1457 entradas, 557 declaran una tabla de referencia en el manual, y su resolución se apoya en evidencia concreta del paquete: solo una queda sin resolver.</a:t>
            </a:r>
          </a:p>
          <a:p>
            <a:endParaRPr/>
          </a:p>
          <a:p>
            <a:r>
              <a:t>Ese caso corresponde a CVN_AGENCY_C: el manual cita una tabla que no tiene equivalente localizable en el resto del paquete, por lo que se conserva como referencia no resuelta en lugar de forzar una interpretación no justificada.</a:t>
            </a:r>
          </a:p>
          <a:p>
            <a:endParaRPr/>
          </a:p>
          <a:p>
            <a:r>
              <a:t>Transición: sobre estos metadatos normalizados se aplica a continuación la política semántica que determina su significado.</a:t>
            </a:r>
          </a:p>
        </p:txBody>
      </p:sp>
      <p:sp>
        <p:nvSpPr>
          <p:cNvPr id="47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819ABFD-850E-4679-A28F-4BE534B71F23}" type="slidenum">
              <a:rPr lang="en-US" sz="1200" b="0" u="none" strike="noStrike">
                <a:solidFill>
                  <a:srgbClr val="000000"/>
                </a:solidFill>
                <a:effectLst/>
                <a:uFillTx/>
                <a:latin typeface="Times New Roman"/>
              </a:rPr>
              <a:t>11</a:t>
            </a:fld>
            <a:endParaRPr lang="es-E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381000" y="685800"/>
            <a:ext cx="6096000" cy="3429000"/>
          </a:xfrm>
          <a:prstGeom prst="rect">
            <a:avLst/>
          </a:prstGeom>
          <a:ln w="0">
            <a:noFill/>
          </a:ln>
        </p:spPr>
      </p:sp>
      <p:sp>
        <p:nvSpPr>
          <p:cNvPr id="4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1:20 (acumulado 14:00).</a:t>
            </a:r>
          </a:p>
          <a:p>
            <a:endParaRPr/>
          </a:p>
          <a:p>
            <a:r>
              <a:t>La política semántica reconoce nueve formas semánticas base: texto, fecha, número, enumeración cerrada, catálogo abierto, referencia a entidad, término de tesauro, subtipo y referencia no resuelta.</a:t>
            </a:r>
          </a:p>
          <a:p>
            <a:endParaRPr/>
          </a:p>
          <a:p>
            <a:r>
              <a:t>El ejemplo empleado como hilo conductor en toda la memoria es el campo de sexo. Conviene distinguir aquí dos códigos que aparecen juntos y que no deben confundirse. El código 000.010.000.030 identifica el campo dentro de la estructura de CVN: es la posición exacta que ocupa "sexo" en la jerarquía de códigos del manual y del modelo en árbol. El código "000" que aparece en el fragmento JSON, en cambio, no identifica el campo, sino el valor concreto elegido dentro de ese campo: es el código del valor seleccionado en la tabla de referencia CVN_SEX_A, que en este caso tiene solo dos valores posibles. Son, por tanto, dos códigos de naturaleza distinta: uno señala dónde está el campo dentro de CVN, y el otro señala qué valor tiene, tomado de su tabla de referencia.</a:t>
            </a:r>
          </a:p>
          <a:p>
            <a:endParaRPr/>
          </a:p>
          <a:p>
            <a:r>
              <a:t>Este mismo campo se reencuentra más adelante, ya en su definición final dentro del JSON Schema.</a:t>
            </a:r>
          </a:p>
          <a:p>
            <a:endParaRPr/>
          </a:p>
          <a:p>
            <a:r>
              <a:t>Transición: sobre esa misma política semántica se generan los modelos de dominio y el modelo conceptual.</a:t>
            </a:r>
          </a:p>
        </p:txBody>
      </p:sp>
      <p:sp>
        <p:nvSpPr>
          <p:cNvPr id="48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C77112-9CFB-48C8-B377-8A0D1C591BB3}" type="slidenum">
              <a:rPr lang="en-US" sz="1200" b="0" u="none" strike="noStrike">
                <a:solidFill>
                  <a:srgbClr val="000000"/>
                </a:solidFill>
                <a:effectLst/>
                <a:uFillTx/>
                <a:latin typeface="Times New Roman"/>
              </a:rPr>
              <a:t>12</a:t>
            </a:fld>
            <a:endParaRPr lang="es-E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381000" y="685800"/>
            <a:ext cx="6096000" cy="3429000"/>
          </a:xfrm>
          <a:prstGeom prst="rect">
            <a:avLst/>
          </a:prstGeom>
          <a:ln w="0">
            <a:noFill/>
          </a:ln>
        </p:spPr>
      </p:sp>
      <p:sp>
        <p:nvSpPr>
          <p:cNvPr id="4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15:10).</a:t>
            </a:r>
          </a:p>
          <a:p>
            <a:endParaRPr/>
          </a:p>
          <a:p>
            <a:r>
              <a:t>Esta etapa produce dos artefactos con propósitos distintos. Por un lado, los modelos de dominio en Pydantic: 105 archivos en total, de los cuales 101 corresponden a módulos por concepto curricular, uno agrupa los campos exclusivos del manual, otro los nodos del árbol sin ítem asociado, y el último reúne las trece enumeraciones detectadas.</a:t>
            </a:r>
          </a:p>
          <a:p>
            <a:endParaRPr/>
          </a:p>
          <a:p>
            <a:r>
              <a:t>Por otro lado, y de forma independiente, el modelo conceptual agnóstico reutiliza esa misma información sin necesidad de volver a leer el XML ni el XSD originales. Este modelo conceptual es el que alimenta la vista UML mostrada en la figura, y es también el que se emplea directamente para generar el JSON Schema final: 182 definiciones, de las cuales 74 son vocabularios controlados.</a:t>
            </a:r>
          </a:p>
          <a:p>
            <a:endParaRPr/>
          </a:p>
          <a:p>
            <a:r>
              <a:t>Transición: con esto concluye el pipeline interno; se presenta a continuación el resultado, el formato Open CVN JSON.</a:t>
            </a:r>
          </a:p>
        </p:txBody>
      </p:sp>
      <p:sp>
        <p:nvSpPr>
          <p:cNvPr id="483"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2A726B-F96D-4C53-BDFD-EC4DCAC028E4}" type="slidenum">
              <a:rPr lang="en-US" sz="1200" b="0" u="none" strike="noStrike">
                <a:solidFill>
                  <a:srgbClr val="000000"/>
                </a:solidFill>
                <a:effectLst/>
                <a:uFillTx/>
                <a:latin typeface="Times New Roman"/>
              </a:rPr>
              <a:t>13</a:t>
            </a:fld>
            <a:endParaRPr lang="es-E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381000" y="685800"/>
            <a:ext cx="6096000" cy="3429000"/>
          </a:xfrm>
          <a:prstGeom prst="rect">
            <a:avLst/>
          </a:prstGeom>
          <a:ln w="0">
            <a:noFill/>
          </a:ln>
        </p:spPr>
      </p:sp>
      <p:sp>
        <p:nvSpPr>
          <p:cNvPr id="4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16:25).</a:t>
            </a:r>
          </a:p>
          <a:p>
            <a:endParaRPr/>
          </a:p>
          <a:p>
            <a:r>
              <a:t>El formato de salida es Open CVN JSON. Su raíz tiene cuatro campos: schema_version identifica la versión del formato, no la del JSON Schema; metadata describe el documento, no su contenido curricular; curriculum es la información propiamente dicha, organizada por área conceptual del dominio académico -identidad, educación, investigación, experiencia profesional, logros y otros- en lugar de por la estructura XML original; y extensions es opcional, reservado para metadatos de una herramienta concreta.</a:t>
            </a:r>
          </a:p>
          <a:p>
            <a:endParaRPr/>
          </a:p>
          <a:p>
            <a:r>
              <a:t>Los valores controlados, como el campo de sexo ya presentado, comparten siempre la misma forma, con elementos que cumplen funciones distintas: code es el código del valor dentro de su tabla de origen; label es el texto legible correspondiente a ese código; source identifica la tabla o el vocabulario de procedencia, y es lo que permite trazar el valor hasta CVN; y, de forma opcional, raw_value conserva el valor original cuando no ha podido resolverse contra un vocabulario cerrado, o uri enlaza con un registro externo cuando el valor procede de un catálogo o un tesauro. Esta forma común es la que permite validar y tratar de manera uniforme cualquier referencia controlada del documento, sea cual sea su origen.</a:t>
            </a:r>
          </a:p>
          <a:p>
            <a:endParaRPr/>
          </a:p>
          <a:p>
            <a:r>
              <a:t>Transición: ese formato necesita un contrato de validación claro: el parser y el validador.</a:t>
            </a:r>
          </a:p>
        </p:txBody>
      </p:sp>
      <p:sp>
        <p:nvSpPr>
          <p:cNvPr id="486"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953E54-FD02-4E45-9F55-2DAFA3077AF5}" type="slidenum">
              <a:rPr lang="en-US" sz="1200" b="0" u="none" strike="noStrike">
                <a:solidFill>
                  <a:srgbClr val="000000"/>
                </a:solidFill>
                <a:effectLst/>
                <a:uFillTx/>
                <a:latin typeface="Times New Roman"/>
              </a:rPr>
              <a:t>14</a:t>
            </a:fld>
            <a:endParaRPr lang="es-E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381000" y="685800"/>
            <a:ext cx="6096000" cy="3429000"/>
          </a:xfrm>
          <a:prstGeom prst="rect">
            <a:avLst/>
          </a:prstGeom>
          <a:ln w="0">
            <a:noFill/>
          </a:ln>
        </p:spPr>
      </p:sp>
      <p:sp>
        <p:nvSpPr>
          <p:cNvPr id="4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17:35).</a:t>
            </a:r>
          </a:p>
          <a:p>
            <a:endParaRPr/>
          </a:p>
          <a:p>
            <a:r>
              <a:t>El contrato público de parser y validador expone cuatro funciones -leer el documento, validarlo, importar desde XML e importar desde PDF-, representadas en la parte superior de la diapositiva. Se denomina "contrato" porque, con independencia del formato de entrada, las cuatro funciones devuelven siempre el mismo tipo de resultado, con la misma estructura de información, lo que permite tratarlas de manera uniforme desde el resto del sistema.</a:t>
            </a:r>
          </a:p>
          <a:p>
            <a:endParaRPr/>
          </a:p>
          <a:p>
            <a:r>
              <a:t>Ese resultado admite cinco estados posibles: sin ejecutar, válido, válido con avisos, inválido y fallido. El estado "válido con avisos" existe porque un aviso nunca convierte un documento válido en inválido: señala un caso semánticamente atípico, como un tipo inconsistente con la sección o una referencia sin código ni etiqueta, para que pueda revisarse sin bloquear el documento.</a:t>
            </a:r>
          </a:p>
          <a:p>
            <a:endParaRPr/>
          </a:p>
          <a:p>
            <a:r>
              <a:t>El diagrama de la derecha resume el flujo completo de importación y validación.</a:t>
            </a:r>
          </a:p>
          <a:p>
            <a:endParaRPr/>
          </a:p>
          <a:p>
            <a:r>
              <a:t>Transición: se presentan a continuación las vías de importación concretas y la herramienta local que las emplea.</a:t>
            </a:r>
          </a:p>
        </p:txBody>
      </p:sp>
      <p:sp>
        <p:nvSpPr>
          <p:cNvPr id="489"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A102D47-375C-4789-BCFD-126B1B7EDED2}" type="slidenum">
              <a:rPr lang="en-US" sz="1200" b="0" u="none" strike="noStrike">
                <a:solidFill>
                  <a:srgbClr val="000000"/>
                </a:solidFill>
                <a:effectLst/>
                <a:uFillTx/>
                <a:latin typeface="Times New Roman"/>
              </a:rPr>
              <a:t>15</a:t>
            </a:fld>
            <a:endParaRPr lang="es-E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noRot="1" noChangeAspect="1"/>
          </p:cNvSpPr>
          <p:nvPr>
            <p:ph type="sldImg"/>
          </p:nvPr>
        </p:nvSpPr>
        <p:spPr>
          <a:xfrm>
            <a:off x="381000" y="685800"/>
            <a:ext cx="6096000" cy="3429000"/>
          </a:xfrm>
          <a:prstGeom prst="rect">
            <a:avLst/>
          </a:prstGeom>
          <a:ln w="0">
            <a:noFill/>
          </a:ln>
        </p:spPr>
      </p:sp>
      <p:sp>
        <p:nvSpPr>
          <p:cNvPr id="4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1:20 (acumulado 18:55).</a:t>
            </a:r>
          </a:p>
          <a:p>
            <a:endParaRPr/>
          </a:p>
          <a:p>
            <a:r>
              <a:t>Existen tres vías de entrada, según el grado de conformidad del documento con la norma CVN. La primera es el caso directo: un documento ya en Open CVN JSON, que se analiza y valida sin transformación adicional. La segunda agrupa los documentos CVN propiamente dichos, ya sea en XML o en un PDF que sigue la norma: en ambos casos se extrae y mapea el XML de forma determinista, y solo si esa extracción no es posible, pese a que el PDF cumple la norma, se recurre a un modelo de lenguaje como respaldo. La tercera vía corresponde a un PDF que no sigue la norma CVN o que no contiene XML embebido: al no existir ninguna vía determinista disponible, el documento completo se procesa mediante un modelo de lenguaje.</a:t>
            </a:r>
          </a:p>
          <a:p>
            <a:endParaRPr/>
          </a:p>
          <a:p>
            <a:r>
              <a:t>Todo esto se opera desde una herramienta local de línea de órdenes: store init inicializa el almacenamiento en SQLite; json import y pdf import importan un documento; versions derive crea una versión derivada a partir del currículo maestro; versions include y exclude seleccionan o excluyen secciones y entradas; y latex export junto con pdf generate exportan y compilan el resultado.</a:t>
            </a:r>
          </a:p>
          <a:p>
            <a:endParaRPr/>
          </a:p>
          <a:p>
            <a:r>
              <a:t>Transición: y ahora la pregunta central: cómo se verifica que todo esto funciona.</a:t>
            </a:r>
          </a:p>
        </p:txBody>
      </p:sp>
      <p:sp>
        <p:nvSpPr>
          <p:cNvPr id="492"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07AB7E-2818-4A71-913C-1028EF958B3C}" type="slidenum">
              <a:rPr lang="en-US" sz="1200" b="0" u="none" strike="noStrike">
                <a:solidFill>
                  <a:srgbClr val="000000"/>
                </a:solidFill>
                <a:effectLst/>
                <a:uFillTx/>
                <a:latin typeface="Times New Roman"/>
              </a:rPr>
              <a:t>16</a:t>
            </a:fld>
            <a:endParaRPr lang="es-E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381000" y="685800"/>
            <a:ext cx="6096000" cy="3429000"/>
          </a:xfrm>
          <a:prstGeom prst="rect">
            <a:avLst/>
          </a:prstGeom>
          <a:ln w="0">
            <a:noFill/>
          </a:ln>
        </p:spPr>
      </p:sp>
      <p:sp>
        <p:nvSpPr>
          <p:cNvPr id="4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1:25 (acumulado 20:20).</a:t>
            </a:r>
          </a:p>
          <a:p>
            <a:endParaRPr/>
          </a:p>
          <a:p>
            <a:r>
              <a:t>El sistema se evalúa con 488 pruebas automatizadas, organizadas en ocho niveles alineados con las mismas capas de la arquitectura, ejecutadas en 692,80 segundos gracias a la paralelización, sin ningún fallo en la última ejecución. El gráfico muestra la distribución por nivel: desde los artefactos generados, el nivel con más pruebas, hasta la exportación, el más reducido.</a:t>
            </a:r>
          </a:p>
          <a:p>
            <a:endParaRPr/>
          </a:p>
          <a:p>
            <a:r>
              <a:t>Todo el conjunto se lanza con un único comando, tanto en local como en integración continua, de modo que el resultado no depende del entorno de quien lo ejecuta. Este es el dato que sostiene el resto de afirmaciones técnicas de la exposición.</a:t>
            </a:r>
          </a:p>
          <a:p>
            <a:endParaRPr/>
          </a:p>
          <a:p>
            <a:r>
              <a:t>Transición: no todas las partes del sistema ofrecen, sin embargo, el mismo nivel de garantía.</a:t>
            </a:r>
          </a:p>
        </p:txBody>
      </p:sp>
      <p:sp>
        <p:nvSpPr>
          <p:cNvPr id="495"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EE83A4-BBED-4FF9-9CC2-4DE6BBBB94D4}" type="slidenum">
              <a:rPr lang="en-US" sz="1200" b="0" u="none" strike="noStrike">
                <a:solidFill>
                  <a:srgbClr val="000000"/>
                </a:solidFill>
                <a:effectLst/>
                <a:uFillTx/>
                <a:latin typeface="Times New Roman"/>
              </a:rPr>
              <a:t>17</a:t>
            </a:fld>
            <a:endParaRPr lang="es-E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381000" y="685800"/>
            <a:ext cx="6096000" cy="3429000"/>
          </a:xfrm>
          <a:prstGeom prst="rect">
            <a:avLst/>
          </a:prstGeom>
          <a:ln w="0">
            <a:noFill/>
          </a:ln>
        </p:spPr>
      </p:sp>
      <p:sp>
        <p:nvSpPr>
          <p:cNvPr id="4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21:35).</a:t>
            </a:r>
          </a:p>
          <a:p>
            <a:endParaRPr/>
          </a:p>
          <a:p>
            <a:r>
              <a:t>Conviene distinguir con precisión dos niveles de garantía. Son fuertes y deterministas: la generación estructural desde los esquemas XSD oficiales, la normalización y resolución de referencias con evidencia trazable, la política semántica evaluada a partir de evidencia concreta, y la validación estructural y en tiempo de ejecución del formato Open CVN JSON.</a:t>
            </a:r>
          </a:p>
          <a:p>
            <a:endParaRPr/>
          </a:p>
          <a:p>
            <a:r>
              <a:t>Son parciales y están documentadas, no ocultas: la importación de CVN XML, que constituye un mapeo semántico parcial y creciente; la importación asistida por un modelo de lenguaje, que es opcional y nunca autoritativa sin revisión posterior; y la generación de PDF, que depende de un motor LaTeX disponible en el entorno.</a:t>
            </a:r>
          </a:p>
          <a:p>
            <a:endParaRPr/>
          </a:p>
          <a:p>
            <a:r>
              <a:t>Esto no debe interpretarse como una conversión completa del ecosistema CVN ni como una validación semántica total del dominio.</a:t>
            </a:r>
          </a:p>
          <a:p>
            <a:endParaRPr/>
          </a:p>
          <a:p>
            <a:r>
              <a:t>Transición: con esto se entra en las conclusiones, comenzando por el cumplimiento de los diez objetivos.</a:t>
            </a:r>
          </a:p>
        </p:txBody>
      </p:sp>
      <p:sp>
        <p:nvSpPr>
          <p:cNvPr id="498"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00630D-5E81-4DD9-B539-889108ADCD84}" type="slidenum">
              <a:rPr lang="en-US" sz="1200" b="0" u="none" strike="noStrike">
                <a:solidFill>
                  <a:srgbClr val="000000"/>
                </a:solidFill>
                <a:effectLst/>
                <a:uFillTx/>
                <a:latin typeface="Times New Roman"/>
              </a:rPr>
              <a:t>18</a:t>
            </a:fld>
            <a:endParaRPr lang="es-E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381000" y="685800"/>
            <a:ext cx="6096000" cy="3429000"/>
          </a:xfrm>
          <a:prstGeom prst="rect">
            <a:avLst/>
          </a:prstGeom>
          <a:ln w="0">
            <a:noFill/>
          </a:ln>
        </p:spPr>
      </p:sp>
      <p:sp>
        <p:nvSpPr>
          <p:cNvPr id="5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22:50).</a:t>
            </a:r>
          </a:p>
          <a:p>
            <a:endParaRPr/>
          </a:p>
          <a:p>
            <a:r>
              <a:t>Se retoman los diez objetivos específicos del capítulo de introducción, en el mismo orden en que se plantearon. Nueve se dan por cumplidos de forma determinista: el análisis del ecosistema, el estudio de alternativas, la generación estructural, la normalización, las reglas semánticas trazables, los modelos de dominio y conceptuales, el formato Open CVN JSON, el contrato de parser, validador, almacenamiento y exportación, y la verificación automatizada.</a:t>
            </a:r>
          </a:p>
          <a:p>
            <a:endParaRPr/>
          </a:p>
          <a:p>
            <a:r>
              <a:t>Solo el objetivo OE9, la importación determinista y asistida por modelo de lenguaje, se cumple con garantías parciales, de forma deliberada: la importación asistida por LLM es opcional y no autoritativa sin revisión, una decisión de diseño y no una carencia. El objetivo general se considera, en consecuencia, cumplido: la única salvedad es intencionada.</a:t>
            </a:r>
          </a:p>
          <a:p>
            <a:endParaRPr/>
          </a:p>
          <a:p>
            <a:r>
              <a:t>Transición: ese cumplimiento se apoya en siete contribuciones concretas.</a:t>
            </a:r>
          </a:p>
        </p:txBody>
      </p:sp>
      <p:sp>
        <p:nvSpPr>
          <p:cNvPr id="501"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40FE51C-348F-4A1A-88B1-40930F211E15}" type="slidenum">
              <a:rPr lang="en-US" sz="1200" b="0" u="none" strike="noStrike">
                <a:solidFill>
                  <a:srgbClr val="000000"/>
                </a:solidFill>
                <a:effectLst/>
                <a:uFillTx/>
                <a:latin typeface="Times New Roman"/>
              </a:rPr>
              <a:t>19</a:t>
            </a:fld>
            <a:endParaRPr lang="es-E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381000" y="685800"/>
            <a:ext cx="6096000" cy="3429000"/>
          </a:xfrm>
          <a:prstGeom prst="rect">
            <a:avLst/>
          </a:prstGeom>
          <a:ln w="0">
            <a:noFill/>
          </a:ln>
        </p:spPr>
      </p:sp>
      <p:sp>
        <p:nvSpPr>
          <p:cNvPr id="5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25:00 - fin del tiempo de exposición).</a:t>
            </a:r>
          </a:p>
          <a:p>
            <a:endParaRPr/>
          </a:p>
          <a:p>
            <a:r>
              <a:t>Este trabajo demuestra que es posible construir, a partir de CVN, una arquitectura computacional abierta que separa la interoperabilidad estructural del significado curricular, con trazabilidad verificable y garantías reproducibles allí donde el proceso es determinista. Esa arquitectura por capas -más que el formato JSON o la herramienta que la demuestran- constituye la aportación principal de este Trabajo Fin de Grado. Las limitaciones descritas no comprometen esta conclusión: unas proceden del propio paquete CVN, y otras son decisiones deliberadas de alcance.</a:t>
            </a:r>
          </a:p>
          <a:p>
            <a:endParaRPr/>
          </a:p>
          <a:p>
            <a:r>
              <a:t>Como trabajo futuro se plantean cinco líneas: completar el mapeo semántico de la importación XML con currículos reales; ampliar las validaciones de dominio fuera de la capa estructural generada; estudiar la incorporación de restricciones OCL sobre el modelo conceptual; reducir la dependencia de un motor LaTeX en la generación de PDF; y explorar extensiones semánticas, como JSON-LD, y la integración institucional.</a:t>
            </a:r>
          </a:p>
          <a:p>
            <a:endParaRPr/>
          </a:p>
          <a:p>
            <a:r>
              <a:t>Transición: con esto concluye la exposición.</a:t>
            </a:r>
          </a:p>
        </p:txBody>
      </p:sp>
      <p:sp>
        <p:nvSpPr>
          <p:cNvPr id="507"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AA53DF-AEEC-4BE5-97FF-59FBB69F0764}" type="slidenum">
              <a:rPr lang="en-US" sz="1200" b="0" u="none" strike="noStrike">
                <a:solidFill>
                  <a:srgbClr val="000000"/>
                </a:solidFill>
                <a:effectLst/>
                <a:uFillTx/>
                <a:latin typeface="Times New Roman"/>
              </a:rPr>
              <a:t>20</a:t>
            </a:fld>
            <a:endParaRPr lang="es-E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381000" y="685800"/>
            <a:ext cx="6096000" cy="3429000"/>
          </a:xfrm>
          <a:prstGeom prst="rect">
            <a:avLst/>
          </a:prstGeom>
          <a:ln w="0">
            <a:noFill/>
          </a:ln>
        </p:spPr>
      </p:sp>
      <p:sp>
        <p:nvSpPr>
          <p:cNvPr id="5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Fuera del reparto de 25 minutos: esta diapositiva marca el final de la exposición y abre el turno de preguntas.</a:t>
            </a:r>
          </a:p>
          <a:p>
            <a:endParaRPr/>
          </a:p>
          <a:p>
            <a:r>
              <a:t>Muchas gracias por su atención. Quedo a su disposición para las preguntas del tribunal.</a:t>
            </a:r>
          </a:p>
          <a:p>
            <a:endParaRPr/>
          </a:p>
          <a:p>
            <a:r>
              <a:t>Conviene escuchar la pregunta completa antes de responder y, si no queda clara, pedir que se repita o se precise. Ante una pregunta sobre un objetivo, una cifra o un apartado concreto, el índice y los encabezados de cada diapositiva ("1 · Motivación...", "5 · Implementación...", etc.) permiten localizar rápidamente el punto correspondiente.</a:t>
            </a:r>
          </a:p>
        </p:txBody>
      </p:sp>
      <p:sp>
        <p:nvSpPr>
          <p:cNvPr id="510"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9D834C-6E9B-4AA8-AA43-515CB227416D}" type="slidenum">
              <a:rPr lang="en-US" sz="1200" b="0" u="none" strike="noStrike">
                <a:solidFill>
                  <a:srgbClr val="000000"/>
                </a:solidFill>
                <a:effectLst/>
                <a:uFillTx/>
                <a:latin typeface="Times New Roman"/>
              </a:rPr>
              <a:t>21</a:t>
            </a:fld>
            <a:endParaRPr lang="es-E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67DD4BC-C28B-428E-89BB-190E5D539F2A}"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199E550-67AE-4BD3-A005-F94070F45269}"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3D4CE89-4634-46A1-B554-CF33C8E759C6}"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DAA9D73-7ACD-49FE-B876-D2B3811F90A8}"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AB05CA9-5445-4BAE-A5BD-31932CBCAE0F}"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4AEC7FA-8842-4F81-9459-937F53173627}"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2F1ADFC-42B4-4E8C-A655-AB89D9F0FF47}"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345316B-B255-4471-AFF9-75B7C8EEEBB1}"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96B40A6-A46F-4A85-AE2F-4CA2D3C05104}"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Pulse para editar el formato del texto de título</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Pulse para editar el formato de texto del esquema</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Segundo nivel del esquema</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Tercer nivel del esquema</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Cuarto nivel del esquema</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Quinto nivel del esquema</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Sexto nivel del esquema</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Séptimo nivel del esquema</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3E384FB-F2FC-4604-A30B-BA000464A704}"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Pulse para editar el formato de texto del esquema</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Segundo nivel del esquema</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Tercer nivel del esquema</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Cuarto nivel del esquema</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Quinto nivel del esquema</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Sexto nivel del esquema</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Séptimo nivel del esquema</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0D23C7-19D6-4F66-B981-42DDF6AA0EA3}"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8" name="Rectangle 2"/>
          <p:cNvSpPr/>
          <p:nvPr/>
        </p:nvSpPr>
        <p:spPr>
          <a:xfrm>
            <a:off x="0" y="6199560"/>
            <a:ext cx="12191400" cy="18252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9" name="Rectangle 3"/>
          <p:cNvSpPr/>
          <p:nvPr/>
        </p:nvSpPr>
        <p:spPr>
          <a:xfrm>
            <a:off x="0" y="6419160"/>
            <a:ext cx="8595000" cy="182520"/>
          </a:xfrm>
          <a:prstGeom prst="rect">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0" name="Rectangle 4"/>
          <p:cNvSpPr/>
          <p:nvPr/>
        </p:nvSpPr>
        <p:spPr>
          <a:xfrm>
            <a:off x="0" y="6638400"/>
            <a:ext cx="5120280" cy="182520"/>
          </a:xfrm>
          <a:prstGeom prst="rect">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1" name="TextBox 5"/>
          <p:cNvSpPr/>
          <p:nvPr/>
        </p:nvSpPr>
        <p:spPr>
          <a:xfrm>
            <a:off x="640080" y="56700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E09A3E"/>
                </a:solidFill>
                <a:effectLst/>
                <a:uFillTx/>
                <a:latin typeface="Calibri"/>
              </a:rPr>
              <a:t>TRABAJO FIN DE GRADO · INTENSIFICACIÓN EN COMPUTACIÓN</a:t>
            </a:r>
            <a:endParaRPr lang="es-ES" sz="1250" b="0" u="none" strike="noStrike">
              <a:solidFill>
                <a:srgbClr val="000000"/>
              </a:solidFill>
              <a:effectLst/>
              <a:uFillTx/>
              <a:latin typeface="Arial"/>
            </a:endParaRPr>
          </a:p>
        </p:txBody>
      </p:sp>
      <p:sp>
        <p:nvSpPr>
          <p:cNvPr id="72" name="TextBox 6"/>
          <p:cNvSpPr/>
          <p:nvPr/>
        </p:nvSpPr>
        <p:spPr>
          <a:xfrm>
            <a:off x="640080" y="1234440"/>
            <a:ext cx="1060668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8000"/>
              </a:lnSpc>
            </a:pPr>
            <a:r>
              <a:rPr lang="en-US" sz="3000" b="1" u="none" strike="noStrike">
                <a:solidFill>
                  <a:srgbClr val="FFFFFF"/>
                </a:solidFill>
                <a:effectLst/>
                <a:uFillTx/>
                <a:latin typeface="Cambria"/>
              </a:rPr>
              <a:t>Especificación de formato y desarrollo de herramientas para el procesamiento de currículum vítae en el ámbito académico universitario</a:t>
            </a:r>
            <a:endParaRPr lang="es-ES" sz="3000" b="0" u="none" strike="noStrike">
              <a:solidFill>
                <a:srgbClr val="000000"/>
              </a:solidFill>
              <a:effectLst/>
              <a:uFillTx/>
              <a:latin typeface="Arial"/>
            </a:endParaRPr>
          </a:p>
        </p:txBody>
      </p:sp>
      <p:sp>
        <p:nvSpPr>
          <p:cNvPr id="73" name="TextBox 7"/>
          <p:cNvSpPr/>
          <p:nvPr/>
        </p:nvSpPr>
        <p:spPr>
          <a:xfrm>
            <a:off x="640080" y="3310200"/>
            <a:ext cx="104238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650" b="0" i="1" u="none" strike="noStrike">
                <a:solidFill>
                  <a:srgbClr val="E9F1F7"/>
                </a:solidFill>
                <a:effectLst/>
                <a:uFillTx/>
                <a:latin typeface="Calibri"/>
              </a:rPr>
              <a:t>Open CVN: una arquitectura computacional abierta para representar, validar, transformar y exportar currículos académicos</a:t>
            </a:r>
            <a:endParaRPr lang="es-ES" sz="1650" b="0" u="none" strike="noStrike">
              <a:solidFill>
                <a:srgbClr val="000000"/>
              </a:solidFill>
              <a:effectLst/>
              <a:uFillTx/>
              <a:latin typeface="Arial"/>
            </a:endParaRPr>
          </a:p>
        </p:txBody>
      </p:sp>
      <p:sp>
        <p:nvSpPr>
          <p:cNvPr id="74" name="TextBox 8"/>
          <p:cNvSpPr/>
          <p:nvPr/>
        </p:nvSpPr>
        <p:spPr>
          <a:xfrm>
            <a:off x="640080" y="434340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u="none" strike="noStrike">
                <a:solidFill>
                  <a:srgbClr val="FFFFFF"/>
                </a:solidFill>
                <a:effectLst/>
                <a:uFillTx/>
                <a:latin typeface="Cambria"/>
              </a:rPr>
              <a:t>Carlos Martínez Jaén</a:t>
            </a:r>
            <a:endParaRPr lang="es-ES" sz="1700" b="0" u="none" strike="noStrike">
              <a:solidFill>
                <a:srgbClr val="000000"/>
              </a:solidFill>
              <a:effectLst/>
              <a:uFillTx/>
              <a:latin typeface="Arial"/>
            </a:endParaRPr>
          </a:p>
        </p:txBody>
      </p:sp>
      <p:sp>
        <p:nvSpPr>
          <p:cNvPr id="75" name="TextBox 9"/>
          <p:cNvSpPr/>
          <p:nvPr/>
        </p:nvSpPr>
        <p:spPr>
          <a:xfrm>
            <a:off x="640080" y="473652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u="none" strike="noStrike">
                <a:solidFill>
                  <a:srgbClr val="A9BFD1"/>
                </a:solidFill>
                <a:effectLst/>
                <a:uFillTx/>
                <a:latin typeface="Calibri"/>
              </a:rPr>
              <a:t>Directores: Luis De la Ossa Jiménez · José Antonio Gámez Martín</a:t>
            </a:r>
            <a:endParaRPr lang="es-ES" sz="1250" b="0" u="none" strike="noStrike">
              <a:solidFill>
                <a:srgbClr val="000000"/>
              </a:solidFill>
              <a:effectLst/>
              <a:uFillTx/>
              <a:latin typeface="Arial"/>
            </a:endParaRPr>
          </a:p>
        </p:txBody>
      </p:sp>
      <p:sp>
        <p:nvSpPr>
          <p:cNvPr id="76" name="TextBox 10"/>
          <p:cNvSpPr/>
          <p:nvPr/>
        </p:nvSpPr>
        <p:spPr>
          <a:xfrm>
            <a:off x="640080" y="504756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u="none" strike="noStrike">
                <a:solidFill>
                  <a:srgbClr val="A9BFD1"/>
                </a:solidFill>
                <a:effectLst/>
                <a:uFillTx/>
                <a:latin typeface="Calibri"/>
              </a:rPr>
              <a:t>Escuela Superior de Ingeniería Informática de Albacete · Universidad de Castilla-La Mancha</a:t>
            </a:r>
            <a:endParaRPr lang="es-ES" sz="1250" b="0" u="none" strike="noStrike">
              <a:solidFill>
                <a:srgbClr val="000000"/>
              </a:solidFill>
              <a:effectLst/>
              <a:uFillTx/>
              <a:latin typeface="Arial"/>
            </a:endParaRPr>
          </a:p>
        </p:txBody>
      </p:sp>
      <p:sp>
        <p:nvSpPr>
          <p:cNvPr id="77" name="TextBox 11"/>
          <p:cNvSpPr/>
          <p:nvPr/>
        </p:nvSpPr>
        <p:spPr>
          <a:xfrm>
            <a:off x="640080" y="5358240"/>
            <a:ext cx="7314840" cy="19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u="none" strike="noStrike" dirty="0" err="1">
                <a:solidFill>
                  <a:srgbClr val="A9BFD1"/>
                </a:solidFill>
                <a:effectLst/>
                <a:uFillTx/>
                <a:latin typeface="Calibri"/>
              </a:rPr>
              <a:t>Septiembre</a:t>
            </a:r>
            <a:r>
              <a:rPr lang="en-US" sz="1250" b="0" u="none" strike="noStrike" dirty="0">
                <a:solidFill>
                  <a:srgbClr val="A9BFD1"/>
                </a:solidFill>
                <a:effectLst/>
                <a:uFillTx/>
                <a:latin typeface="Calibri"/>
              </a:rPr>
              <a:t> de 2026</a:t>
            </a:r>
            <a:endParaRPr lang="es-ES" sz="1250" b="0" u="none" strike="noStrike" dirty="0">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2F99FDF3-76BB-18B2-2025-272302AEB7A3}"/>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Índice</a:t>
            </a:r>
            <a:endParaRPr lang="es-ES" sz="3000" b="0" u="none" strike="noStrike">
              <a:solidFill>
                <a:srgbClr val="000000"/>
              </a:solidFill>
              <a:effectLst/>
              <a:uFillTx/>
              <a:latin typeface="Arial"/>
            </a:endParaRPr>
          </a:p>
        </p:txBody>
      </p:sp>
      <p:sp>
        <p:nvSpPr>
          <p:cNvPr id="80" name="Oval 4"/>
          <p:cNvSpPr/>
          <p:nvPr/>
        </p:nvSpPr>
        <p:spPr>
          <a:xfrm>
            <a:off x="640080" y="178308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81" name="TextBox 5"/>
          <p:cNvSpPr/>
          <p:nvPr/>
        </p:nvSpPr>
        <p:spPr>
          <a:xfrm>
            <a:off x="1261800" y="180144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Motivación y contexto</a:t>
            </a:r>
            <a:endParaRPr lang="es-ES" sz="1600" b="0" u="none" strike="noStrike">
              <a:solidFill>
                <a:srgbClr val="000000"/>
              </a:solidFill>
              <a:effectLst/>
              <a:uFillTx/>
              <a:latin typeface="Arial"/>
            </a:endParaRPr>
          </a:p>
        </p:txBody>
      </p:sp>
      <p:sp>
        <p:nvSpPr>
          <p:cNvPr id="82" name="Oval 6"/>
          <p:cNvSpPr/>
          <p:nvPr/>
        </p:nvSpPr>
        <p:spPr>
          <a:xfrm>
            <a:off x="640080" y="256932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83" name="TextBox 7"/>
          <p:cNvSpPr/>
          <p:nvPr/>
        </p:nvSpPr>
        <p:spPr>
          <a:xfrm>
            <a:off x="1261800" y="25876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Objetivos del trabajo</a:t>
            </a:r>
            <a:endParaRPr lang="es-ES" sz="1600" b="0" u="none" strike="noStrike">
              <a:solidFill>
                <a:srgbClr val="000000"/>
              </a:solidFill>
              <a:effectLst/>
              <a:uFillTx/>
              <a:latin typeface="Arial"/>
            </a:endParaRPr>
          </a:p>
        </p:txBody>
      </p:sp>
      <p:sp>
        <p:nvSpPr>
          <p:cNvPr id="84" name="Oval 8"/>
          <p:cNvSpPr/>
          <p:nvPr/>
        </p:nvSpPr>
        <p:spPr>
          <a:xfrm>
            <a:off x="640080" y="335592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85" name="TextBox 9"/>
          <p:cNvSpPr/>
          <p:nvPr/>
        </p:nvSpPr>
        <p:spPr>
          <a:xfrm>
            <a:off x="1261800" y="33742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El ecosistema CVN y su análisis</a:t>
            </a:r>
            <a:endParaRPr lang="es-ES" sz="1600" b="0" u="none" strike="noStrike">
              <a:solidFill>
                <a:srgbClr val="000000"/>
              </a:solidFill>
              <a:effectLst/>
              <a:uFillTx/>
              <a:latin typeface="Arial"/>
            </a:endParaRPr>
          </a:p>
        </p:txBody>
      </p:sp>
      <p:sp>
        <p:nvSpPr>
          <p:cNvPr id="86" name="Oval 10"/>
          <p:cNvSpPr/>
          <p:nvPr/>
        </p:nvSpPr>
        <p:spPr>
          <a:xfrm>
            <a:off x="640080" y="414216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87" name="TextBox 11"/>
          <p:cNvSpPr/>
          <p:nvPr/>
        </p:nvSpPr>
        <p:spPr>
          <a:xfrm>
            <a:off x="1261800" y="416052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Metodología y arquitectura</a:t>
            </a:r>
            <a:endParaRPr lang="es-ES" sz="1600" b="0" u="none" strike="noStrike">
              <a:solidFill>
                <a:srgbClr val="000000"/>
              </a:solidFill>
              <a:effectLst/>
              <a:uFillTx/>
              <a:latin typeface="Arial"/>
            </a:endParaRPr>
          </a:p>
        </p:txBody>
      </p:sp>
      <p:sp>
        <p:nvSpPr>
          <p:cNvPr id="88" name="Oval 12"/>
          <p:cNvSpPr/>
          <p:nvPr/>
        </p:nvSpPr>
        <p:spPr>
          <a:xfrm>
            <a:off x="6309360" y="178308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5</a:t>
            </a:r>
            <a:endParaRPr lang="es-ES" sz="1500" b="0" u="none" strike="noStrike">
              <a:solidFill>
                <a:srgbClr val="FFFFFF"/>
              </a:solidFill>
              <a:effectLst/>
              <a:uFillTx/>
              <a:latin typeface="Arial"/>
            </a:endParaRPr>
          </a:p>
        </p:txBody>
      </p:sp>
      <p:sp>
        <p:nvSpPr>
          <p:cNvPr id="89" name="TextBox 13"/>
          <p:cNvSpPr/>
          <p:nvPr/>
        </p:nvSpPr>
        <p:spPr>
          <a:xfrm>
            <a:off x="6931080" y="180144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Implementación del pipeline</a:t>
            </a:r>
            <a:endParaRPr lang="es-ES" sz="1600" b="0" u="none" strike="noStrike">
              <a:solidFill>
                <a:srgbClr val="000000"/>
              </a:solidFill>
              <a:effectLst/>
              <a:uFillTx/>
              <a:latin typeface="Arial"/>
            </a:endParaRPr>
          </a:p>
        </p:txBody>
      </p:sp>
      <p:sp>
        <p:nvSpPr>
          <p:cNvPr id="90" name="Oval 14"/>
          <p:cNvSpPr/>
          <p:nvPr/>
        </p:nvSpPr>
        <p:spPr>
          <a:xfrm>
            <a:off x="6309360" y="256932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6</a:t>
            </a:r>
            <a:endParaRPr lang="es-ES" sz="1500" b="0" u="none" strike="noStrike">
              <a:solidFill>
                <a:srgbClr val="FFFFFF"/>
              </a:solidFill>
              <a:effectLst/>
              <a:uFillTx/>
              <a:latin typeface="Arial"/>
            </a:endParaRPr>
          </a:p>
        </p:txBody>
      </p:sp>
      <p:sp>
        <p:nvSpPr>
          <p:cNvPr id="91" name="TextBox 15"/>
          <p:cNvSpPr/>
          <p:nvPr/>
        </p:nvSpPr>
        <p:spPr>
          <a:xfrm>
            <a:off x="6931080" y="25876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Formato Open CVN y herramienta</a:t>
            </a:r>
            <a:endParaRPr lang="es-ES" sz="1600" b="0" u="none" strike="noStrike">
              <a:solidFill>
                <a:srgbClr val="000000"/>
              </a:solidFill>
              <a:effectLst/>
              <a:uFillTx/>
              <a:latin typeface="Arial"/>
            </a:endParaRPr>
          </a:p>
        </p:txBody>
      </p:sp>
      <p:sp>
        <p:nvSpPr>
          <p:cNvPr id="92" name="Oval 16"/>
          <p:cNvSpPr/>
          <p:nvPr/>
        </p:nvSpPr>
        <p:spPr>
          <a:xfrm>
            <a:off x="6309360" y="335592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7</a:t>
            </a:r>
            <a:endParaRPr lang="es-ES" sz="1500" b="0" u="none" strike="noStrike">
              <a:solidFill>
                <a:srgbClr val="FFFFFF"/>
              </a:solidFill>
              <a:effectLst/>
              <a:uFillTx/>
              <a:latin typeface="Arial"/>
            </a:endParaRPr>
          </a:p>
        </p:txBody>
      </p:sp>
      <p:sp>
        <p:nvSpPr>
          <p:cNvPr id="93" name="TextBox 17"/>
          <p:cNvSpPr/>
          <p:nvPr/>
        </p:nvSpPr>
        <p:spPr>
          <a:xfrm>
            <a:off x="6931080" y="33742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Evaluación y resultados</a:t>
            </a:r>
            <a:endParaRPr lang="es-ES" sz="1600" b="0" u="none" strike="noStrike">
              <a:solidFill>
                <a:srgbClr val="000000"/>
              </a:solidFill>
              <a:effectLst/>
              <a:uFillTx/>
              <a:latin typeface="Arial"/>
            </a:endParaRPr>
          </a:p>
        </p:txBody>
      </p:sp>
      <p:sp>
        <p:nvSpPr>
          <p:cNvPr id="94" name="Oval 18"/>
          <p:cNvSpPr/>
          <p:nvPr/>
        </p:nvSpPr>
        <p:spPr>
          <a:xfrm>
            <a:off x="6309360" y="414216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8</a:t>
            </a:r>
            <a:endParaRPr lang="es-ES" sz="1500" b="0" u="none" strike="noStrike">
              <a:solidFill>
                <a:srgbClr val="FFFFFF"/>
              </a:solidFill>
              <a:effectLst/>
              <a:uFillTx/>
              <a:latin typeface="Arial"/>
            </a:endParaRPr>
          </a:p>
        </p:txBody>
      </p:sp>
      <p:sp>
        <p:nvSpPr>
          <p:cNvPr id="95" name="TextBox 19"/>
          <p:cNvSpPr/>
          <p:nvPr/>
        </p:nvSpPr>
        <p:spPr>
          <a:xfrm>
            <a:off x="6931080" y="416052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Conclusiones y trabajo futuro</a:t>
            </a:r>
            <a:endParaRPr lang="es-ES" sz="160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700B1A44-5887-77CD-2790-24379F56A30F}"/>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2</a:t>
            </a:fld>
            <a:endParaRPr lang="es-ES" sz="120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7"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1 · MOTIVACIÓN Y CONTEXTO</a:t>
            </a:r>
            <a:endParaRPr lang="es-ES" sz="1300" b="0" u="none" strike="noStrike">
              <a:solidFill>
                <a:srgbClr val="000000"/>
              </a:solidFill>
              <a:effectLst/>
              <a:uFillTx/>
              <a:latin typeface="Arial"/>
            </a:endParaRPr>
          </a:p>
        </p:txBody>
      </p:sp>
      <p:sp>
        <p:nvSpPr>
          <p:cNvPr id="98"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El coste no está en el formato, está en usarlo</a:t>
            </a:r>
            <a:endParaRPr lang="es-ES" sz="3000" b="0" u="none" strike="noStrike">
              <a:solidFill>
                <a:srgbClr val="000000"/>
              </a:solidFill>
              <a:effectLst/>
              <a:uFillTx/>
              <a:latin typeface="Arial"/>
            </a:endParaRPr>
          </a:p>
        </p:txBody>
      </p:sp>
      <p:sp>
        <p:nvSpPr>
          <p:cNvPr id="99" name="TextBox 4"/>
          <p:cNvSpPr/>
          <p:nvPr/>
        </p:nvSpPr>
        <p:spPr>
          <a:xfrm>
            <a:off x="640080" y="1783080"/>
            <a:ext cx="630900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08000"/>
              </a:lnSpc>
              <a:spcAft>
                <a:spcPts val="1800"/>
              </a:spcAft>
              <a:buClr>
                <a:srgbClr val="065A82"/>
              </a:buClr>
              <a:buSzPct val="55000"/>
              <a:buFont typeface="Arial"/>
              <a:buChar char="●"/>
            </a:pPr>
            <a:r>
              <a:rPr lang="en-US" sz="1550" b="1" u="none" strike="noStrike">
                <a:solidFill>
                  <a:srgbClr val="162230"/>
                </a:solidFill>
                <a:effectLst/>
                <a:uFillTx/>
                <a:latin typeface="Calibri"/>
              </a:rPr>
              <a:t>Norma de referencia. </a:t>
            </a:r>
            <a:r>
              <a:rPr lang="en-US" sz="1550" b="0" u="none" strike="noStrike">
                <a:solidFill>
                  <a:srgbClr val="162230"/>
                </a:solidFill>
                <a:effectLst/>
                <a:uFillTx/>
                <a:latin typeface="Calibri"/>
              </a:rPr>
              <a:t>FECYT define CVN como el formato común de presentación de datos curriculares de investigadores en España, y su interoperabilidad con bases de datos institucionales.</a:t>
            </a:r>
            <a:endParaRPr lang="es-ES" sz="1550" b="0" u="none" strike="noStrike">
              <a:solidFill>
                <a:srgbClr val="000000"/>
              </a:solidFill>
              <a:effectLst/>
              <a:uFillTx/>
              <a:latin typeface="Arial"/>
            </a:endParaRPr>
          </a:p>
          <a:p>
            <a:pPr marL="255960" indent="-255960" defTabSz="457200">
              <a:lnSpc>
                <a:spcPct val="108000"/>
              </a:lnSpc>
              <a:spcAft>
                <a:spcPts val="1800"/>
              </a:spcAft>
              <a:buClr>
                <a:srgbClr val="065A82"/>
              </a:buClr>
              <a:buSzPct val="55000"/>
              <a:buFont typeface="Arial"/>
              <a:buChar char="●"/>
            </a:pPr>
            <a:r>
              <a:rPr lang="en-US" sz="1550" b="1" u="none" strike="noStrike">
                <a:solidFill>
                  <a:srgbClr val="162230"/>
                </a:solidFill>
                <a:effectLst/>
                <a:uFillTx/>
                <a:latin typeface="Calibri"/>
              </a:rPr>
              <a:t>Uso más allá de la presentación. </a:t>
            </a:r>
            <a:r>
              <a:rPr lang="en-US" sz="1550" b="0" u="none" strike="noStrike">
                <a:solidFill>
                  <a:srgbClr val="162230"/>
                </a:solidFill>
                <a:effectLst/>
                <a:uFillTx/>
                <a:latin typeface="Calibri"/>
              </a:rPr>
              <a:t>El currículo se emplea como entrada en evaluaciones, convocatorias, solicitudes de ayudas, acreditaciones y sistemas de gestión de la investigación.</a:t>
            </a:r>
            <a:endParaRPr lang="es-ES" sz="1550" b="0" u="none" strike="noStrike">
              <a:solidFill>
                <a:srgbClr val="000000"/>
              </a:solidFill>
              <a:effectLst/>
              <a:uFillTx/>
              <a:latin typeface="Arial"/>
            </a:endParaRPr>
          </a:p>
          <a:p>
            <a:pPr marL="255960" indent="-255960" defTabSz="457200">
              <a:lnSpc>
                <a:spcPct val="108000"/>
              </a:lnSpc>
              <a:spcAft>
                <a:spcPts val="1800"/>
              </a:spcAft>
              <a:buClr>
                <a:srgbClr val="065A82"/>
              </a:buClr>
              <a:buSzPct val="55000"/>
              <a:buFont typeface="Arial"/>
              <a:buChar char="●"/>
            </a:pPr>
            <a:r>
              <a:rPr lang="en-US" sz="1550" b="1" u="none" strike="noStrike">
                <a:solidFill>
                  <a:srgbClr val="162230"/>
                </a:solidFill>
                <a:effectLst/>
                <a:uFillTx/>
                <a:latin typeface="Calibri"/>
              </a:rPr>
              <a:t>El formato existe, el problema persiste. </a:t>
            </a:r>
            <a:r>
              <a:rPr lang="en-US" sz="1550" b="0" u="none" strike="noStrike">
                <a:solidFill>
                  <a:srgbClr val="162230"/>
                </a:solidFill>
                <a:effectLst/>
                <a:uFillTx/>
                <a:latin typeface="Calibri"/>
              </a:rPr>
              <a:t>Disponer de una norma común no elimina el coste de elaborar, mantener y adaptar un currículo a distintos contextos.</a:t>
            </a:r>
            <a:endParaRPr lang="es-ES" sz="1550" b="0" u="none" strike="noStrike">
              <a:solidFill>
                <a:srgbClr val="000000"/>
              </a:solidFill>
              <a:effectLst/>
              <a:uFillTx/>
              <a:latin typeface="Arial"/>
            </a:endParaRPr>
          </a:p>
        </p:txBody>
      </p:sp>
      <p:sp>
        <p:nvSpPr>
          <p:cNvPr id="100" name="Rounded Rectangle 5"/>
          <p:cNvSpPr/>
          <p:nvPr/>
        </p:nvSpPr>
        <p:spPr>
          <a:xfrm>
            <a:off x="7269480" y="1783080"/>
            <a:ext cx="4251600" cy="3977280"/>
          </a:xfrm>
          <a:prstGeom prst="roundRect">
            <a:avLst>
              <a:gd name="adj" fmla="val 10000"/>
            </a:avLst>
          </a:prstGeom>
          <a:solidFill>
            <a:srgbClr val="FBF0D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1" name="TextBox 6"/>
          <p:cNvSpPr/>
          <p:nvPr/>
        </p:nvSpPr>
        <p:spPr>
          <a:xfrm>
            <a:off x="7543800" y="2011680"/>
            <a:ext cx="3702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E09A3E"/>
                </a:solidFill>
                <a:effectLst/>
                <a:uFillTx/>
                <a:latin typeface="Calibri"/>
              </a:rPr>
              <a:t>EL PROBLEMA DE PARTIDA</a:t>
            </a:r>
            <a:endParaRPr lang="es-ES" sz="1200" b="0" u="none" strike="noStrike">
              <a:solidFill>
                <a:srgbClr val="000000"/>
              </a:solidFill>
              <a:effectLst/>
              <a:uFillTx/>
              <a:latin typeface="Arial"/>
            </a:endParaRPr>
          </a:p>
        </p:txBody>
      </p:sp>
      <p:sp>
        <p:nvSpPr>
          <p:cNvPr id="102" name="TextBox 7"/>
          <p:cNvSpPr/>
          <p:nvPr/>
        </p:nvSpPr>
        <p:spPr>
          <a:xfrm>
            <a:off x="7543800" y="2450520"/>
            <a:ext cx="370296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8000"/>
              </a:lnSpc>
            </a:pPr>
            <a:r>
              <a:rPr lang="en-US" sz="1600" b="0" i="1" u="none" strike="noStrike">
                <a:solidFill>
                  <a:srgbClr val="162230"/>
                </a:solidFill>
                <a:effectLst/>
                <a:uFillTx/>
                <a:latin typeface="Cambria"/>
              </a:rPr>
              <a:t>“Pequeñas variaciones en la estructura o en el formato de salida obligan a tareas manuales repetitivas cada vez que un currículo se reutiliza en un contexto distinto.”</a:t>
            </a:r>
            <a:endParaRPr lang="es-ES" sz="1600" b="0" u="none" strike="noStrike">
              <a:solidFill>
                <a:srgbClr val="000000"/>
              </a:solidFill>
              <a:effectLst/>
              <a:uFillTx/>
              <a:latin typeface="Arial"/>
            </a:endParaRPr>
          </a:p>
        </p:txBody>
      </p:sp>
      <p:sp>
        <p:nvSpPr>
          <p:cNvPr id="103" name="TextBox 8"/>
          <p:cNvSpPr/>
          <p:nvPr/>
        </p:nvSpPr>
        <p:spPr>
          <a:xfrm>
            <a:off x="7543800" y="5074920"/>
            <a:ext cx="37029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065A82"/>
                </a:solidFill>
                <a:effectLst/>
                <a:uFillTx/>
                <a:latin typeface="Calibri"/>
              </a:rPr>
              <a:t>El uso automatizado de CVN sigue siendo costoso.</a:t>
            </a:r>
            <a:endParaRPr lang="es-ES" sz="12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9BB99639-C939-5BB5-CBFE-4DE10EE48021}"/>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3</a:t>
            </a:fld>
            <a:endParaRPr lang="es-ES" sz="120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5"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1 · MOTIVACIÓN Y CONTEXTO</a:t>
            </a:r>
            <a:endParaRPr lang="es-ES" sz="1300" b="0" u="none" strike="noStrike">
              <a:solidFill>
                <a:srgbClr val="000000"/>
              </a:solidFill>
              <a:effectLst/>
              <a:uFillTx/>
              <a:latin typeface="Arial"/>
            </a:endParaRPr>
          </a:p>
        </p:txBody>
      </p:sp>
      <p:sp>
        <p:nvSpPr>
          <p:cNvPr id="106"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CVN no es un documento: es un ecosistema de artefactos</a:t>
            </a:r>
            <a:endParaRPr lang="es-ES" sz="3000" b="0" u="none" strike="noStrike">
              <a:solidFill>
                <a:srgbClr val="000000"/>
              </a:solidFill>
              <a:effectLst/>
              <a:uFillTx/>
              <a:latin typeface="Arial"/>
            </a:endParaRPr>
          </a:p>
        </p:txBody>
      </p:sp>
      <p:sp>
        <p:nvSpPr>
          <p:cNvPr id="107" name="Rounded Rectangle 4"/>
          <p:cNvSpPr/>
          <p:nvPr/>
        </p:nvSpPr>
        <p:spPr>
          <a:xfrm>
            <a:off x="640080" y="1783080"/>
            <a:ext cx="5988960" cy="785880"/>
          </a:xfrm>
          <a:prstGeom prst="roundRect">
            <a:avLst>
              <a:gd name="adj" fmla="val 1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8" name="TextBox 5"/>
          <p:cNvSpPr/>
          <p:nvPr/>
        </p:nvSpPr>
        <p:spPr>
          <a:xfrm>
            <a:off x="868680" y="18745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Manual de especificaciones (PDF)</a:t>
            </a:r>
            <a:endParaRPr lang="es-ES" sz="1450" b="0" u="none" strike="noStrike">
              <a:solidFill>
                <a:srgbClr val="000000"/>
              </a:solidFill>
              <a:effectLst/>
              <a:uFillTx/>
              <a:latin typeface="Arial"/>
            </a:endParaRPr>
          </a:p>
        </p:txBody>
      </p:sp>
      <p:sp>
        <p:nvSpPr>
          <p:cNvPr id="109" name="TextBox 6"/>
          <p:cNvSpPr/>
          <p:nvPr/>
        </p:nvSpPr>
        <p:spPr>
          <a:xfrm>
            <a:off x="868680" y="21855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Significado funcional de cada campo, para lectura humana</a:t>
            </a:r>
            <a:endParaRPr lang="es-ES" sz="1100" b="0" u="none" strike="noStrike">
              <a:solidFill>
                <a:srgbClr val="000000"/>
              </a:solidFill>
              <a:effectLst/>
              <a:uFillTx/>
              <a:latin typeface="Arial"/>
            </a:endParaRPr>
          </a:p>
        </p:txBody>
      </p:sp>
      <p:sp>
        <p:nvSpPr>
          <p:cNvPr id="110" name="Rounded Rectangle 7"/>
          <p:cNvSpPr/>
          <p:nvPr/>
        </p:nvSpPr>
        <p:spPr>
          <a:xfrm>
            <a:off x="640080" y="2697480"/>
            <a:ext cx="5988960" cy="785880"/>
          </a:xfrm>
          <a:prstGeom prst="roundRect">
            <a:avLst>
              <a:gd name="adj" fmla="val 1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1" name="TextBox 8"/>
          <p:cNvSpPr/>
          <p:nvPr/>
        </p:nvSpPr>
        <p:spPr>
          <a:xfrm>
            <a:off x="868680" y="27889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Manual estructurado (XML)</a:t>
            </a:r>
            <a:endParaRPr lang="es-ES" sz="1450" b="0" u="none" strike="noStrike">
              <a:solidFill>
                <a:srgbClr val="000000"/>
              </a:solidFill>
              <a:effectLst/>
              <a:uFillTx/>
              <a:latin typeface="Arial"/>
            </a:endParaRPr>
          </a:p>
        </p:txBody>
      </p:sp>
      <p:sp>
        <p:nvSpPr>
          <p:cNvPr id="112" name="TextBox 9"/>
          <p:cNvSpPr/>
          <p:nvPr/>
        </p:nvSpPr>
        <p:spPr>
          <a:xfrm>
            <a:off x="868680" y="30999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El mismo manual, en forma parseable por software</a:t>
            </a:r>
            <a:endParaRPr lang="es-ES" sz="1100" b="0" u="none" strike="noStrike">
              <a:solidFill>
                <a:srgbClr val="000000"/>
              </a:solidFill>
              <a:effectLst/>
              <a:uFillTx/>
              <a:latin typeface="Arial"/>
            </a:endParaRPr>
          </a:p>
        </p:txBody>
      </p:sp>
      <p:sp>
        <p:nvSpPr>
          <p:cNvPr id="113" name="Rounded Rectangle 10"/>
          <p:cNvSpPr/>
          <p:nvPr/>
        </p:nvSpPr>
        <p:spPr>
          <a:xfrm>
            <a:off x="640080" y="3611880"/>
            <a:ext cx="5988960" cy="785880"/>
          </a:xfrm>
          <a:prstGeom prst="roundRect">
            <a:avLst>
              <a:gd name="adj" fmla="val 1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4" name="TextBox 11"/>
          <p:cNvSpPr/>
          <p:nvPr/>
        </p:nvSpPr>
        <p:spPr>
          <a:xfrm>
            <a:off x="868680" y="37033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Modelo en árbol (XML)</a:t>
            </a:r>
            <a:endParaRPr lang="es-ES" sz="1450" b="0" u="none" strike="noStrike">
              <a:solidFill>
                <a:srgbClr val="000000"/>
              </a:solidFill>
              <a:effectLst/>
              <a:uFillTx/>
              <a:latin typeface="Arial"/>
            </a:endParaRPr>
          </a:p>
        </p:txBody>
      </p:sp>
      <p:sp>
        <p:nvSpPr>
          <p:cNvPr id="115" name="TextBox 12"/>
          <p:cNvSpPr/>
          <p:nvPr/>
        </p:nvSpPr>
        <p:spPr>
          <a:xfrm>
            <a:off x="868680" y="40143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Enlaza cada código funcional con el XML real de un currículo</a:t>
            </a:r>
            <a:endParaRPr lang="es-ES" sz="1100" b="0" u="none" strike="noStrike">
              <a:solidFill>
                <a:srgbClr val="000000"/>
              </a:solidFill>
              <a:effectLst/>
              <a:uFillTx/>
              <a:latin typeface="Arial"/>
            </a:endParaRPr>
          </a:p>
        </p:txBody>
      </p:sp>
      <p:sp>
        <p:nvSpPr>
          <p:cNvPr id="116" name="Rounded Rectangle 13"/>
          <p:cNvSpPr/>
          <p:nvPr/>
        </p:nvSpPr>
        <p:spPr>
          <a:xfrm>
            <a:off x="640080" y="4526280"/>
            <a:ext cx="5988960" cy="785880"/>
          </a:xfrm>
          <a:prstGeom prst="roundRect">
            <a:avLst>
              <a:gd name="adj" fmla="val 10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7" name="TextBox 14"/>
          <p:cNvSpPr/>
          <p:nvPr/>
        </p:nvSpPr>
        <p:spPr>
          <a:xfrm>
            <a:off x="868680" y="46177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Esquemas XSD</a:t>
            </a:r>
            <a:endParaRPr lang="es-ES" sz="1450" b="0" u="none" strike="noStrike">
              <a:solidFill>
                <a:srgbClr val="000000"/>
              </a:solidFill>
              <a:effectLst/>
              <a:uFillTx/>
              <a:latin typeface="Arial"/>
            </a:endParaRPr>
          </a:p>
        </p:txBody>
      </p:sp>
      <p:sp>
        <p:nvSpPr>
          <p:cNvPr id="118" name="TextBox 15"/>
          <p:cNvSpPr/>
          <p:nvPr/>
        </p:nvSpPr>
        <p:spPr>
          <a:xfrm>
            <a:off x="868680" y="49287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Forma legal del XML y vocabulario de tablas auxiliares</a:t>
            </a:r>
            <a:endParaRPr lang="es-ES" sz="1100" b="0" u="none" strike="noStrike">
              <a:solidFill>
                <a:srgbClr val="000000"/>
              </a:solidFill>
              <a:effectLst/>
              <a:uFillTx/>
              <a:latin typeface="Arial"/>
            </a:endParaRPr>
          </a:p>
        </p:txBody>
      </p:sp>
      <p:sp>
        <p:nvSpPr>
          <p:cNvPr id="119" name="TextBox 16"/>
          <p:cNvSpPr/>
          <p:nvPr/>
        </p:nvSpPr>
        <p:spPr>
          <a:xfrm>
            <a:off x="640080" y="5513760"/>
            <a:ext cx="5988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50" b="0" i="1" u="none" strike="noStrike">
                <a:solidFill>
                  <a:srgbClr val="5B6B7A"/>
                </a:solidFill>
                <a:effectLst/>
                <a:uFillTx/>
                <a:latin typeface="Calibri"/>
              </a:rPr>
              <a:t>+ tres familias auxiliares del paquete oficial:</a:t>
            </a:r>
            <a:endParaRPr lang="es-ES" sz="1150" b="0" u="none" strike="noStrike">
              <a:solidFill>
                <a:srgbClr val="000000"/>
              </a:solidFill>
              <a:effectLst/>
              <a:uFillTx/>
              <a:latin typeface="Arial"/>
            </a:endParaRPr>
          </a:p>
        </p:txBody>
      </p:sp>
      <p:sp>
        <p:nvSpPr>
          <p:cNvPr id="120" name="Rounded Rectangle 17"/>
          <p:cNvSpPr/>
          <p:nvPr/>
        </p:nvSpPr>
        <p:spPr>
          <a:xfrm>
            <a:off x="640080" y="5824800"/>
            <a:ext cx="1912680" cy="328680"/>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1" name="TextBox 18"/>
          <p:cNvSpPr/>
          <p:nvPr/>
        </p:nvSpPr>
        <p:spPr>
          <a:xfrm>
            <a:off x="640080" y="5824800"/>
            <a:ext cx="1912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050" b="1" u="none" strike="noStrike">
                <a:solidFill>
                  <a:srgbClr val="065A82"/>
                </a:solidFill>
                <a:effectLst/>
                <a:uFillTx/>
                <a:latin typeface="Calibri"/>
              </a:rPr>
              <a:t>Catálogo de entidades</a:t>
            </a:r>
            <a:endParaRPr lang="es-ES" sz="1050" b="0" u="none" strike="noStrike">
              <a:solidFill>
                <a:srgbClr val="000000"/>
              </a:solidFill>
              <a:effectLst/>
              <a:uFillTx/>
              <a:latin typeface="Arial"/>
            </a:endParaRPr>
          </a:p>
        </p:txBody>
      </p:sp>
      <p:sp>
        <p:nvSpPr>
          <p:cNvPr id="122" name="Rounded Rectangle 19"/>
          <p:cNvSpPr/>
          <p:nvPr/>
        </p:nvSpPr>
        <p:spPr>
          <a:xfrm>
            <a:off x="2680920" y="5824800"/>
            <a:ext cx="2753640" cy="328680"/>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3" name="TextBox 20"/>
          <p:cNvSpPr/>
          <p:nvPr/>
        </p:nvSpPr>
        <p:spPr>
          <a:xfrm>
            <a:off x="2680920" y="5824800"/>
            <a:ext cx="27536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050" b="1" u="none" strike="noStrike">
                <a:solidFill>
                  <a:srgbClr val="065A82"/>
                </a:solidFill>
                <a:effectLst/>
                <a:uFillTx/>
                <a:latin typeface="Calibri"/>
              </a:rPr>
              <a:t>Tablas de referencia / subtipos</a:t>
            </a:r>
            <a:endParaRPr lang="es-ES" sz="1050" b="0" u="none" strike="noStrike">
              <a:solidFill>
                <a:srgbClr val="000000"/>
              </a:solidFill>
              <a:effectLst/>
              <a:uFillTx/>
              <a:latin typeface="Arial"/>
            </a:endParaRPr>
          </a:p>
        </p:txBody>
      </p:sp>
      <p:sp>
        <p:nvSpPr>
          <p:cNvPr id="124" name="Rounded Rectangle 21"/>
          <p:cNvSpPr/>
          <p:nvPr/>
        </p:nvSpPr>
        <p:spPr>
          <a:xfrm>
            <a:off x="5563080" y="5824800"/>
            <a:ext cx="1744200" cy="328680"/>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5" name="TextBox 22"/>
          <p:cNvSpPr/>
          <p:nvPr/>
        </p:nvSpPr>
        <p:spPr>
          <a:xfrm>
            <a:off x="5563080" y="5824800"/>
            <a:ext cx="1744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050" b="1" u="none" strike="noStrike">
                <a:solidFill>
                  <a:srgbClr val="065A82"/>
                </a:solidFill>
                <a:effectLst/>
                <a:uFillTx/>
                <a:latin typeface="Calibri"/>
              </a:rPr>
              <a:t>Tesauro multilingüe</a:t>
            </a:r>
            <a:endParaRPr lang="es-ES" sz="1050" b="0" u="none" strike="noStrike">
              <a:solidFill>
                <a:srgbClr val="000000"/>
              </a:solidFill>
              <a:effectLst/>
              <a:uFillTx/>
              <a:latin typeface="Arial"/>
            </a:endParaRPr>
          </a:p>
        </p:txBody>
      </p:sp>
      <p:sp>
        <p:nvSpPr>
          <p:cNvPr id="126" name="TextBox 23"/>
          <p:cNvSpPr/>
          <p:nvPr/>
        </p:nvSpPr>
        <p:spPr>
          <a:xfrm>
            <a:off x="6995160" y="1783080"/>
            <a:ext cx="452592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08000"/>
              </a:lnSpc>
              <a:spcAft>
                <a:spcPts val="1599"/>
              </a:spcAft>
              <a:buClr>
                <a:srgbClr val="065A82"/>
              </a:buClr>
              <a:buSzPct val="55000"/>
              <a:buFont typeface="Arial"/>
              <a:buChar char="●"/>
            </a:pPr>
            <a:r>
              <a:rPr lang="en-US" sz="1400" b="1" u="none" strike="noStrike">
                <a:solidFill>
                  <a:srgbClr val="162230"/>
                </a:solidFill>
                <a:effectLst/>
                <a:uFillTx/>
                <a:latin typeface="Calibri"/>
              </a:rPr>
              <a:t>Fuente única y oficial. </a:t>
            </a:r>
            <a:r>
              <a:rPr lang="en-US" sz="1400" b="0" u="none" strike="noStrike">
                <a:solidFill>
                  <a:srgbClr val="162230"/>
                </a:solidFill>
                <a:effectLst/>
                <a:uFillTx/>
                <a:latin typeface="Calibri"/>
              </a:rPr>
              <a:t>Todo el trabajo parte de la norma CVN y del paquete que FECYT distribuye para su implementación.</a:t>
            </a:r>
            <a:endParaRPr lang="es-ES" sz="1400" b="0" u="none" strike="noStrike">
              <a:solidFill>
                <a:srgbClr val="000000"/>
              </a:solidFill>
              <a:effectLst/>
              <a:uFillTx/>
              <a:latin typeface="Arial"/>
            </a:endParaRPr>
          </a:p>
          <a:p>
            <a:pPr marL="255960" indent="-255960" defTabSz="457200">
              <a:lnSpc>
                <a:spcPct val="108000"/>
              </a:lnSpc>
              <a:spcAft>
                <a:spcPts val="1599"/>
              </a:spcAft>
              <a:buClr>
                <a:srgbClr val="065A82"/>
              </a:buClr>
              <a:buSzPct val="55000"/>
              <a:buFont typeface="Arial"/>
              <a:buChar char="●"/>
            </a:pPr>
            <a:r>
              <a:rPr lang="en-US" sz="1400" b="1" u="none" strike="noStrike">
                <a:solidFill>
                  <a:srgbClr val="162230"/>
                </a:solidFill>
                <a:effectLst/>
                <a:uFillTx/>
                <a:latin typeface="Calibri"/>
              </a:rPr>
              <a:t>Qué significa vs. cómo se serializa. </a:t>
            </a:r>
            <a:r>
              <a:rPr lang="en-US" sz="1400" b="0" u="none" strike="noStrike">
                <a:solidFill>
                  <a:srgbClr val="162230"/>
                </a:solidFill>
                <a:effectLst/>
                <a:uFillTx/>
                <a:latin typeface="Calibri"/>
              </a:rPr>
              <a:t>El manual explica el significado de cada campo; el modelo en árbol y los XSD explican cómo se codifica en XML.</a:t>
            </a:r>
            <a:endParaRPr lang="es-ES" sz="1400" b="0" u="none" strike="noStrike">
              <a:solidFill>
                <a:srgbClr val="000000"/>
              </a:solidFill>
              <a:effectLst/>
              <a:uFillTx/>
              <a:latin typeface="Arial"/>
            </a:endParaRPr>
          </a:p>
          <a:p>
            <a:pPr marL="255960" indent="-255960" defTabSz="457200">
              <a:lnSpc>
                <a:spcPct val="108000"/>
              </a:lnSpc>
              <a:spcAft>
                <a:spcPts val="1599"/>
              </a:spcAft>
              <a:buClr>
                <a:srgbClr val="065A82"/>
              </a:buClr>
              <a:buSzPct val="55000"/>
              <a:buFont typeface="Arial"/>
              <a:buChar char="●"/>
            </a:pPr>
            <a:r>
              <a:rPr lang="en-US" sz="1400" b="1" u="none" strike="noStrike">
                <a:solidFill>
                  <a:srgbClr val="162230"/>
                </a:solidFill>
                <a:effectLst/>
                <a:uFillTx/>
                <a:latin typeface="Calibri"/>
              </a:rPr>
              <a:t>XML es el mecanismo, no el objeto. </a:t>
            </a:r>
            <a:r>
              <a:rPr lang="en-US" sz="1400" b="0" u="none" strike="noStrike">
                <a:solidFill>
                  <a:srgbClr val="162230"/>
                </a:solidFill>
                <a:effectLst/>
                <a:uFillTx/>
                <a:latin typeface="Calibri"/>
              </a:rPr>
              <a:t>XML sirve para representar e intercambiar los datos de CVN; no agota el contenido conceptual de la norma.</a:t>
            </a:r>
            <a:endParaRPr lang="es-ES" sz="140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3BF3AC9E-8652-2F64-A30F-24BE1D280654}"/>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4</a:t>
            </a:fld>
            <a:endParaRPr lang="es-ES" sz="120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2 · OBJETIVOS</a:t>
            </a:r>
            <a:endParaRPr lang="es-ES" sz="1300" b="0" u="none" strike="noStrike">
              <a:solidFill>
                <a:srgbClr val="000000"/>
              </a:solidFill>
              <a:effectLst/>
              <a:uFillTx/>
              <a:latin typeface="Arial"/>
            </a:endParaRPr>
          </a:p>
        </p:txBody>
      </p:sp>
      <p:sp>
        <p:nvSpPr>
          <p:cNvPr id="12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Objetivo general</a:t>
            </a:r>
            <a:endParaRPr lang="es-ES" sz="3000" b="0" u="none" strike="noStrike">
              <a:solidFill>
                <a:srgbClr val="000000"/>
              </a:solidFill>
              <a:effectLst/>
              <a:uFillTx/>
              <a:latin typeface="Arial"/>
            </a:endParaRPr>
          </a:p>
        </p:txBody>
      </p:sp>
      <p:sp>
        <p:nvSpPr>
          <p:cNvPr id="130" name="Rounded Rectangle 4"/>
          <p:cNvSpPr/>
          <p:nvPr/>
        </p:nvSpPr>
        <p:spPr>
          <a:xfrm>
            <a:off x="640080" y="1691640"/>
            <a:ext cx="10881000" cy="14169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1" name="TextBox 5"/>
          <p:cNvSpPr/>
          <p:nvPr/>
        </p:nvSpPr>
        <p:spPr>
          <a:xfrm>
            <a:off x="896040" y="182880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E09A3E"/>
                </a:solidFill>
                <a:effectLst/>
                <a:uFillTx/>
                <a:latin typeface="Calibri"/>
              </a:rPr>
              <a:t>OG</a:t>
            </a:r>
            <a:endParaRPr lang="es-ES" sz="1300" b="0" u="none" strike="noStrike">
              <a:solidFill>
                <a:srgbClr val="000000"/>
              </a:solidFill>
              <a:effectLst/>
              <a:uFillTx/>
              <a:latin typeface="Arial"/>
            </a:endParaRPr>
          </a:p>
        </p:txBody>
      </p:sp>
      <p:sp>
        <p:nvSpPr>
          <p:cNvPr id="132" name="TextBox 6"/>
          <p:cNvSpPr/>
          <p:nvPr/>
        </p:nvSpPr>
        <p:spPr>
          <a:xfrm>
            <a:off x="896040" y="2084760"/>
            <a:ext cx="10378080" cy="93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4000"/>
              </a:lnSpc>
            </a:pPr>
            <a:r>
              <a:rPr lang="en-US" sz="1500" b="0" i="1" u="none" strike="noStrike">
                <a:solidFill>
                  <a:srgbClr val="162230"/>
                </a:solidFill>
                <a:effectLst/>
                <a:uFillTx/>
                <a:latin typeface="Cambria"/>
              </a:rPr>
              <a:t>Diseñar e implementar una arquitectura computacional abierta para representar, validar, transformar, almacenar y exportar currículos académicos e investigadores tomando CVN como norma de referencia, sin que su representación XML ni la herramienta oficial condicionen por completo el modelo interno.</a:t>
            </a:r>
            <a:endParaRPr lang="es-ES" sz="1500" b="0" u="none" strike="noStrike">
              <a:solidFill>
                <a:srgbClr val="000000"/>
              </a:solidFill>
              <a:effectLst/>
              <a:uFillTx/>
              <a:latin typeface="Arial"/>
            </a:endParaRPr>
          </a:p>
        </p:txBody>
      </p:sp>
      <p:sp>
        <p:nvSpPr>
          <p:cNvPr id="133" name="Rounded Rectangle 7"/>
          <p:cNvSpPr/>
          <p:nvPr/>
        </p:nvSpPr>
        <p:spPr>
          <a:xfrm>
            <a:off x="64008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4" name="Rounded Rectangle 8"/>
          <p:cNvSpPr/>
          <p:nvPr/>
        </p:nvSpPr>
        <p:spPr>
          <a:xfrm>
            <a:off x="64008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5" name="Rectangle 9"/>
          <p:cNvSpPr/>
          <p:nvPr/>
        </p:nvSpPr>
        <p:spPr>
          <a:xfrm>
            <a:off x="64008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6" name="TextBox 10"/>
          <p:cNvSpPr/>
          <p:nvPr/>
        </p:nvSpPr>
        <p:spPr>
          <a:xfrm>
            <a:off x="64008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OE1–OE2</a:t>
            </a:r>
            <a:endParaRPr lang="es-ES" sz="1500" b="0" u="none" strike="noStrike">
              <a:solidFill>
                <a:srgbClr val="000000"/>
              </a:solidFill>
              <a:effectLst/>
              <a:uFillTx/>
              <a:latin typeface="Arial"/>
            </a:endParaRPr>
          </a:p>
        </p:txBody>
      </p:sp>
      <p:sp>
        <p:nvSpPr>
          <p:cNvPr id="137" name="TextBox 11"/>
          <p:cNvSpPr/>
          <p:nvPr/>
        </p:nvSpPr>
        <p:spPr>
          <a:xfrm>
            <a:off x="78624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Análisis</a:t>
            </a:r>
            <a:endParaRPr lang="es-ES" sz="1350" b="0" u="none" strike="noStrike">
              <a:solidFill>
                <a:srgbClr val="000000"/>
              </a:solidFill>
              <a:effectLst/>
              <a:uFillTx/>
              <a:latin typeface="Arial"/>
            </a:endParaRPr>
          </a:p>
        </p:txBody>
      </p:sp>
      <p:sp>
        <p:nvSpPr>
          <p:cNvPr id="138" name="TextBox 12"/>
          <p:cNvSpPr/>
          <p:nvPr/>
        </p:nvSpPr>
        <p:spPr>
          <a:xfrm>
            <a:off x="78624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Analizar el ecosistema CVN y estudiar alternativas de representación y validación de datos curriculares.</a:t>
            </a:r>
            <a:endParaRPr lang="es-ES" sz="1080" b="0" u="none" strike="noStrike">
              <a:solidFill>
                <a:srgbClr val="000000"/>
              </a:solidFill>
              <a:effectLst/>
              <a:uFillTx/>
              <a:latin typeface="Arial"/>
            </a:endParaRPr>
          </a:p>
        </p:txBody>
      </p:sp>
      <p:sp>
        <p:nvSpPr>
          <p:cNvPr id="139" name="Rounded Rectangle 13"/>
          <p:cNvSpPr/>
          <p:nvPr/>
        </p:nvSpPr>
        <p:spPr>
          <a:xfrm>
            <a:off x="339696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0" name="Rounded Rectangle 14"/>
          <p:cNvSpPr/>
          <p:nvPr/>
        </p:nvSpPr>
        <p:spPr>
          <a:xfrm>
            <a:off x="339696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1" name="Rectangle 15"/>
          <p:cNvSpPr/>
          <p:nvPr/>
        </p:nvSpPr>
        <p:spPr>
          <a:xfrm>
            <a:off x="339696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2" name="TextBox 16"/>
          <p:cNvSpPr/>
          <p:nvPr/>
        </p:nvSpPr>
        <p:spPr>
          <a:xfrm>
            <a:off x="339696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OE3–OE6</a:t>
            </a:r>
            <a:endParaRPr lang="es-ES" sz="1500" b="0" u="none" strike="noStrike">
              <a:solidFill>
                <a:srgbClr val="000000"/>
              </a:solidFill>
              <a:effectLst/>
              <a:uFillTx/>
              <a:latin typeface="Arial"/>
            </a:endParaRPr>
          </a:p>
        </p:txBody>
      </p:sp>
      <p:sp>
        <p:nvSpPr>
          <p:cNvPr id="143" name="TextBox 17"/>
          <p:cNvSpPr/>
          <p:nvPr/>
        </p:nvSpPr>
        <p:spPr>
          <a:xfrm>
            <a:off x="354348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Generación y normalización</a:t>
            </a:r>
            <a:endParaRPr lang="es-ES" sz="1350" b="0" u="none" strike="noStrike">
              <a:solidFill>
                <a:srgbClr val="000000"/>
              </a:solidFill>
              <a:effectLst/>
              <a:uFillTx/>
              <a:latin typeface="Arial"/>
            </a:endParaRPr>
          </a:p>
        </p:txBody>
      </p:sp>
      <p:sp>
        <p:nvSpPr>
          <p:cNvPr id="144" name="TextBox 18"/>
          <p:cNvSpPr/>
          <p:nvPr/>
        </p:nvSpPr>
        <p:spPr>
          <a:xfrm>
            <a:off x="354348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Generar la capa estructural desde los XSD, normalizar metadatos, definir reglas semánticas y modelos de dominio.</a:t>
            </a:r>
            <a:endParaRPr lang="es-ES" sz="1080" b="0" u="none" strike="noStrike">
              <a:solidFill>
                <a:srgbClr val="000000"/>
              </a:solidFill>
              <a:effectLst/>
              <a:uFillTx/>
              <a:latin typeface="Arial"/>
            </a:endParaRPr>
          </a:p>
        </p:txBody>
      </p:sp>
      <p:sp>
        <p:nvSpPr>
          <p:cNvPr id="145" name="Rounded Rectangle 19"/>
          <p:cNvSpPr/>
          <p:nvPr/>
        </p:nvSpPr>
        <p:spPr>
          <a:xfrm>
            <a:off x="615384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6" name="Rounded Rectangle 20"/>
          <p:cNvSpPr/>
          <p:nvPr/>
        </p:nvSpPr>
        <p:spPr>
          <a:xfrm>
            <a:off x="615384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7" name="Rectangle 21"/>
          <p:cNvSpPr/>
          <p:nvPr/>
        </p:nvSpPr>
        <p:spPr>
          <a:xfrm>
            <a:off x="615384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8" name="TextBox 22"/>
          <p:cNvSpPr/>
          <p:nvPr/>
        </p:nvSpPr>
        <p:spPr>
          <a:xfrm>
            <a:off x="615384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OE7–OE9</a:t>
            </a:r>
            <a:endParaRPr lang="es-ES" sz="1500" b="0" u="none" strike="noStrike">
              <a:solidFill>
                <a:srgbClr val="000000"/>
              </a:solidFill>
              <a:effectLst/>
              <a:uFillTx/>
              <a:latin typeface="Arial"/>
            </a:endParaRPr>
          </a:p>
        </p:txBody>
      </p:sp>
      <p:sp>
        <p:nvSpPr>
          <p:cNvPr id="149" name="TextBox 23"/>
          <p:cNvSpPr/>
          <p:nvPr/>
        </p:nvSpPr>
        <p:spPr>
          <a:xfrm>
            <a:off x="630036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Formato y herramienta</a:t>
            </a:r>
            <a:endParaRPr lang="es-ES" sz="1350" b="0" u="none" strike="noStrike">
              <a:solidFill>
                <a:srgbClr val="000000"/>
              </a:solidFill>
              <a:effectLst/>
              <a:uFillTx/>
              <a:latin typeface="Arial"/>
            </a:endParaRPr>
          </a:p>
        </p:txBody>
      </p:sp>
      <p:sp>
        <p:nvSpPr>
          <p:cNvPr id="150" name="TextBox 24"/>
          <p:cNvSpPr/>
          <p:nvPr/>
        </p:nvSpPr>
        <p:spPr>
          <a:xfrm>
            <a:off x="630036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Definir el formato Open CVN JSON e implementar parseo, validación, almacenamiento, exportación e importación.</a:t>
            </a:r>
            <a:endParaRPr lang="es-ES" sz="1080" b="0" u="none" strike="noStrike">
              <a:solidFill>
                <a:srgbClr val="000000"/>
              </a:solidFill>
              <a:effectLst/>
              <a:uFillTx/>
              <a:latin typeface="Arial"/>
            </a:endParaRPr>
          </a:p>
        </p:txBody>
      </p:sp>
      <p:sp>
        <p:nvSpPr>
          <p:cNvPr id="151" name="Rounded Rectangle 25"/>
          <p:cNvSpPr/>
          <p:nvPr/>
        </p:nvSpPr>
        <p:spPr>
          <a:xfrm>
            <a:off x="891072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2" name="Rounded Rectangle 26"/>
          <p:cNvSpPr/>
          <p:nvPr/>
        </p:nvSpPr>
        <p:spPr>
          <a:xfrm>
            <a:off x="891072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3" name="Rectangle 27"/>
          <p:cNvSpPr/>
          <p:nvPr/>
        </p:nvSpPr>
        <p:spPr>
          <a:xfrm>
            <a:off x="891072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4" name="TextBox 28"/>
          <p:cNvSpPr/>
          <p:nvPr/>
        </p:nvSpPr>
        <p:spPr>
          <a:xfrm>
            <a:off x="891072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OE10</a:t>
            </a:r>
            <a:endParaRPr lang="es-ES" sz="1500" b="0" u="none" strike="noStrike">
              <a:solidFill>
                <a:srgbClr val="000000"/>
              </a:solidFill>
              <a:effectLst/>
              <a:uFillTx/>
              <a:latin typeface="Arial"/>
            </a:endParaRPr>
          </a:p>
        </p:txBody>
      </p:sp>
      <p:sp>
        <p:nvSpPr>
          <p:cNvPr id="155" name="TextBox 29"/>
          <p:cNvSpPr/>
          <p:nvPr/>
        </p:nvSpPr>
        <p:spPr>
          <a:xfrm>
            <a:off x="905724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Verificación</a:t>
            </a:r>
            <a:endParaRPr lang="es-ES" sz="1350" b="0" u="none" strike="noStrike">
              <a:solidFill>
                <a:srgbClr val="000000"/>
              </a:solidFill>
              <a:effectLst/>
              <a:uFillTx/>
              <a:latin typeface="Arial"/>
            </a:endParaRPr>
          </a:p>
        </p:txBody>
      </p:sp>
      <p:sp>
        <p:nvSpPr>
          <p:cNvPr id="156" name="TextBox 30"/>
          <p:cNvSpPr/>
          <p:nvPr/>
        </p:nvSpPr>
        <p:spPr>
          <a:xfrm>
            <a:off x="905724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Verificar el sistema mediante pruebas automatizadas y flujos reproducibles de extremo a extremo.</a:t>
            </a:r>
            <a:endParaRPr lang="es-ES" sz="108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83760F9B-C42D-060F-9006-5D17DA5B669A}"/>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5</a:t>
            </a:fld>
            <a:endParaRPr lang="es-ES" sz="120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9"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3 · EL ECOSISTEMA CVN</a:t>
            </a:r>
            <a:endParaRPr lang="es-ES" sz="1300" b="0" u="none" strike="noStrike">
              <a:solidFill>
                <a:srgbClr val="000000"/>
              </a:solidFill>
              <a:effectLst/>
              <a:uFillTx/>
              <a:latin typeface="Arial"/>
            </a:endParaRPr>
          </a:p>
        </p:txBody>
      </p:sp>
      <p:sp>
        <p:nvSpPr>
          <p:cNvPr id="160"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El paquete oficial no es directamente un modelo interno</a:t>
            </a:r>
            <a:endParaRPr lang="es-ES" sz="3000" b="0" u="none" strike="noStrike">
              <a:solidFill>
                <a:srgbClr val="000000"/>
              </a:solidFill>
              <a:effectLst/>
              <a:uFillTx/>
              <a:latin typeface="Arial"/>
            </a:endParaRPr>
          </a:p>
        </p:txBody>
      </p:sp>
      <p:graphicFrame>
        <p:nvGraphicFramePr>
          <p:cNvPr id="161" name="Table 4"/>
          <p:cNvGraphicFramePr/>
          <p:nvPr/>
        </p:nvGraphicFramePr>
        <p:xfrm>
          <a:off x="640080" y="1783080"/>
          <a:ext cx="10881360" cy="4159800"/>
        </p:xfrm>
        <a:graphic>
          <a:graphicData uri="http://schemas.openxmlformats.org/drawingml/2006/table">
            <a:tbl>
              <a:tblPr/>
              <a:tblGrid>
                <a:gridCol w="5074920">
                  <a:extLst>
                    <a:ext uri="{9D8B030D-6E8A-4147-A177-3AD203B41FA5}">
                      <a16:colId xmlns:a16="http://schemas.microsoft.com/office/drawing/2014/main" val="20000"/>
                    </a:ext>
                  </a:extLst>
                </a:gridCol>
                <a:gridCol w="5806440">
                  <a:extLst>
                    <a:ext uri="{9D8B030D-6E8A-4147-A177-3AD203B41FA5}">
                      <a16:colId xmlns:a16="http://schemas.microsoft.com/office/drawing/2014/main" val="20001"/>
                    </a:ext>
                  </a:extLst>
                </a:gridCol>
              </a:tblGrid>
              <a:tr h="831960">
                <a:tc>
                  <a:txBody>
                    <a:bodyPr/>
                    <a:lstStyle/>
                    <a:p>
                      <a:pPr defTabSz="457200">
                        <a:lnSpc>
                          <a:spcPct val="100000"/>
                        </a:lnSpc>
                      </a:pPr>
                      <a:r>
                        <a:rPr lang="en-US" sz="1350" b="1" u="none" strike="noStrike">
                          <a:solidFill>
                            <a:srgbClr val="FFFFFF"/>
                          </a:solidFill>
                          <a:effectLst/>
                          <a:uFillTx/>
                          <a:latin typeface="Calibri"/>
                        </a:rPr>
                        <a:t>Limitación detectada</a:t>
                      </a:r>
                      <a:endParaRPr lang="es-ES" sz="13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350" b="1" u="none" strike="noStrike">
                          <a:solidFill>
                            <a:srgbClr val="FFFFFF"/>
                          </a:solidFill>
                          <a:effectLst/>
                          <a:uFillTx/>
                          <a:latin typeface="Calibri"/>
                        </a:rPr>
                        <a:t>Respuesta de diseño de Open CVN</a:t>
                      </a:r>
                      <a:endParaRPr lang="es-ES" sz="13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extLst>
                  <a:ext uri="{0D108BD9-81ED-4DB2-BD59-A6C34878D82A}">
                    <a16:rowId xmlns:a16="http://schemas.microsoft.com/office/drawing/2014/main" val="10000"/>
                  </a:ext>
                </a:extLst>
              </a:tr>
              <a:tr h="831960">
                <a:tc>
                  <a:txBody>
                    <a:bodyPr/>
                    <a:lstStyle/>
                    <a:p>
                      <a:pPr defTabSz="457200">
                        <a:lnSpc>
                          <a:spcPct val="100000"/>
                        </a:lnSpc>
                      </a:pPr>
                      <a:r>
                        <a:rPr lang="en-US" sz="1250" b="0" u="none" strike="noStrike">
                          <a:solidFill>
                            <a:srgbClr val="162230"/>
                          </a:solidFill>
                          <a:effectLst/>
                          <a:uFillTx/>
                          <a:latin typeface="Calibri"/>
                        </a:rPr>
                        <a:t>Discrepancias puntuales entre el XML canónico y su esquema de validación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Tratar el XML como evidencia de origen y registrar la discrepancia de forma explícita</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831960">
                <a:tc>
                  <a:txBody>
                    <a:bodyPr/>
                    <a:lstStyle/>
                    <a:p>
                      <a:pPr defTabSz="457200">
                        <a:lnSpc>
                          <a:spcPct val="100000"/>
                        </a:lnSpc>
                      </a:pPr>
                      <a:r>
                        <a:rPr lang="en-US" sz="1250" b="0" u="none" strike="noStrike">
                          <a:solidFill>
                            <a:srgbClr val="162230"/>
                          </a:solidFill>
                          <a:effectLst/>
                          <a:uFillTx/>
                          <a:latin typeface="Calibri"/>
                        </a:rPr>
                        <a:t>Construcciones XSD que no se trasladan de forma perfecta a estructuras ejecutables (choice, cardinalidades, tipos genéricos)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Confinar estas limitaciones a la capa estructural generada, sin exponerlas en el formato final</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2"/>
                  </a:ext>
                </a:extLst>
              </a:tr>
              <a:tr h="831960">
                <a:tc>
                  <a:txBody>
                    <a:bodyPr/>
                    <a:lstStyle/>
                    <a:p>
                      <a:pPr defTabSz="457200">
                        <a:lnSpc>
                          <a:spcPct val="100000"/>
                        </a:lnSpc>
                      </a:pPr>
                      <a:r>
                        <a:rPr lang="en-US" sz="1250" b="0" u="none" strike="noStrike">
                          <a:solidFill>
                            <a:srgbClr val="162230"/>
                          </a:solidFill>
                          <a:effectLst/>
                          <a:uFillTx/>
                          <a:latin typeface="Calibri"/>
                        </a:rPr>
                        <a:t>Tablas auxiliares que no siempre son enumeraciones cerradas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Evaluar la elegibilidad de enumeración cerrada a partir de evidencia concreta de cada tabla</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831960">
                <a:tc>
                  <a:txBody>
                    <a:bodyPr/>
                    <a:lstStyle/>
                    <a:p>
                      <a:pPr defTabSz="457200">
                        <a:lnSpc>
                          <a:spcPct val="100000"/>
                        </a:lnSpc>
                      </a:pPr>
                      <a:r>
                        <a:rPr lang="en-US" sz="1250" b="0" u="none" strike="noStrike">
                          <a:solidFill>
                            <a:srgbClr val="162230"/>
                          </a:solidFill>
                          <a:effectLst/>
                          <a:uFillTx/>
                          <a:latin typeface="Calibri"/>
                        </a:rPr>
                        <a:t>Referencias sin tabla equivalente y deriva de empaquetado entre familias auxiliares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Conservar como no resueltas o parcialmente trazables, sin forzar una conversión con pérdida de información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4"/>
                  </a:ext>
                </a:extLst>
              </a:tr>
            </a:tbl>
          </a:graphicData>
        </a:graphic>
      </p:graphicFrame>
      <p:sp>
        <p:nvSpPr>
          <p:cNvPr id="162" name="TextBox 5"/>
          <p:cNvSpPr/>
          <p:nvPr/>
        </p:nvSpPr>
        <p:spPr>
          <a:xfrm>
            <a:off x="640080" y="6108120"/>
            <a:ext cx="108810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0" i="1" u="none" strike="noStrike">
                <a:solidFill>
                  <a:srgbClr val="5B6B7A"/>
                </a:solidFill>
                <a:effectLst/>
                <a:uFillTx/>
                <a:latin typeface="Calibri"/>
              </a:rPr>
              <a:t>Ninguna limitación invalida la norma CVN: condicionan su uso directo como modelo interno de una herramienta.</a:t>
            </a:r>
            <a:endParaRPr lang="es-ES" sz="11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BAAB5AD8-09E0-DF93-40D8-C6665F003893}"/>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6</a:t>
            </a:fld>
            <a:endParaRPr lang="es-ES" sz="120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4"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3 · EL ECOSISTEMA CVN</a:t>
            </a:r>
            <a:endParaRPr lang="es-ES" sz="1300" b="0" u="none" strike="noStrike">
              <a:solidFill>
                <a:srgbClr val="000000"/>
              </a:solidFill>
              <a:effectLst/>
              <a:uFillTx/>
              <a:latin typeface="Arial"/>
            </a:endParaRPr>
          </a:p>
        </p:txBody>
      </p:sp>
      <p:sp>
        <p:nvSpPr>
          <p:cNvPr id="165"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Open CVN: una capa trazable sobre el paquete oficial</a:t>
            </a:r>
            <a:endParaRPr lang="es-ES" sz="3000" b="0" u="none" strike="noStrike">
              <a:solidFill>
                <a:srgbClr val="000000"/>
              </a:solidFill>
              <a:effectLst/>
              <a:uFillTx/>
              <a:latin typeface="Arial"/>
            </a:endParaRPr>
          </a:p>
        </p:txBody>
      </p:sp>
      <p:pic>
        <p:nvPicPr>
          <p:cNvPr id="166" name="Picture 4" descr="open_cvn_source_separation.png"/>
          <p:cNvPicPr/>
          <p:nvPr/>
        </p:nvPicPr>
        <p:blipFill>
          <a:blip r:embed="rId3"/>
          <a:stretch/>
        </p:blipFill>
        <p:spPr>
          <a:xfrm>
            <a:off x="2390040" y="1645920"/>
            <a:ext cx="7380720" cy="2331360"/>
          </a:xfrm>
          <a:prstGeom prst="rect">
            <a:avLst/>
          </a:prstGeom>
          <a:noFill/>
          <a:ln w="0">
            <a:noFill/>
          </a:ln>
        </p:spPr>
      </p:pic>
      <p:sp>
        <p:nvSpPr>
          <p:cNvPr id="167" name="Rounded Rectangle 5"/>
          <p:cNvSpPr/>
          <p:nvPr/>
        </p:nvSpPr>
        <p:spPr>
          <a:xfrm>
            <a:off x="640080" y="4160520"/>
            <a:ext cx="130860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8" name="TextBox 6"/>
          <p:cNvSpPr/>
          <p:nvPr/>
        </p:nvSpPr>
        <p:spPr>
          <a:xfrm>
            <a:off x="676800" y="4160520"/>
            <a:ext cx="12351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Paquete CVN</a:t>
            </a:r>
            <a:endParaRPr lang="es-ES" sz="1200" b="0" u="none" strike="noStrike">
              <a:solidFill>
                <a:srgbClr val="000000"/>
              </a:solidFill>
              <a:effectLst/>
              <a:uFillTx/>
              <a:latin typeface="Arial"/>
            </a:endParaRPr>
          </a:p>
        </p:txBody>
      </p:sp>
      <p:sp>
        <p:nvSpPr>
          <p:cNvPr id="169" name="TextBox 7"/>
          <p:cNvSpPr/>
          <p:nvPr/>
        </p:nvSpPr>
        <p:spPr>
          <a:xfrm>
            <a:off x="194904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0" name="Rounded Rectangle 8"/>
          <p:cNvSpPr/>
          <p:nvPr/>
        </p:nvSpPr>
        <p:spPr>
          <a:xfrm>
            <a:off x="2259720" y="4160520"/>
            <a:ext cx="261720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1" name="TextBox 9"/>
          <p:cNvSpPr/>
          <p:nvPr/>
        </p:nvSpPr>
        <p:spPr>
          <a:xfrm>
            <a:off x="2296440" y="4160520"/>
            <a:ext cx="254412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Metadatos normalizados</a:t>
            </a:r>
            <a:endParaRPr lang="es-ES" sz="1200" b="0" u="none" strike="noStrike">
              <a:solidFill>
                <a:srgbClr val="000000"/>
              </a:solidFill>
              <a:effectLst/>
              <a:uFillTx/>
              <a:latin typeface="Arial"/>
            </a:endParaRPr>
          </a:p>
        </p:txBody>
      </p:sp>
      <p:sp>
        <p:nvSpPr>
          <p:cNvPr id="172" name="TextBox 10"/>
          <p:cNvSpPr/>
          <p:nvPr/>
        </p:nvSpPr>
        <p:spPr>
          <a:xfrm>
            <a:off x="487764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3" name="Rounded Rectangle 11"/>
          <p:cNvSpPr/>
          <p:nvPr/>
        </p:nvSpPr>
        <p:spPr>
          <a:xfrm>
            <a:off x="5188320" y="4160520"/>
            <a:ext cx="214128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4" name="TextBox 12"/>
          <p:cNvSpPr/>
          <p:nvPr/>
        </p:nvSpPr>
        <p:spPr>
          <a:xfrm>
            <a:off x="5225040" y="4160520"/>
            <a:ext cx="20682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Política semántica</a:t>
            </a:r>
            <a:endParaRPr lang="es-ES" sz="1200" b="0" u="none" strike="noStrike">
              <a:solidFill>
                <a:srgbClr val="000000"/>
              </a:solidFill>
              <a:effectLst/>
              <a:uFillTx/>
              <a:latin typeface="Arial"/>
            </a:endParaRPr>
          </a:p>
        </p:txBody>
      </p:sp>
      <p:sp>
        <p:nvSpPr>
          <p:cNvPr id="175" name="TextBox 13"/>
          <p:cNvSpPr/>
          <p:nvPr/>
        </p:nvSpPr>
        <p:spPr>
          <a:xfrm>
            <a:off x="732996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6" name="Rounded Rectangle 14"/>
          <p:cNvSpPr/>
          <p:nvPr/>
        </p:nvSpPr>
        <p:spPr>
          <a:xfrm>
            <a:off x="7641000" y="4160520"/>
            <a:ext cx="202248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7" name="TextBox 15"/>
          <p:cNvSpPr/>
          <p:nvPr/>
        </p:nvSpPr>
        <p:spPr>
          <a:xfrm>
            <a:off x="7677720" y="4160520"/>
            <a:ext cx="1949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Modelo conceptual</a:t>
            </a:r>
            <a:endParaRPr lang="es-ES" sz="1200" b="0" u="none" strike="noStrike">
              <a:solidFill>
                <a:srgbClr val="000000"/>
              </a:solidFill>
              <a:effectLst/>
              <a:uFillTx/>
              <a:latin typeface="Arial"/>
            </a:endParaRPr>
          </a:p>
        </p:txBody>
      </p:sp>
      <p:sp>
        <p:nvSpPr>
          <p:cNvPr id="178" name="TextBox 16"/>
          <p:cNvSpPr/>
          <p:nvPr/>
        </p:nvSpPr>
        <p:spPr>
          <a:xfrm>
            <a:off x="966384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9" name="Rounded Rectangle 17"/>
          <p:cNvSpPr/>
          <p:nvPr/>
        </p:nvSpPr>
        <p:spPr>
          <a:xfrm>
            <a:off x="9974520" y="4160520"/>
            <a:ext cx="154656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0" name="TextBox 18"/>
          <p:cNvSpPr/>
          <p:nvPr/>
        </p:nvSpPr>
        <p:spPr>
          <a:xfrm>
            <a:off x="10011240" y="4160520"/>
            <a:ext cx="147312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Open CVN JSON</a:t>
            </a:r>
            <a:endParaRPr lang="es-ES" sz="1200" b="0" u="none" strike="noStrike">
              <a:solidFill>
                <a:srgbClr val="000000"/>
              </a:solidFill>
              <a:effectLst/>
              <a:uFillTx/>
              <a:latin typeface="Arial"/>
            </a:endParaRPr>
          </a:p>
        </p:txBody>
      </p:sp>
      <p:sp>
        <p:nvSpPr>
          <p:cNvPr id="181" name="TextBox 19"/>
          <p:cNvSpPr/>
          <p:nvPr/>
        </p:nvSpPr>
        <p:spPr>
          <a:xfrm>
            <a:off x="640080" y="5074920"/>
            <a:ext cx="108810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15000"/>
              </a:lnSpc>
            </a:pPr>
            <a:r>
              <a:rPr lang="en-US" sz="1400" b="0" i="1" u="none" strike="noStrike">
                <a:solidFill>
                  <a:srgbClr val="5B6B7A"/>
                </a:solidFill>
                <a:effectLst/>
                <a:uFillTx/>
                <a:latin typeface="Calibri"/>
              </a:rPr>
              <a:t>Cada capa añade una interpretación adicional sin descartar la relación con el paquete oficial: todo elemento del modelo final conserva evidencia verificable de la fuente CVN de la que procede.</a:t>
            </a:r>
            <a:endParaRPr lang="es-ES" sz="140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6C2E1327-8E37-CE7C-847C-3B21073B0EE3}"/>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7</a:t>
            </a:fld>
            <a:endParaRPr lang="es-ES" sz="120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3"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4 · METODOLOGÍA Y ARQUITECTURA</a:t>
            </a:r>
            <a:endParaRPr lang="es-ES" sz="1300" b="0" u="none" strike="noStrike">
              <a:solidFill>
                <a:srgbClr val="000000"/>
              </a:solidFill>
              <a:effectLst/>
              <a:uFillTx/>
              <a:latin typeface="Arial"/>
            </a:endParaRPr>
          </a:p>
        </p:txBody>
      </p:sp>
      <p:sp>
        <p:nvSpPr>
          <p:cNvPr id="184"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Cinco fases, con documentación continua de decisiones</a:t>
            </a:r>
            <a:endParaRPr lang="es-ES" sz="3000" b="0" u="none" strike="noStrike">
              <a:solidFill>
                <a:srgbClr val="000000"/>
              </a:solidFill>
              <a:effectLst/>
              <a:uFillTx/>
              <a:latin typeface="Arial"/>
            </a:endParaRPr>
          </a:p>
        </p:txBody>
      </p:sp>
      <p:sp>
        <p:nvSpPr>
          <p:cNvPr id="185" name="Rectangle 4"/>
          <p:cNvSpPr/>
          <p:nvPr/>
        </p:nvSpPr>
        <p:spPr>
          <a:xfrm>
            <a:off x="1051560" y="2110320"/>
            <a:ext cx="10103760" cy="27000"/>
          </a:xfrm>
          <a:prstGeom prst="rect">
            <a:avLst/>
          </a:prstGeom>
          <a:solidFill>
            <a:srgbClr val="D8E2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lstStyle/>
          <a:p>
            <a:endParaRPr lang="en-US" sz="1800" b="0" u="none" strike="noStrike">
              <a:solidFill>
                <a:schemeClr val="lt1"/>
              </a:solidFill>
              <a:effectLst/>
              <a:uFillTx/>
              <a:latin typeface="Calibri"/>
            </a:endParaRPr>
          </a:p>
        </p:txBody>
      </p:sp>
      <p:sp>
        <p:nvSpPr>
          <p:cNvPr id="186" name="Oval 5"/>
          <p:cNvSpPr/>
          <p:nvPr/>
        </p:nvSpPr>
        <p:spPr>
          <a:xfrm>
            <a:off x="795600" y="1865520"/>
            <a:ext cx="511560" cy="51156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187" name="TextBox 6"/>
          <p:cNvSpPr/>
          <p:nvPr/>
        </p:nvSpPr>
        <p:spPr>
          <a:xfrm>
            <a:off x="18288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Análisis</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inicial</a:t>
            </a:r>
            <a:endParaRPr lang="es-ES" sz="1150" b="0" u="none" strike="noStrike">
              <a:solidFill>
                <a:srgbClr val="000000"/>
              </a:solidFill>
              <a:effectLst/>
              <a:uFillTx/>
              <a:latin typeface="Arial"/>
            </a:endParaRPr>
          </a:p>
        </p:txBody>
      </p:sp>
      <p:sp>
        <p:nvSpPr>
          <p:cNvPr id="188" name="Oval 7"/>
          <p:cNvSpPr/>
          <p:nvPr/>
        </p:nvSpPr>
        <p:spPr>
          <a:xfrm>
            <a:off x="3321720" y="1865520"/>
            <a:ext cx="511560" cy="511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189" name="TextBox 8"/>
          <p:cNvSpPr/>
          <p:nvPr/>
        </p:nvSpPr>
        <p:spPr>
          <a:xfrm>
            <a:off x="270900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Exploración de</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artefactos</a:t>
            </a:r>
            <a:endParaRPr lang="es-ES" sz="1150" b="0" u="none" strike="noStrike">
              <a:solidFill>
                <a:srgbClr val="000000"/>
              </a:solidFill>
              <a:effectLst/>
              <a:uFillTx/>
              <a:latin typeface="Arial"/>
            </a:endParaRPr>
          </a:p>
        </p:txBody>
      </p:sp>
      <p:sp>
        <p:nvSpPr>
          <p:cNvPr id="190" name="Oval 9"/>
          <p:cNvSpPr/>
          <p:nvPr/>
        </p:nvSpPr>
        <p:spPr>
          <a:xfrm>
            <a:off x="5847480" y="1865520"/>
            <a:ext cx="511560" cy="51156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191" name="TextBox 10"/>
          <p:cNvSpPr/>
          <p:nvPr/>
        </p:nvSpPr>
        <p:spPr>
          <a:xfrm>
            <a:off x="523476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Diseño incremental</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por capas</a:t>
            </a:r>
            <a:endParaRPr lang="es-ES" sz="1150" b="0" u="none" strike="noStrike">
              <a:solidFill>
                <a:srgbClr val="000000"/>
              </a:solidFill>
              <a:effectLst/>
              <a:uFillTx/>
              <a:latin typeface="Arial"/>
            </a:endParaRPr>
          </a:p>
        </p:txBody>
      </p:sp>
      <p:sp>
        <p:nvSpPr>
          <p:cNvPr id="192" name="Oval 11"/>
          <p:cNvSpPr/>
          <p:nvPr/>
        </p:nvSpPr>
        <p:spPr>
          <a:xfrm>
            <a:off x="8373600" y="1865520"/>
            <a:ext cx="511560" cy="511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193" name="TextBox 12"/>
          <p:cNvSpPr/>
          <p:nvPr/>
        </p:nvSpPr>
        <p:spPr>
          <a:xfrm>
            <a:off x="776088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Implementación</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reproducible</a:t>
            </a:r>
            <a:endParaRPr lang="es-ES" sz="1150" b="0" u="none" strike="noStrike">
              <a:solidFill>
                <a:srgbClr val="000000"/>
              </a:solidFill>
              <a:effectLst/>
              <a:uFillTx/>
              <a:latin typeface="Arial"/>
            </a:endParaRPr>
          </a:p>
        </p:txBody>
      </p:sp>
      <p:sp>
        <p:nvSpPr>
          <p:cNvPr id="194" name="Oval 13"/>
          <p:cNvSpPr/>
          <p:nvPr/>
        </p:nvSpPr>
        <p:spPr>
          <a:xfrm>
            <a:off x="10899720" y="1865520"/>
            <a:ext cx="511560" cy="51156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5</a:t>
            </a:r>
            <a:endParaRPr lang="es-ES" sz="1500" b="0" u="none" strike="noStrike">
              <a:solidFill>
                <a:srgbClr val="FFFFFF"/>
              </a:solidFill>
              <a:effectLst/>
              <a:uFillTx/>
              <a:latin typeface="Arial"/>
            </a:endParaRPr>
          </a:p>
        </p:txBody>
      </p:sp>
      <p:sp>
        <p:nvSpPr>
          <p:cNvPr id="195" name="TextBox 14"/>
          <p:cNvSpPr/>
          <p:nvPr/>
        </p:nvSpPr>
        <p:spPr>
          <a:xfrm>
            <a:off x="1028700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Verificación</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automatizada</a:t>
            </a:r>
            <a:endParaRPr lang="es-ES" sz="1150" b="0" u="none" strike="noStrike">
              <a:solidFill>
                <a:srgbClr val="000000"/>
              </a:solidFill>
              <a:effectLst/>
              <a:uFillTx/>
              <a:latin typeface="Arial"/>
            </a:endParaRPr>
          </a:p>
        </p:txBody>
      </p:sp>
      <p:sp>
        <p:nvSpPr>
          <p:cNvPr id="196" name="TextBox 15"/>
          <p:cNvSpPr/>
          <p:nvPr/>
        </p:nvSpPr>
        <p:spPr>
          <a:xfrm>
            <a:off x="640080" y="3246120"/>
            <a:ext cx="10881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Herramientas: cada elección permite generar o validar artefactos de forma reproducible</a:t>
            </a:r>
            <a:endParaRPr lang="es-ES" sz="1350" b="0" u="none" strike="noStrike">
              <a:solidFill>
                <a:srgbClr val="000000"/>
              </a:solidFill>
              <a:effectLst/>
              <a:uFillTx/>
              <a:latin typeface="Arial"/>
            </a:endParaRPr>
          </a:p>
        </p:txBody>
      </p:sp>
      <p:sp>
        <p:nvSpPr>
          <p:cNvPr id="197" name="Oval 16"/>
          <p:cNvSpPr/>
          <p:nvPr/>
        </p:nvSpPr>
        <p:spPr>
          <a:xfrm>
            <a:off x="91908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8" name="TextBox 17"/>
          <p:cNvSpPr/>
          <p:nvPr/>
        </p:nvSpPr>
        <p:spPr>
          <a:xfrm>
            <a:off x="64008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PY</a:t>
            </a:r>
            <a:endParaRPr lang="es-ES" sz="1300" b="0" u="none" strike="noStrike">
              <a:solidFill>
                <a:srgbClr val="000000"/>
              </a:solidFill>
              <a:effectLst/>
              <a:uFillTx/>
              <a:latin typeface="Arial"/>
            </a:endParaRPr>
          </a:p>
        </p:txBody>
      </p:sp>
      <p:sp>
        <p:nvSpPr>
          <p:cNvPr id="199" name="TextBox 18"/>
          <p:cNvSpPr/>
          <p:nvPr/>
        </p:nvSpPr>
        <p:spPr>
          <a:xfrm>
            <a:off x="54864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Python + uv</a:t>
            </a:r>
            <a:endParaRPr lang="es-ES" sz="1050" b="0" u="none" strike="noStrike">
              <a:solidFill>
                <a:srgbClr val="000000"/>
              </a:solidFill>
              <a:effectLst/>
              <a:uFillTx/>
              <a:latin typeface="Arial"/>
            </a:endParaRPr>
          </a:p>
        </p:txBody>
      </p:sp>
      <p:sp>
        <p:nvSpPr>
          <p:cNvPr id="200" name="Oval 19"/>
          <p:cNvSpPr/>
          <p:nvPr/>
        </p:nvSpPr>
        <p:spPr>
          <a:xfrm>
            <a:off x="229968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1" name="TextBox 20"/>
          <p:cNvSpPr/>
          <p:nvPr/>
        </p:nvSpPr>
        <p:spPr>
          <a:xfrm>
            <a:off x="202068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XSD</a:t>
            </a:r>
            <a:endParaRPr lang="es-ES" sz="1300" b="0" u="none" strike="noStrike">
              <a:solidFill>
                <a:srgbClr val="000000"/>
              </a:solidFill>
              <a:effectLst/>
              <a:uFillTx/>
              <a:latin typeface="Arial"/>
            </a:endParaRPr>
          </a:p>
        </p:txBody>
      </p:sp>
      <p:sp>
        <p:nvSpPr>
          <p:cNvPr id="202" name="TextBox 21"/>
          <p:cNvSpPr/>
          <p:nvPr/>
        </p:nvSpPr>
        <p:spPr>
          <a:xfrm>
            <a:off x="192924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xsdata</a:t>
            </a:r>
            <a:endParaRPr lang="es-ES" sz="1050" b="0" u="none" strike="noStrike">
              <a:solidFill>
                <a:srgbClr val="000000"/>
              </a:solidFill>
              <a:effectLst/>
              <a:uFillTx/>
              <a:latin typeface="Arial"/>
            </a:endParaRPr>
          </a:p>
        </p:txBody>
      </p:sp>
      <p:sp>
        <p:nvSpPr>
          <p:cNvPr id="203" name="Oval 22"/>
          <p:cNvSpPr/>
          <p:nvPr/>
        </p:nvSpPr>
        <p:spPr>
          <a:xfrm>
            <a:off x="368028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4" name="TextBox 23"/>
          <p:cNvSpPr/>
          <p:nvPr/>
        </p:nvSpPr>
        <p:spPr>
          <a:xfrm>
            <a:off x="340164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PYD</a:t>
            </a:r>
            <a:endParaRPr lang="es-ES" sz="1300" b="0" u="none" strike="noStrike">
              <a:solidFill>
                <a:srgbClr val="000000"/>
              </a:solidFill>
              <a:effectLst/>
              <a:uFillTx/>
              <a:latin typeface="Arial"/>
            </a:endParaRPr>
          </a:p>
        </p:txBody>
      </p:sp>
      <p:sp>
        <p:nvSpPr>
          <p:cNvPr id="205" name="TextBox 24"/>
          <p:cNvSpPr/>
          <p:nvPr/>
        </p:nvSpPr>
        <p:spPr>
          <a:xfrm>
            <a:off x="331020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Pydantic</a:t>
            </a:r>
            <a:endParaRPr lang="es-ES" sz="1050" b="0" u="none" strike="noStrike">
              <a:solidFill>
                <a:srgbClr val="000000"/>
              </a:solidFill>
              <a:effectLst/>
              <a:uFillTx/>
              <a:latin typeface="Arial"/>
            </a:endParaRPr>
          </a:p>
        </p:txBody>
      </p:sp>
      <p:sp>
        <p:nvSpPr>
          <p:cNvPr id="206" name="Oval 25"/>
          <p:cNvSpPr/>
          <p:nvPr/>
        </p:nvSpPr>
        <p:spPr>
          <a:xfrm>
            <a:off x="506124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7" name="TextBox 26"/>
          <p:cNvSpPr/>
          <p:nvPr/>
        </p:nvSpPr>
        <p:spPr>
          <a:xfrm>
            <a:off x="478224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JS</a:t>
            </a:r>
            <a:endParaRPr lang="es-ES" sz="1300" b="0" u="none" strike="noStrike">
              <a:solidFill>
                <a:srgbClr val="000000"/>
              </a:solidFill>
              <a:effectLst/>
              <a:uFillTx/>
              <a:latin typeface="Arial"/>
            </a:endParaRPr>
          </a:p>
        </p:txBody>
      </p:sp>
      <p:sp>
        <p:nvSpPr>
          <p:cNvPr id="208" name="TextBox 27"/>
          <p:cNvSpPr/>
          <p:nvPr/>
        </p:nvSpPr>
        <p:spPr>
          <a:xfrm>
            <a:off x="469080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JSON Schema</a:t>
            </a:r>
            <a:endParaRPr lang="es-ES" sz="1050" b="0" u="none" strike="noStrike">
              <a:solidFill>
                <a:srgbClr val="000000"/>
              </a:solidFill>
              <a:effectLst/>
              <a:uFillTx/>
              <a:latin typeface="Arial"/>
            </a:endParaRPr>
          </a:p>
        </p:txBody>
      </p:sp>
      <p:sp>
        <p:nvSpPr>
          <p:cNvPr id="209" name="Oval 28"/>
          <p:cNvSpPr/>
          <p:nvPr/>
        </p:nvSpPr>
        <p:spPr>
          <a:xfrm>
            <a:off x="644184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0" name="TextBox 29"/>
          <p:cNvSpPr/>
          <p:nvPr/>
        </p:nvSpPr>
        <p:spPr>
          <a:xfrm>
            <a:off x="616320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DB</a:t>
            </a:r>
            <a:endParaRPr lang="es-ES" sz="1300" b="0" u="none" strike="noStrike">
              <a:solidFill>
                <a:srgbClr val="000000"/>
              </a:solidFill>
              <a:effectLst/>
              <a:uFillTx/>
              <a:latin typeface="Arial"/>
            </a:endParaRPr>
          </a:p>
        </p:txBody>
      </p:sp>
      <p:sp>
        <p:nvSpPr>
          <p:cNvPr id="211" name="TextBox 30"/>
          <p:cNvSpPr/>
          <p:nvPr/>
        </p:nvSpPr>
        <p:spPr>
          <a:xfrm>
            <a:off x="607176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SQLite</a:t>
            </a:r>
            <a:endParaRPr lang="es-ES" sz="1050" b="0" u="none" strike="noStrike">
              <a:solidFill>
                <a:srgbClr val="000000"/>
              </a:solidFill>
              <a:effectLst/>
              <a:uFillTx/>
              <a:latin typeface="Arial"/>
            </a:endParaRPr>
          </a:p>
        </p:txBody>
      </p:sp>
      <p:sp>
        <p:nvSpPr>
          <p:cNvPr id="212" name="Oval 31"/>
          <p:cNvSpPr/>
          <p:nvPr/>
        </p:nvSpPr>
        <p:spPr>
          <a:xfrm>
            <a:off x="782280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3" name="TextBox 32"/>
          <p:cNvSpPr/>
          <p:nvPr/>
        </p:nvSpPr>
        <p:spPr>
          <a:xfrm>
            <a:off x="754380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J2</a:t>
            </a:r>
            <a:endParaRPr lang="es-ES" sz="1300" b="0" u="none" strike="noStrike">
              <a:solidFill>
                <a:srgbClr val="000000"/>
              </a:solidFill>
              <a:effectLst/>
              <a:uFillTx/>
              <a:latin typeface="Arial"/>
            </a:endParaRPr>
          </a:p>
        </p:txBody>
      </p:sp>
      <p:sp>
        <p:nvSpPr>
          <p:cNvPr id="214" name="TextBox 33"/>
          <p:cNvSpPr/>
          <p:nvPr/>
        </p:nvSpPr>
        <p:spPr>
          <a:xfrm>
            <a:off x="745236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Jinja + LaTeX</a:t>
            </a:r>
            <a:endParaRPr lang="es-ES" sz="1050" b="0" u="none" strike="noStrike">
              <a:solidFill>
                <a:srgbClr val="000000"/>
              </a:solidFill>
              <a:effectLst/>
              <a:uFillTx/>
              <a:latin typeface="Arial"/>
            </a:endParaRPr>
          </a:p>
        </p:txBody>
      </p:sp>
      <p:sp>
        <p:nvSpPr>
          <p:cNvPr id="215" name="Oval 34"/>
          <p:cNvSpPr/>
          <p:nvPr/>
        </p:nvSpPr>
        <p:spPr>
          <a:xfrm>
            <a:off x="920340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6" name="TextBox 35"/>
          <p:cNvSpPr/>
          <p:nvPr/>
        </p:nvSpPr>
        <p:spPr>
          <a:xfrm>
            <a:off x="892440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PT</a:t>
            </a:r>
            <a:endParaRPr lang="es-ES" sz="1300" b="0" u="none" strike="noStrike">
              <a:solidFill>
                <a:srgbClr val="000000"/>
              </a:solidFill>
              <a:effectLst/>
              <a:uFillTx/>
              <a:latin typeface="Arial"/>
            </a:endParaRPr>
          </a:p>
        </p:txBody>
      </p:sp>
      <p:sp>
        <p:nvSpPr>
          <p:cNvPr id="217" name="TextBox 36"/>
          <p:cNvSpPr/>
          <p:nvPr/>
        </p:nvSpPr>
        <p:spPr>
          <a:xfrm>
            <a:off x="883296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pytest + xdist</a:t>
            </a:r>
            <a:endParaRPr lang="es-ES" sz="1050" b="0" u="none" strike="noStrike">
              <a:solidFill>
                <a:srgbClr val="000000"/>
              </a:solidFill>
              <a:effectLst/>
              <a:uFillTx/>
              <a:latin typeface="Arial"/>
            </a:endParaRPr>
          </a:p>
        </p:txBody>
      </p:sp>
      <p:sp>
        <p:nvSpPr>
          <p:cNvPr id="218" name="Oval 37"/>
          <p:cNvSpPr/>
          <p:nvPr/>
        </p:nvSpPr>
        <p:spPr>
          <a:xfrm>
            <a:off x="1058436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9" name="TextBox 38"/>
          <p:cNvSpPr/>
          <p:nvPr/>
        </p:nvSpPr>
        <p:spPr>
          <a:xfrm>
            <a:off x="1030536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GH</a:t>
            </a:r>
            <a:endParaRPr lang="es-ES" sz="1300" b="0" u="none" strike="noStrike">
              <a:solidFill>
                <a:srgbClr val="000000"/>
              </a:solidFill>
              <a:effectLst/>
              <a:uFillTx/>
              <a:latin typeface="Arial"/>
            </a:endParaRPr>
          </a:p>
        </p:txBody>
      </p:sp>
      <p:sp>
        <p:nvSpPr>
          <p:cNvPr id="220" name="TextBox 39"/>
          <p:cNvSpPr/>
          <p:nvPr/>
        </p:nvSpPr>
        <p:spPr>
          <a:xfrm>
            <a:off x="1021392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Git + Actions</a:t>
            </a:r>
            <a:endParaRPr lang="es-ES" sz="10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A1925AB8-3FBA-5918-C0F2-14E7FB394EBE}"/>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8</a:t>
            </a:fld>
            <a:endParaRPr lang="es-ES" sz="120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4 · METODOLOGÍA Y ARQUITECTURA</a:t>
            </a:r>
            <a:endParaRPr lang="es-ES" sz="1300" b="0" u="none" strike="noStrike">
              <a:solidFill>
                <a:srgbClr val="000000"/>
              </a:solidFill>
              <a:effectLst/>
              <a:uFillTx/>
              <a:latin typeface="Arial"/>
            </a:endParaRPr>
          </a:p>
        </p:txBody>
      </p:sp>
      <p:sp>
        <p:nvSpPr>
          <p:cNvPr id="22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Arquitectura general por capas</a:t>
            </a:r>
            <a:endParaRPr lang="es-ES" sz="3000" b="0" u="none" strike="noStrike">
              <a:solidFill>
                <a:srgbClr val="000000"/>
              </a:solidFill>
              <a:effectLst/>
              <a:uFillTx/>
              <a:latin typeface="Arial"/>
            </a:endParaRPr>
          </a:p>
        </p:txBody>
      </p:sp>
      <p:pic>
        <p:nvPicPr>
          <p:cNvPr id="224" name="Picture 4" descr="open_cvn_layered_architecture.png"/>
          <p:cNvPicPr/>
          <p:nvPr/>
        </p:nvPicPr>
        <p:blipFill>
          <a:blip r:embed="rId3"/>
          <a:stretch/>
        </p:blipFill>
        <p:spPr>
          <a:xfrm>
            <a:off x="640080" y="1761480"/>
            <a:ext cx="10881000" cy="1734480"/>
          </a:xfrm>
          <a:prstGeom prst="rect">
            <a:avLst/>
          </a:prstGeom>
          <a:noFill/>
          <a:ln w="0">
            <a:noFill/>
          </a:ln>
        </p:spPr>
      </p:pic>
      <p:sp>
        <p:nvSpPr>
          <p:cNvPr id="225" name="Rounded Rectangle 5"/>
          <p:cNvSpPr/>
          <p:nvPr/>
        </p:nvSpPr>
        <p:spPr>
          <a:xfrm>
            <a:off x="64008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6" name="Rounded Rectangle 6"/>
          <p:cNvSpPr/>
          <p:nvPr/>
        </p:nvSpPr>
        <p:spPr>
          <a:xfrm>
            <a:off x="640080" y="3977640"/>
            <a:ext cx="2610360" cy="91080"/>
          </a:xfrm>
          <a:prstGeom prst="roundRect">
            <a:avLst>
              <a:gd name="adj" fmla="val 50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27" name="TextBox 7"/>
          <p:cNvSpPr/>
          <p:nvPr/>
        </p:nvSpPr>
        <p:spPr>
          <a:xfrm>
            <a:off x="78624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Fuente oficial CVN</a:t>
            </a:r>
            <a:endParaRPr lang="es-ES" sz="1250" b="0" u="none" strike="noStrike">
              <a:solidFill>
                <a:srgbClr val="000000"/>
              </a:solidFill>
              <a:effectLst/>
              <a:uFillTx/>
              <a:latin typeface="Arial"/>
            </a:endParaRPr>
          </a:p>
        </p:txBody>
      </p:sp>
      <p:sp>
        <p:nvSpPr>
          <p:cNvPr id="228" name="TextBox 8"/>
          <p:cNvSpPr/>
          <p:nvPr/>
        </p:nvSpPr>
        <p:spPr>
          <a:xfrm>
            <a:off x="78624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Frontera externa: única fuente formal del sistema</a:t>
            </a:r>
            <a:endParaRPr lang="es-ES" sz="1050" b="0" u="none" strike="noStrike">
              <a:solidFill>
                <a:srgbClr val="000000"/>
              </a:solidFill>
              <a:effectLst/>
              <a:uFillTx/>
              <a:latin typeface="Arial"/>
            </a:endParaRPr>
          </a:p>
        </p:txBody>
      </p:sp>
      <p:sp>
        <p:nvSpPr>
          <p:cNvPr id="229" name="Rounded Rectangle 9"/>
          <p:cNvSpPr/>
          <p:nvPr/>
        </p:nvSpPr>
        <p:spPr>
          <a:xfrm>
            <a:off x="339696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0" name="Rounded Rectangle 10"/>
          <p:cNvSpPr/>
          <p:nvPr/>
        </p:nvSpPr>
        <p:spPr>
          <a:xfrm>
            <a:off x="3396960" y="3977640"/>
            <a:ext cx="2610360" cy="9108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31" name="TextBox 11"/>
          <p:cNvSpPr/>
          <p:nvPr/>
        </p:nvSpPr>
        <p:spPr>
          <a:xfrm>
            <a:off x="354348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Generación y normalización</a:t>
            </a:r>
            <a:endParaRPr lang="es-ES" sz="1250" b="0" u="none" strike="noStrike">
              <a:solidFill>
                <a:srgbClr val="000000"/>
              </a:solidFill>
              <a:effectLst/>
              <a:uFillTx/>
              <a:latin typeface="Arial"/>
            </a:endParaRPr>
          </a:p>
        </p:txBody>
      </p:sp>
      <p:sp>
        <p:nvSpPr>
          <p:cNvPr id="232" name="TextBox 12"/>
          <p:cNvSpPr/>
          <p:nvPr/>
        </p:nvSpPr>
        <p:spPr>
          <a:xfrm>
            <a:off x="354348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Bindings estructurales, metadatos y política semántica</a:t>
            </a:r>
            <a:endParaRPr lang="es-ES" sz="1050" b="0" u="none" strike="noStrike">
              <a:solidFill>
                <a:srgbClr val="000000"/>
              </a:solidFill>
              <a:effectLst/>
              <a:uFillTx/>
              <a:latin typeface="Arial"/>
            </a:endParaRPr>
          </a:p>
        </p:txBody>
      </p:sp>
      <p:sp>
        <p:nvSpPr>
          <p:cNvPr id="233" name="Rounded Rectangle 13"/>
          <p:cNvSpPr/>
          <p:nvPr/>
        </p:nvSpPr>
        <p:spPr>
          <a:xfrm>
            <a:off x="615384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4" name="Rounded Rectangle 14"/>
          <p:cNvSpPr/>
          <p:nvPr/>
        </p:nvSpPr>
        <p:spPr>
          <a:xfrm>
            <a:off x="6153840" y="3977640"/>
            <a:ext cx="2610360" cy="91080"/>
          </a:xfrm>
          <a:prstGeom prst="roundRect">
            <a:avLst>
              <a:gd name="adj" fmla="val 5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35" name="TextBox 15"/>
          <p:cNvSpPr/>
          <p:nvPr/>
        </p:nvSpPr>
        <p:spPr>
          <a:xfrm>
            <a:off x="630036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Dominio, conceptual y formato</a:t>
            </a:r>
            <a:endParaRPr lang="es-ES" sz="1250" b="0" u="none" strike="noStrike">
              <a:solidFill>
                <a:srgbClr val="000000"/>
              </a:solidFill>
              <a:effectLst/>
              <a:uFillTx/>
              <a:latin typeface="Arial"/>
            </a:endParaRPr>
          </a:p>
        </p:txBody>
      </p:sp>
      <p:sp>
        <p:nvSpPr>
          <p:cNvPr id="236" name="TextBox 16"/>
          <p:cNvSpPr/>
          <p:nvPr/>
        </p:nvSpPr>
        <p:spPr>
          <a:xfrm>
            <a:off x="630036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Modelos de dominio, modelo conceptual y JSON Schema</a:t>
            </a:r>
            <a:endParaRPr lang="es-ES" sz="1050" b="0" u="none" strike="noStrike">
              <a:solidFill>
                <a:srgbClr val="000000"/>
              </a:solidFill>
              <a:effectLst/>
              <a:uFillTx/>
              <a:latin typeface="Arial"/>
            </a:endParaRPr>
          </a:p>
        </p:txBody>
      </p:sp>
      <p:sp>
        <p:nvSpPr>
          <p:cNvPr id="237" name="Rounded Rectangle 17"/>
          <p:cNvSpPr/>
          <p:nvPr/>
        </p:nvSpPr>
        <p:spPr>
          <a:xfrm>
            <a:off x="891072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8" name="Rounded Rectangle 18"/>
          <p:cNvSpPr/>
          <p:nvPr/>
        </p:nvSpPr>
        <p:spPr>
          <a:xfrm>
            <a:off x="8910720" y="3977640"/>
            <a:ext cx="2610360" cy="91080"/>
          </a:xfrm>
          <a:prstGeom prst="roundRect">
            <a:avLst>
              <a:gd name="adj" fmla="val 50000"/>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39" name="TextBox 19"/>
          <p:cNvSpPr/>
          <p:nvPr/>
        </p:nvSpPr>
        <p:spPr>
          <a:xfrm>
            <a:off x="905724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Herramienta local</a:t>
            </a:r>
            <a:endParaRPr lang="es-ES" sz="1250" b="0" u="none" strike="noStrike">
              <a:solidFill>
                <a:srgbClr val="000000"/>
              </a:solidFill>
              <a:effectLst/>
              <a:uFillTx/>
              <a:latin typeface="Arial"/>
            </a:endParaRPr>
          </a:p>
        </p:txBody>
      </p:sp>
      <p:sp>
        <p:nvSpPr>
          <p:cNvPr id="240" name="TextBox 20"/>
          <p:cNvSpPr/>
          <p:nvPr/>
        </p:nvSpPr>
        <p:spPr>
          <a:xfrm>
            <a:off x="905724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Uso operativo: importación, versiones, exportación</a:t>
            </a:r>
            <a:endParaRPr lang="es-ES" sz="10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FB431E32-87AD-F4AA-DC18-571690A93E4F}"/>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9</a:t>
            </a:fld>
            <a:endParaRPr lang="es-ES" sz="120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24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De los XSD oficiales a una política semántica trazable</a:t>
            </a:r>
            <a:endParaRPr lang="es-ES" sz="3000" b="0" u="none" strike="noStrike">
              <a:solidFill>
                <a:srgbClr val="000000"/>
              </a:solidFill>
              <a:effectLst/>
              <a:uFillTx/>
              <a:latin typeface="Arial"/>
            </a:endParaRPr>
          </a:p>
        </p:txBody>
      </p:sp>
      <p:sp>
        <p:nvSpPr>
          <p:cNvPr id="244" name="Rounded Rectangle 4"/>
          <p:cNvSpPr/>
          <p:nvPr/>
        </p:nvSpPr>
        <p:spPr>
          <a:xfrm>
            <a:off x="64008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5" name="Oval 5"/>
          <p:cNvSpPr/>
          <p:nvPr/>
        </p:nvSpPr>
        <p:spPr>
          <a:xfrm>
            <a:off x="84132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246" name="TextBox 6"/>
          <p:cNvSpPr/>
          <p:nvPr/>
        </p:nvSpPr>
        <p:spPr>
          <a:xfrm>
            <a:off x="82296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Generación estructural</a:t>
            </a:r>
            <a:endParaRPr lang="es-ES" sz="1350" b="0" u="none" strike="noStrike">
              <a:solidFill>
                <a:srgbClr val="000000"/>
              </a:solidFill>
              <a:effectLst/>
              <a:uFillTx/>
              <a:latin typeface="Arial"/>
            </a:endParaRPr>
          </a:p>
        </p:txBody>
      </p:sp>
      <p:sp>
        <p:nvSpPr>
          <p:cNvPr id="247" name="TextBox 7"/>
          <p:cNvSpPr/>
          <p:nvPr/>
        </p:nvSpPr>
        <p:spPr>
          <a:xfrm>
            <a:off x="82296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xsdata genera bindings Pydantic fieles al XML de CVN, sin interpretación semántica todavía.</a:t>
            </a:r>
            <a:endParaRPr lang="es-ES" sz="1080" b="0" u="none" strike="noStrike">
              <a:solidFill>
                <a:srgbClr val="000000"/>
              </a:solidFill>
              <a:effectLst/>
              <a:uFillTx/>
              <a:latin typeface="Arial"/>
            </a:endParaRPr>
          </a:p>
        </p:txBody>
      </p:sp>
      <p:sp>
        <p:nvSpPr>
          <p:cNvPr id="248" name="Rounded Rectangle 8"/>
          <p:cNvSpPr/>
          <p:nvPr/>
        </p:nvSpPr>
        <p:spPr>
          <a:xfrm>
            <a:off x="339696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9" name="Oval 9"/>
          <p:cNvSpPr/>
          <p:nvPr/>
        </p:nvSpPr>
        <p:spPr>
          <a:xfrm>
            <a:off x="359820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250" name="TextBox 10"/>
          <p:cNvSpPr/>
          <p:nvPr/>
        </p:nvSpPr>
        <p:spPr>
          <a:xfrm>
            <a:off x="357984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Normalización</a:t>
            </a:r>
            <a:endParaRPr lang="es-ES" sz="1350" b="0" u="none" strike="noStrike">
              <a:solidFill>
                <a:srgbClr val="000000"/>
              </a:solidFill>
              <a:effectLst/>
              <a:uFillTx/>
              <a:latin typeface="Arial"/>
            </a:endParaRPr>
          </a:p>
        </p:txBody>
      </p:sp>
      <p:sp>
        <p:nvSpPr>
          <p:cNvPr id="251" name="TextBox 11"/>
          <p:cNvSpPr/>
          <p:nvPr/>
        </p:nvSpPr>
        <p:spPr>
          <a:xfrm>
            <a:off x="357984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Unifica manual funcional y modelo en árbol en una única estructura, indexada por código CVN.</a:t>
            </a:r>
            <a:endParaRPr lang="es-ES" sz="1080" b="0" u="none" strike="noStrike">
              <a:solidFill>
                <a:srgbClr val="000000"/>
              </a:solidFill>
              <a:effectLst/>
              <a:uFillTx/>
              <a:latin typeface="Arial"/>
            </a:endParaRPr>
          </a:p>
        </p:txBody>
      </p:sp>
      <p:sp>
        <p:nvSpPr>
          <p:cNvPr id="252" name="Rounded Rectangle 12"/>
          <p:cNvSpPr/>
          <p:nvPr/>
        </p:nvSpPr>
        <p:spPr>
          <a:xfrm>
            <a:off x="615384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3" name="Oval 13"/>
          <p:cNvSpPr/>
          <p:nvPr/>
        </p:nvSpPr>
        <p:spPr>
          <a:xfrm>
            <a:off x="635508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254" name="TextBox 14"/>
          <p:cNvSpPr/>
          <p:nvPr/>
        </p:nvSpPr>
        <p:spPr>
          <a:xfrm>
            <a:off x="633672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Resolución auxiliar</a:t>
            </a:r>
            <a:endParaRPr lang="es-ES" sz="1350" b="0" u="none" strike="noStrike">
              <a:solidFill>
                <a:srgbClr val="000000"/>
              </a:solidFill>
              <a:effectLst/>
              <a:uFillTx/>
              <a:latin typeface="Arial"/>
            </a:endParaRPr>
          </a:p>
        </p:txBody>
      </p:sp>
      <p:sp>
        <p:nvSpPr>
          <p:cNvPr id="255" name="TextBox 15"/>
          <p:cNvSpPr/>
          <p:nvPr/>
        </p:nvSpPr>
        <p:spPr>
          <a:xfrm>
            <a:off x="633672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Resuelve las referencias del manual hacia entidades, tablas y tesauro, con evidencia registrada.</a:t>
            </a:r>
            <a:endParaRPr lang="es-ES" sz="1080" b="0" u="none" strike="noStrike">
              <a:solidFill>
                <a:srgbClr val="000000"/>
              </a:solidFill>
              <a:effectLst/>
              <a:uFillTx/>
              <a:latin typeface="Arial"/>
            </a:endParaRPr>
          </a:p>
        </p:txBody>
      </p:sp>
      <p:sp>
        <p:nvSpPr>
          <p:cNvPr id="256" name="Rounded Rectangle 16"/>
          <p:cNvSpPr/>
          <p:nvPr/>
        </p:nvSpPr>
        <p:spPr>
          <a:xfrm>
            <a:off x="891072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7" name="Oval 17"/>
          <p:cNvSpPr/>
          <p:nvPr/>
        </p:nvSpPr>
        <p:spPr>
          <a:xfrm>
            <a:off x="911196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258" name="TextBox 18"/>
          <p:cNvSpPr/>
          <p:nvPr/>
        </p:nvSpPr>
        <p:spPr>
          <a:xfrm>
            <a:off x="909360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Política semántica</a:t>
            </a:r>
            <a:endParaRPr lang="es-ES" sz="1350" b="0" u="none" strike="noStrike">
              <a:solidFill>
                <a:srgbClr val="000000"/>
              </a:solidFill>
              <a:effectLst/>
              <a:uFillTx/>
              <a:latin typeface="Arial"/>
            </a:endParaRPr>
          </a:p>
        </p:txBody>
      </p:sp>
      <p:sp>
        <p:nvSpPr>
          <p:cNvPr id="259" name="TextBox 19"/>
          <p:cNvSpPr/>
          <p:nvPr/>
        </p:nvSpPr>
        <p:spPr>
          <a:xfrm>
            <a:off x="909360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Decide, campo a campo, su forma semántica: texto, fecha, enum cerrado, catálogo abierto, referencia…</a:t>
            </a:r>
            <a:endParaRPr lang="es-ES" sz="1080" b="0" u="none" strike="noStrike">
              <a:solidFill>
                <a:srgbClr val="000000"/>
              </a:solidFill>
              <a:effectLst/>
              <a:uFillTx/>
              <a:latin typeface="Arial"/>
            </a:endParaRPr>
          </a:p>
        </p:txBody>
      </p:sp>
      <p:sp>
        <p:nvSpPr>
          <p:cNvPr id="260" name="TextBox 20"/>
          <p:cNvSpPr/>
          <p:nvPr/>
        </p:nvSpPr>
        <p:spPr>
          <a:xfrm>
            <a:off x="640080" y="516636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endParaRPr lang="es-ES" sz="180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D3BD2D67-8884-DB14-D873-210ECA0233FA}"/>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10</a:t>
            </a:fld>
            <a:endParaRPr lang="es-ES" sz="120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26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Normalización y resolución auxiliar, con evidencia</a:t>
            </a:r>
            <a:endParaRPr lang="es-ES" sz="3000" b="0" u="none" strike="noStrike">
              <a:solidFill>
                <a:srgbClr val="000000"/>
              </a:solidFill>
              <a:effectLst/>
              <a:uFillTx/>
              <a:latin typeface="Arial"/>
            </a:endParaRPr>
          </a:p>
        </p:txBody>
      </p:sp>
      <p:sp>
        <p:nvSpPr>
          <p:cNvPr id="264" name="Rounded Rectangle 4"/>
          <p:cNvSpPr/>
          <p:nvPr/>
        </p:nvSpPr>
        <p:spPr>
          <a:xfrm>
            <a:off x="64008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5" name="TextBox 5"/>
          <p:cNvSpPr/>
          <p:nvPr/>
        </p:nvSpPr>
        <p:spPr>
          <a:xfrm>
            <a:off x="71316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1457</a:t>
            </a:r>
            <a:endParaRPr lang="es-ES" sz="3000" b="0" u="none" strike="noStrike">
              <a:solidFill>
                <a:srgbClr val="000000"/>
              </a:solidFill>
              <a:effectLst/>
              <a:uFillTx/>
              <a:latin typeface="Arial"/>
            </a:endParaRPr>
          </a:p>
        </p:txBody>
      </p:sp>
      <p:sp>
        <p:nvSpPr>
          <p:cNvPr id="266" name="TextBox 6"/>
          <p:cNvSpPr/>
          <p:nvPr/>
        </p:nvSpPr>
        <p:spPr>
          <a:xfrm>
            <a:off x="71316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entradas normalizadas totales</a:t>
            </a:r>
            <a:endParaRPr lang="es-ES" sz="1050" b="0" u="none" strike="noStrike">
              <a:solidFill>
                <a:srgbClr val="000000"/>
              </a:solidFill>
              <a:effectLst/>
              <a:uFillTx/>
              <a:latin typeface="Arial"/>
            </a:endParaRPr>
          </a:p>
        </p:txBody>
      </p:sp>
      <p:sp>
        <p:nvSpPr>
          <p:cNvPr id="267" name="Rounded Rectangle 7"/>
          <p:cNvSpPr/>
          <p:nvPr/>
        </p:nvSpPr>
        <p:spPr>
          <a:xfrm>
            <a:off x="284940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8" name="TextBox 8"/>
          <p:cNvSpPr/>
          <p:nvPr/>
        </p:nvSpPr>
        <p:spPr>
          <a:xfrm>
            <a:off x="292248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1429</a:t>
            </a:r>
            <a:endParaRPr lang="es-ES" sz="3000" b="0" u="none" strike="noStrike">
              <a:solidFill>
                <a:srgbClr val="000000"/>
              </a:solidFill>
              <a:effectLst/>
              <a:uFillTx/>
              <a:latin typeface="Arial"/>
            </a:endParaRPr>
          </a:p>
        </p:txBody>
      </p:sp>
      <p:sp>
        <p:nvSpPr>
          <p:cNvPr id="269" name="TextBox 9"/>
          <p:cNvSpPr/>
          <p:nvPr/>
        </p:nvSpPr>
        <p:spPr>
          <a:xfrm>
            <a:off x="292248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presentes en manual y en el modelo en árbol</a:t>
            </a:r>
            <a:endParaRPr lang="es-ES" sz="1050" b="0" u="none" strike="noStrike">
              <a:solidFill>
                <a:srgbClr val="000000"/>
              </a:solidFill>
              <a:effectLst/>
              <a:uFillTx/>
              <a:latin typeface="Arial"/>
            </a:endParaRPr>
          </a:p>
        </p:txBody>
      </p:sp>
      <p:sp>
        <p:nvSpPr>
          <p:cNvPr id="270" name="Rounded Rectangle 10"/>
          <p:cNvSpPr/>
          <p:nvPr/>
        </p:nvSpPr>
        <p:spPr>
          <a:xfrm>
            <a:off x="505836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1" name="TextBox 11"/>
          <p:cNvSpPr/>
          <p:nvPr/>
        </p:nvSpPr>
        <p:spPr>
          <a:xfrm>
            <a:off x="513144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557</a:t>
            </a:r>
            <a:endParaRPr lang="es-ES" sz="3000" b="0" u="none" strike="noStrike">
              <a:solidFill>
                <a:srgbClr val="000000"/>
              </a:solidFill>
              <a:effectLst/>
              <a:uFillTx/>
              <a:latin typeface="Arial"/>
            </a:endParaRPr>
          </a:p>
        </p:txBody>
      </p:sp>
      <p:sp>
        <p:nvSpPr>
          <p:cNvPr id="272" name="TextBox 12"/>
          <p:cNvSpPr/>
          <p:nvPr/>
        </p:nvSpPr>
        <p:spPr>
          <a:xfrm>
            <a:off x="513144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declaran tabla de referencia en el manual</a:t>
            </a:r>
            <a:endParaRPr lang="es-ES" sz="1050" b="0" u="none" strike="noStrike">
              <a:solidFill>
                <a:srgbClr val="000000"/>
              </a:solidFill>
              <a:effectLst/>
              <a:uFillTx/>
              <a:latin typeface="Arial"/>
            </a:endParaRPr>
          </a:p>
        </p:txBody>
      </p:sp>
      <p:sp>
        <p:nvSpPr>
          <p:cNvPr id="273" name="Rounded Rectangle 13"/>
          <p:cNvSpPr/>
          <p:nvPr/>
        </p:nvSpPr>
        <p:spPr>
          <a:xfrm>
            <a:off x="726768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4" name="TextBox 14"/>
          <p:cNvSpPr/>
          <p:nvPr/>
        </p:nvSpPr>
        <p:spPr>
          <a:xfrm>
            <a:off x="734076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33</a:t>
            </a:r>
            <a:endParaRPr lang="es-ES" sz="3000" b="0" u="none" strike="noStrike">
              <a:solidFill>
                <a:srgbClr val="000000"/>
              </a:solidFill>
              <a:effectLst/>
              <a:uFillTx/>
              <a:latin typeface="Arial"/>
            </a:endParaRPr>
          </a:p>
        </p:txBody>
      </p:sp>
      <p:sp>
        <p:nvSpPr>
          <p:cNvPr id="275" name="TextBox 15"/>
          <p:cNvSpPr/>
          <p:nvPr/>
        </p:nvSpPr>
        <p:spPr>
          <a:xfrm>
            <a:off x="734076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discrepancias manual / árbol registradas</a:t>
            </a:r>
            <a:endParaRPr lang="es-ES" sz="1050" b="0" u="none" strike="noStrike">
              <a:solidFill>
                <a:srgbClr val="000000"/>
              </a:solidFill>
              <a:effectLst/>
              <a:uFillTx/>
              <a:latin typeface="Arial"/>
            </a:endParaRPr>
          </a:p>
        </p:txBody>
      </p:sp>
      <p:sp>
        <p:nvSpPr>
          <p:cNvPr id="276" name="Rounded Rectangle 16"/>
          <p:cNvSpPr/>
          <p:nvPr/>
        </p:nvSpPr>
        <p:spPr>
          <a:xfrm>
            <a:off x="947700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7" name="TextBox 17"/>
          <p:cNvSpPr/>
          <p:nvPr/>
        </p:nvSpPr>
        <p:spPr>
          <a:xfrm>
            <a:off x="955008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E09A3E"/>
                </a:solidFill>
                <a:effectLst/>
                <a:uFillTx/>
                <a:latin typeface="Cambria"/>
              </a:rPr>
              <a:t>1</a:t>
            </a:r>
            <a:endParaRPr lang="es-ES" sz="3000" b="0" u="none" strike="noStrike">
              <a:solidFill>
                <a:srgbClr val="000000"/>
              </a:solidFill>
              <a:effectLst/>
              <a:uFillTx/>
              <a:latin typeface="Arial"/>
            </a:endParaRPr>
          </a:p>
        </p:txBody>
      </p:sp>
      <p:sp>
        <p:nvSpPr>
          <p:cNvPr id="278" name="TextBox 18"/>
          <p:cNvSpPr/>
          <p:nvPr/>
        </p:nvSpPr>
        <p:spPr>
          <a:xfrm>
            <a:off x="955008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referencia sin resolver (CVN_AGENCY_C)</a:t>
            </a:r>
            <a:endParaRPr lang="es-ES" sz="1050" b="0" u="none" strike="noStrike">
              <a:solidFill>
                <a:srgbClr val="000000"/>
              </a:solidFill>
              <a:effectLst/>
              <a:uFillTx/>
              <a:latin typeface="Arial"/>
            </a:endParaRPr>
          </a:p>
        </p:txBody>
      </p:sp>
      <p:sp>
        <p:nvSpPr>
          <p:cNvPr id="279" name="Rounded Rectangle 19"/>
          <p:cNvSpPr/>
          <p:nvPr/>
        </p:nvSpPr>
        <p:spPr>
          <a:xfrm>
            <a:off x="640080" y="4160520"/>
            <a:ext cx="10881000" cy="173700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0" name="TextBox 20"/>
          <p:cNvSpPr/>
          <p:nvPr/>
        </p:nvSpPr>
        <p:spPr>
          <a:xfrm>
            <a:off x="868680" y="4343400"/>
            <a:ext cx="10423800" cy="141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05000"/>
              </a:lnSpc>
              <a:spcAft>
                <a:spcPts val="799"/>
              </a:spcAft>
              <a:buClr>
                <a:srgbClr val="065A82"/>
              </a:buClr>
              <a:buSzPct val="55000"/>
              <a:buFont typeface="Arial"/>
              <a:buChar char="●"/>
            </a:pPr>
            <a:r>
              <a:rPr lang="en-US" sz="1250" b="1" u="none" strike="noStrike">
                <a:solidFill>
                  <a:srgbClr val="162230"/>
                </a:solidFill>
                <a:effectLst/>
                <a:uFillTx/>
                <a:latin typeface="Calibri"/>
              </a:rPr>
              <a:t>Evidencia, no suposición. </a:t>
            </a:r>
            <a:r>
              <a:rPr lang="en-US" sz="1250" b="0" u="none" strike="noStrike">
                <a:solidFill>
                  <a:srgbClr val="162230"/>
                </a:solidFill>
                <a:effectLst/>
                <a:uFillTx/>
                <a:latin typeface="Calibri"/>
              </a:rPr>
              <a:t>De las 557 entradas con tabla declarada, la resolución auxiliar se apoya en evidencia concreta del paquete; solo una queda sin resolver.</a:t>
            </a:r>
            <a:endParaRPr lang="es-ES" sz="1250" b="0" u="none" strike="noStrike">
              <a:solidFill>
                <a:srgbClr val="000000"/>
              </a:solidFill>
              <a:effectLst/>
              <a:uFillTx/>
              <a:latin typeface="Arial"/>
            </a:endParaRPr>
          </a:p>
          <a:p>
            <a:pPr marL="255960" indent="-255960" defTabSz="457200">
              <a:lnSpc>
                <a:spcPct val="105000"/>
              </a:lnSpc>
              <a:spcAft>
                <a:spcPts val="799"/>
              </a:spcAft>
              <a:buClr>
                <a:srgbClr val="065A82"/>
              </a:buClr>
              <a:buSzPct val="55000"/>
              <a:buFont typeface="Arial"/>
              <a:buChar char="●"/>
            </a:pPr>
            <a:r>
              <a:rPr lang="en-US" sz="1250" b="1" u="none" strike="noStrike">
                <a:solidFill>
                  <a:srgbClr val="162230"/>
                </a:solidFill>
                <a:effectLst/>
                <a:uFillTx/>
                <a:latin typeface="Calibri"/>
              </a:rPr>
              <a:t>El caso CVN_AGENCY_C. </a:t>
            </a:r>
            <a:r>
              <a:rPr lang="en-US" sz="1250" b="0" u="none" strike="noStrike">
                <a:solidFill>
                  <a:srgbClr val="162230"/>
                </a:solidFill>
                <a:effectLst/>
                <a:uFillTx/>
                <a:latin typeface="Calibri"/>
              </a:rPr>
              <a:t>El manual cita una tabla que no tiene equivalente localizable en el resto del paquete: se conserva como referencia no resuelta, en lugar de forzar una interpretación.</a:t>
            </a:r>
            <a:endParaRPr lang="es-ES" sz="12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8E873A05-30E9-38A0-3EB6-008FCFD1D8A2}"/>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11</a:t>
            </a:fld>
            <a:endParaRPr lang="es-ES" sz="120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28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Política semántica: nueve formas, con trazabilidad</a:t>
            </a:r>
            <a:endParaRPr lang="es-ES" sz="3000" b="0" u="none" strike="noStrike">
              <a:solidFill>
                <a:srgbClr val="000000"/>
              </a:solidFill>
              <a:effectLst/>
              <a:uFillTx/>
              <a:latin typeface="Arial"/>
            </a:endParaRPr>
          </a:p>
        </p:txBody>
      </p:sp>
      <p:sp>
        <p:nvSpPr>
          <p:cNvPr id="284" name="Rounded Rectangle 4"/>
          <p:cNvSpPr/>
          <p:nvPr/>
        </p:nvSpPr>
        <p:spPr>
          <a:xfrm>
            <a:off x="640080" y="17830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5" name="TextBox 5"/>
          <p:cNvSpPr/>
          <p:nvPr/>
        </p:nvSpPr>
        <p:spPr>
          <a:xfrm>
            <a:off x="731520" y="17830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Texto</a:t>
            </a:r>
            <a:endParaRPr lang="es-ES" sz="1300" b="0" u="none" strike="noStrike">
              <a:solidFill>
                <a:srgbClr val="000000"/>
              </a:solidFill>
              <a:effectLst/>
              <a:uFillTx/>
              <a:latin typeface="Arial"/>
            </a:endParaRPr>
          </a:p>
        </p:txBody>
      </p:sp>
      <p:sp>
        <p:nvSpPr>
          <p:cNvPr id="286" name="Rounded Rectangle 6"/>
          <p:cNvSpPr/>
          <p:nvPr/>
        </p:nvSpPr>
        <p:spPr>
          <a:xfrm>
            <a:off x="4309920" y="17830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7" name="TextBox 7"/>
          <p:cNvSpPr/>
          <p:nvPr/>
        </p:nvSpPr>
        <p:spPr>
          <a:xfrm>
            <a:off x="4401360" y="17830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Fecha</a:t>
            </a:r>
            <a:endParaRPr lang="es-ES" sz="1300" b="0" u="none" strike="noStrike">
              <a:solidFill>
                <a:srgbClr val="000000"/>
              </a:solidFill>
              <a:effectLst/>
              <a:uFillTx/>
              <a:latin typeface="Arial"/>
            </a:endParaRPr>
          </a:p>
        </p:txBody>
      </p:sp>
      <p:sp>
        <p:nvSpPr>
          <p:cNvPr id="288" name="Rounded Rectangle 8"/>
          <p:cNvSpPr/>
          <p:nvPr/>
        </p:nvSpPr>
        <p:spPr>
          <a:xfrm>
            <a:off x="7979760" y="17830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9" name="TextBox 9"/>
          <p:cNvSpPr/>
          <p:nvPr/>
        </p:nvSpPr>
        <p:spPr>
          <a:xfrm>
            <a:off x="8071200" y="17830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Número</a:t>
            </a:r>
            <a:endParaRPr lang="es-ES" sz="1300" b="0" u="none" strike="noStrike">
              <a:solidFill>
                <a:srgbClr val="000000"/>
              </a:solidFill>
              <a:effectLst/>
              <a:uFillTx/>
              <a:latin typeface="Arial"/>
            </a:endParaRPr>
          </a:p>
        </p:txBody>
      </p:sp>
      <p:sp>
        <p:nvSpPr>
          <p:cNvPr id="290" name="Rounded Rectangle 10"/>
          <p:cNvSpPr/>
          <p:nvPr/>
        </p:nvSpPr>
        <p:spPr>
          <a:xfrm>
            <a:off x="640080" y="24778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1" name="TextBox 11"/>
          <p:cNvSpPr/>
          <p:nvPr/>
        </p:nvSpPr>
        <p:spPr>
          <a:xfrm>
            <a:off x="731520" y="24778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Enum. cerrada</a:t>
            </a:r>
            <a:endParaRPr lang="es-ES" sz="1300" b="0" u="none" strike="noStrike">
              <a:solidFill>
                <a:srgbClr val="000000"/>
              </a:solidFill>
              <a:effectLst/>
              <a:uFillTx/>
              <a:latin typeface="Arial"/>
            </a:endParaRPr>
          </a:p>
        </p:txBody>
      </p:sp>
      <p:sp>
        <p:nvSpPr>
          <p:cNvPr id="292" name="Rounded Rectangle 12"/>
          <p:cNvSpPr/>
          <p:nvPr/>
        </p:nvSpPr>
        <p:spPr>
          <a:xfrm>
            <a:off x="4309920" y="24778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3" name="TextBox 13"/>
          <p:cNvSpPr/>
          <p:nvPr/>
        </p:nvSpPr>
        <p:spPr>
          <a:xfrm>
            <a:off x="4401360" y="24778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Catálogo abierto</a:t>
            </a:r>
            <a:endParaRPr lang="es-ES" sz="1300" b="0" u="none" strike="noStrike">
              <a:solidFill>
                <a:srgbClr val="000000"/>
              </a:solidFill>
              <a:effectLst/>
              <a:uFillTx/>
              <a:latin typeface="Arial"/>
            </a:endParaRPr>
          </a:p>
        </p:txBody>
      </p:sp>
      <p:sp>
        <p:nvSpPr>
          <p:cNvPr id="294" name="Rounded Rectangle 14"/>
          <p:cNvSpPr/>
          <p:nvPr/>
        </p:nvSpPr>
        <p:spPr>
          <a:xfrm>
            <a:off x="7979760" y="24778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5" name="TextBox 15"/>
          <p:cNvSpPr/>
          <p:nvPr/>
        </p:nvSpPr>
        <p:spPr>
          <a:xfrm>
            <a:off x="8071200" y="24778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Referencia a entidad</a:t>
            </a:r>
            <a:endParaRPr lang="es-ES" sz="1300" b="0" u="none" strike="noStrike">
              <a:solidFill>
                <a:srgbClr val="000000"/>
              </a:solidFill>
              <a:effectLst/>
              <a:uFillTx/>
              <a:latin typeface="Arial"/>
            </a:endParaRPr>
          </a:p>
        </p:txBody>
      </p:sp>
      <p:sp>
        <p:nvSpPr>
          <p:cNvPr id="296" name="Rounded Rectangle 16"/>
          <p:cNvSpPr/>
          <p:nvPr/>
        </p:nvSpPr>
        <p:spPr>
          <a:xfrm>
            <a:off x="640080" y="317304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7" name="TextBox 17"/>
          <p:cNvSpPr/>
          <p:nvPr/>
        </p:nvSpPr>
        <p:spPr>
          <a:xfrm>
            <a:off x="731520" y="317304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Término de tesauro</a:t>
            </a:r>
            <a:endParaRPr lang="es-ES" sz="1300" b="0" u="none" strike="noStrike">
              <a:solidFill>
                <a:srgbClr val="000000"/>
              </a:solidFill>
              <a:effectLst/>
              <a:uFillTx/>
              <a:latin typeface="Arial"/>
            </a:endParaRPr>
          </a:p>
        </p:txBody>
      </p:sp>
      <p:sp>
        <p:nvSpPr>
          <p:cNvPr id="298" name="Rounded Rectangle 18"/>
          <p:cNvSpPr/>
          <p:nvPr/>
        </p:nvSpPr>
        <p:spPr>
          <a:xfrm>
            <a:off x="4309920" y="317304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9" name="TextBox 19"/>
          <p:cNvSpPr/>
          <p:nvPr/>
        </p:nvSpPr>
        <p:spPr>
          <a:xfrm>
            <a:off x="4401360" y="317304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Subtipo</a:t>
            </a:r>
            <a:endParaRPr lang="es-ES" sz="1300" b="0" u="none" strike="noStrike">
              <a:solidFill>
                <a:srgbClr val="000000"/>
              </a:solidFill>
              <a:effectLst/>
              <a:uFillTx/>
              <a:latin typeface="Arial"/>
            </a:endParaRPr>
          </a:p>
        </p:txBody>
      </p:sp>
      <p:sp>
        <p:nvSpPr>
          <p:cNvPr id="300" name="Rounded Rectangle 20"/>
          <p:cNvSpPr/>
          <p:nvPr/>
        </p:nvSpPr>
        <p:spPr>
          <a:xfrm>
            <a:off x="7979760" y="317304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1" name="TextBox 21"/>
          <p:cNvSpPr/>
          <p:nvPr/>
        </p:nvSpPr>
        <p:spPr>
          <a:xfrm>
            <a:off x="8071200" y="317304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Referencia no resuelta</a:t>
            </a:r>
            <a:endParaRPr lang="es-ES" sz="1300" b="0" u="none" strike="noStrike">
              <a:solidFill>
                <a:srgbClr val="000000"/>
              </a:solidFill>
              <a:effectLst/>
              <a:uFillTx/>
              <a:latin typeface="Arial"/>
            </a:endParaRPr>
          </a:p>
        </p:txBody>
      </p:sp>
      <p:sp>
        <p:nvSpPr>
          <p:cNvPr id="302" name="TextBox 22"/>
          <p:cNvSpPr/>
          <p:nvPr/>
        </p:nvSpPr>
        <p:spPr>
          <a:xfrm>
            <a:off x="640080" y="395928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11243A"/>
                </a:solidFill>
                <a:effectLst/>
                <a:uFillTx/>
                <a:latin typeface="Calibri"/>
              </a:rPr>
              <a:t>Ejemplo: campo de sexo (código 000.010.000.030, tabla CVN_SEX_A)</a:t>
            </a:r>
            <a:endParaRPr lang="es-ES" sz="1250" b="0" u="none" strike="noStrike">
              <a:solidFill>
                <a:srgbClr val="000000"/>
              </a:solidFill>
              <a:effectLst/>
              <a:uFillTx/>
              <a:latin typeface="Arial"/>
            </a:endParaRPr>
          </a:p>
        </p:txBody>
      </p:sp>
      <p:sp>
        <p:nvSpPr>
          <p:cNvPr id="303" name="Rounded Rectangle 23"/>
          <p:cNvSpPr/>
          <p:nvPr/>
        </p:nvSpPr>
        <p:spPr>
          <a:xfrm>
            <a:off x="640080" y="4343400"/>
            <a:ext cx="10881000" cy="1188360"/>
          </a:xfrm>
          <a:prstGeom prst="roundRect">
            <a:avLst>
              <a:gd name="adj" fmla="val 8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4" name="TextBox 24"/>
          <p:cNvSpPr/>
          <p:nvPr/>
        </p:nvSpPr>
        <p:spPr>
          <a:xfrm>
            <a:off x="914400" y="4462200"/>
            <a:ext cx="594324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300" b="0" u="none" strike="noStrike">
                <a:solidFill>
                  <a:srgbClr val="E9F1F7"/>
                </a:solidFill>
                <a:effectLst/>
                <a:uFillTx/>
                <a:latin typeface="Courier New"/>
              </a:rPr>
              <a:t>{</a:t>
            </a:r>
            <a:endParaRPr lang="es-ES" sz="1300" b="0" u="none" strike="noStrike">
              <a:solidFill>
                <a:srgbClr val="000000"/>
              </a:solidFill>
              <a:effectLst/>
              <a:uFillTx/>
              <a:latin typeface="Arial"/>
            </a:endParaRPr>
          </a:p>
          <a:p>
            <a:pPr defTabSz="457200">
              <a:lnSpc>
                <a:spcPct val="115000"/>
              </a:lnSpc>
            </a:pPr>
            <a:r>
              <a:rPr lang="en-US" sz="1300" b="0" u="none" strike="noStrike">
                <a:solidFill>
                  <a:srgbClr val="E9F1F7"/>
                </a:solidFill>
                <a:effectLst/>
                <a:uFillTx/>
                <a:latin typeface="Courier New"/>
              </a:rPr>
              <a:t>  "code": "000", "label": "Mujer",</a:t>
            </a:r>
            <a:endParaRPr lang="es-ES" sz="1300" b="0" u="none" strike="noStrike">
              <a:solidFill>
                <a:srgbClr val="000000"/>
              </a:solidFill>
              <a:effectLst/>
              <a:uFillTx/>
              <a:latin typeface="Arial"/>
            </a:endParaRPr>
          </a:p>
          <a:p>
            <a:pPr defTabSz="457200">
              <a:lnSpc>
                <a:spcPct val="115000"/>
              </a:lnSpc>
            </a:pPr>
            <a:r>
              <a:rPr lang="en-US" sz="1300" b="0" u="none" strike="noStrike">
                <a:solidFill>
                  <a:srgbClr val="E9F1F7"/>
                </a:solidFill>
                <a:effectLst/>
                <a:uFillTx/>
                <a:latin typeface="Courier New"/>
              </a:rPr>
              <a:t>  "source": "CVN_SEX_A"</a:t>
            </a:r>
            <a:endParaRPr lang="es-ES" sz="1300" b="0" u="none" strike="noStrike">
              <a:solidFill>
                <a:srgbClr val="000000"/>
              </a:solidFill>
              <a:effectLst/>
              <a:uFillTx/>
              <a:latin typeface="Arial"/>
            </a:endParaRPr>
          </a:p>
          <a:p>
            <a:pPr defTabSz="457200">
              <a:lnSpc>
                <a:spcPct val="115000"/>
              </a:lnSpc>
            </a:pPr>
            <a:r>
              <a:rPr lang="en-US" sz="1300" b="0" u="none" strike="noStrike">
                <a:solidFill>
                  <a:srgbClr val="E9F1F7"/>
                </a:solidFill>
                <a:effectLst/>
                <a:uFillTx/>
                <a:latin typeface="Courier New"/>
              </a:rPr>
              <a:t>}</a:t>
            </a:r>
            <a:endParaRPr lang="es-ES" sz="1300" b="0" u="none" strike="noStrike">
              <a:solidFill>
                <a:srgbClr val="000000"/>
              </a:solidFill>
              <a:effectLst/>
              <a:uFillTx/>
              <a:latin typeface="Arial"/>
            </a:endParaRPr>
          </a:p>
        </p:txBody>
      </p:sp>
      <p:sp>
        <p:nvSpPr>
          <p:cNvPr id="305" name="TextBox 25"/>
          <p:cNvSpPr/>
          <p:nvPr/>
        </p:nvSpPr>
        <p:spPr>
          <a:xfrm>
            <a:off x="7040880" y="4462200"/>
            <a:ext cx="420588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100" b="0" u="none" strike="noStrike">
                <a:solidFill>
                  <a:srgbClr val="A9BFD1"/>
                </a:solidFill>
                <a:effectLst/>
                <a:uFillTx/>
                <a:latin typeface="Calibri"/>
              </a:rPr>
              <a:t>Enumeración cerrada con solo dos valores posibles: forma semántica más simple, usada como ejemplo guía en toda la memoria.</a:t>
            </a:r>
            <a:endParaRPr lang="es-ES" sz="110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040AD8AD-47F5-2E7B-E351-066EC3468657}"/>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12</a:t>
            </a:fld>
            <a:endParaRPr lang="es-ES" sz="12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7"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308"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Del modelo de dominio al modelo conceptual agnóstico</a:t>
            </a:r>
            <a:endParaRPr lang="es-ES" sz="3000" b="0" u="none" strike="noStrike">
              <a:solidFill>
                <a:srgbClr val="000000"/>
              </a:solidFill>
              <a:effectLst/>
              <a:uFillTx/>
              <a:latin typeface="Arial"/>
            </a:endParaRPr>
          </a:p>
        </p:txBody>
      </p:sp>
      <p:sp>
        <p:nvSpPr>
          <p:cNvPr id="309" name="Rounded Rectangle 4"/>
          <p:cNvSpPr/>
          <p:nvPr/>
        </p:nvSpPr>
        <p:spPr>
          <a:xfrm>
            <a:off x="640080" y="1828800"/>
            <a:ext cx="3428640" cy="120672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0" name="TextBox 5"/>
          <p:cNvSpPr/>
          <p:nvPr/>
        </p:nvSpPr>
        <p:spPr>
          <a:xfrm>
            <a:off x="713160" y="192024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105</a:t>
            </a:r>
            <a:endParaRPr lang="es-ES" sz="3000" b="0" u="none" strike="noStrike">
              <a:solidFill>
                <a:srgbClr val="000000"/>
              </a:solidFill>
              <a:effectLst/>
              <a:uFillTx/>
              <a:latin typeface="Arial"/>
            </a:endParaRPr>
          </a:p>
        </p:txBody>
      </p:sp>
      <p:sp>
        <p:nvSpPr>
          <p:cNvPr id="311" name="TextBox 6"/>
          <p:cNvSpPr/>
          <p:nvPr/>
        </p:nvSpPr>
        <p:spPr>
          <a:xfrm>
            <a:off x="713160" y="2578680"/>
            <a:ext cx="328248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archivos de modelos de dominio generados</a:t>
            </a:r>
            <a:endParaRPr lang="es-ES" sz="1050" b="0" u="none" strike="noStrike">
              <a:solidFill>
                <a:srgbClr val="000000"/>
              </a:solidFill>
              <a:effectLst/>
              <a:uFillTx/>
              <a:latin typeface="Arial"/>
            </a:endParaRPr>
          </a:p>
        </p:txBody>
      </p:sp>
      <p:sp>
        <p:nvSpPr>
          <p:cNvPr id="312" name="Rounded Rectangle 7"/>
          <p:cNvSpPr/>
          <p:nvPr/>
        </p:nvSpPr>
        <p:spPr>
          <a:xfrm>
            <a:off x="640080" y="3182040"/>
            <a:ext cx="3428640" cy="120672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3" name="TextBox 8"/>
          <p:cNvSpPr/>
          <p:nvPr/>
        </p:nvSpPr>
        <p:spPr>
          <a:xfrm>
            <a:off x="713160" y="327348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182</a:t>
            </a:r>
            <a:endParaRPr lang="es-ES" sz="3000" b="0" u="none" strike="noStrike">
              <a:solidFill>
                <a:srgbClr val="000000"/>
              </a:solidFill>
              <a:effectLst/>
              <a:uFillTx/>
              <a:latin typeface="Arial"/>
            </a:endParaRPr>
          </a:p>
        </p:txBody>
      </p:sp>
      <p:sp>
        <p:nvSpPr>
          <p:cNvPr id="314" name="TextBox 9"/>
          <p:cNvSpPr/>
          <p:nvPr/>
        </p:nvSpPr>
        <p:spPr>
          <a:xfrm>
            <a:off x="713160" y="3931920"/>
            <a:ext cx="328248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definiciones en el JSON Schema resultante</a:t>
            </a:r>
            <a:endParaRPr lang="es-ES" sz="1050" b="0" u="none" strike="noStrike">
              <a:solidFill>
                <a:srgbClr val="000000"/>
              </a:solidFill>
              <a:effectLst/>
              <a:uFillTx/>
              <a:latin typeface="Arial"/>
            </a:endParaRPr>
          </a:p>
        </p:txBody>
      </p:sp>
      <p:sp>
        <p:nvSpPr>
          <p:cNvPr id="315" name="Rounded Rectangle 10"/>
          <p:cNvSpPr/>
          <p:nvPr/>
        </p:nvSpPr>
        <p:spPr>
          <a:xfrm>
            <a:off x="640080" y="4535280"/>
            <a:ext cx="3428640" cy="120672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6" name="TextBox 11"/>
          <p:cNvSpPr/>
          <p:nvPr/>
        </p:nvSpPr>
        <p:spPr>
          <a:xfrm>
            <a:off x="713160" y="462672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74</a:t>
            </a:r>
            <a:endParaRPr lang="es-ES" sz="3000" b="0" u="none" strike="noStrike">
              <a:solidFill>
                <a:srgbClr val="000000"/>
              </a:solidFill>
              <a:effectLst/>
              <a:uFillTx/>
              <a:latin typeface="Arial"/>
            </a:endParaRPr>
          </a:p>
        </p:txBody>
      </p:sp>
      <p:sp>
        <p:nvSpPr>
          <p:cNvPr id="317" name="TextBox 12"/>
          <p:cNvSpPr/>
          <p:nvPr/>
        </p:nvSpPr>
        <p:spPr>
          <a:xfrm>
            <a:off x="713160" y="5285160"/>
            <a:ext cx="328248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 esas definiciones son vocabularios controlados</a:t>
            </a:r>
            <a:endParaRPr lang="es-ES" sz="1050" b="0" u="none" strike="noStrike">
              <a:solidFill>
                <a:srgbClr val="000000"/>
              </a:solidFill>
              <a:effectLst/>
              <a:uFillTx/>
              <a:latin typeface="Arial"/>
            </a:endParaRPr>
          </a:p>
        </p:txBody>
      </p:sp>
      <p:sp>
        <p:nvSpPr>
          <p:cNvPr id="318" name="TextBox 13"/>
          <p:cNvSpPr/>
          <p:nvPr/>
        </p:nvSpPr>
        <p:spPr>
          <a:xfrm>
            <a:off x="640080" y="5906880"/>
            <a:ext cx="34286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50" b="0" i="1" u="none" strike="noStrike">
                <a:solidFill>
                  <a:srgbClr val="5B6B7A"/>
                </a:solidFill>
                <a:effectLst/>
                <a:uFillTx/>
                <a:latin typeface="Calibri"/>
              </a:rPr>
              <a:t>105 = 101 módulos por concepto curricular + 1 módulo solo-manual + 1 módulo de nodos de árbol + 1 módulo de 13 enumeraciones.</a:t>
            </a:r>
            <a:endParaRPr lang="es-ES" sz="1050" b="0" u="none" strike="noStrike">
              <a:solidFill>
                <a:srgbClr val="000000"/>
              </a:solidFill>
              <a:effectLst/>
              <a:uFillTx/>
              <a:latin typeface="Arial"/>
            </a:endParaRPr>
          </a:p>
        </p:txBody>
      </p:sp>
      <p:pic>
        <p:nvPicPr>
          <p:cNvPr id="319" name="Picture 14" descr="open_cvn_presentation_overview.png"/>
          <p:cNvPicPr/>
          <p:nvPr/>
        </p:nvPicPr>
        <p:blipFill>
          <a:blip r:embed="rId3"/>
          <a:stretch/>
        </p:blipFill>
        <p:spPr>
          <a:xfrm>
            <a:off x="4343400" y="2400840"/>
            <a:ext cx="7177680" cy="3107520"/>
          </a:xfrm>
          <a:prstGeom prst="rect">
            <a:avLst/>
          </a:prstGeom>
          <a:noFill/>
          <a:ln w="0">
            <a:noFill/>
          </a:ln>
        </p:spPr>
      </p:pic>
      <p:sp>
        <p:nvSpPr>
          <p:cNvPr id="2" name="Marcador de número de diapositiva 1">
            <a:extLst>
              <a:ext uri="{FF2B5EF4-FFF2-40B4-BE49-F238E27FC236}">
                <a16:creationId xmlns:a16="http://schemas.microsoft.com/office/drawing/2014/main" id="{3BA24BC2-1A49-E6D4-8F4D-A8E724B337EF}"/>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13</a:t>
            </a:fld>
            <a:endParaRPr lang="es-ES" sz="120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1"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6 · FORMATO OPEN CVN Y HERRAMIENTA</a:t>
            </a:r>
            <a:endParaRPr lang="es-ES" sz="1300" b="0" u="none" strike="noStrike">
              <a:solidFill>
                <a:srgbClr val="000000"/>
              </a:solidFill>
              <a:effectLst/>
              <a:uFillTx/>
              <a:latin typeface="Arial"/>
            </a:endParaRPr>
          </a:p>
        </p:txBody>
      </p:sp>
      <p:sp>
        <p:nvSpPr>
          <p:cNvPr id="322"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El formato Open CVN JSON</a:t>
            </a:r>
            <a:endParaRPr lang="es-ES" sz="3000" b="0" u="none" strike="noStrike">
              <a:solidFill>
                <a:srgbClr val="000000"/>
              </a:solidFill>
              <a:effectLst/>
              <a:uFillTx/>
              <a:latin typeface="Arial"/>
            </a:endParaRPr>
          </a:p>
        </p:txBody>
      </p:sp>
      <p:sp>
        <p:nvSpPr>
          <p:cNvPr id="323" name="Rounded Rectangle 4"/>
          <p:cNvSpPr/>
          <p:nvPr/>
        </p:nvSpPr>
        <p:spPr>
          <a:xfrm>
            <a:off x="640080" y="1783080"/>
            <a:ext cx="5486040" cy="4160160"/>
          </a:xfrm>
          <a:prstGeom prst="roundRect">
            <a:avLst>
              <a:gd name="adj" fmla="val 6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4" name="TextBox 5"/>
          <p:cNvSpPr/>
          <p:nvPr/>
        </p:nvSpPr>
        <p:spPr>
          <a:xfrm>
            <a:off x="914400" y="2011680"/>
            <a:ext cx="4937400" cy="374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28000"/>
              </a:lnSpc>
            </a:pPr>
            <a:r>
              <a:rPr lang="en-US" sz="1400" b="0" u="none" strike="noStrike">
                <a:solidFill>
                  <a:srgbClr val="E9F1F7"/>
                </a:solidFill>
                <a:effectLst/>
                <a:uFillTx/>
                <a:latin typeface="Courier New"/>
              </a:rPr>
              <a:t>{</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"schema_version": "0.1.0",</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"metadata": { "language": "es"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"curriculum":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"identity":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"education":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"research":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"professional_experience":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"achievements":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"other":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"extensions":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a:t>
            </a:r>
            <a:endParaRPr lang="es-ES" sz="1400" b="0" u="none" strike="noStrike">
              <a:solidFill>
                <a:srgbClr val="000000"/>
              </a:solidFill>
              <a:effectLst/>
              <a:uFillTx/>
              <a:latin typeface="Arial"/>
            </a:endParaRPr>
          </a:p>
        </p:txBody>
      </p:sp>
      <p:sp>
        <p:nvSpPr>
          <p:cNvPr id="325" name="TextBox 6"/>
          <p:cNvSpPr/>
          <p:nvPr/>
        </p:nvSpPr>
        <p:spPr>
          <a:xfrm>
            <a:off x="6400800" y="1783080"/>
            <a:ext cx="512028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schema_version. </a:t>
            </a:r>
            <a:r>
              <a:rPr lang="en-US" sz="1450" b="0" u="none" strike="noStrike">
                <a:solidFill>
                  <a:srgbClr val="162230"/>
                </a:solidFill>
                <a:effectLst/>
                <a:uFillTx/>
                <a:latin typeface="Calibri"/>
              </a:rPr>
              <a:t>identifica la versión del formato, no la del JSON Schema.</a:t>
            </a:r>
            <a:endParaRPr lang="es-ES" sz="1450" b="0" u="none" strike="noStrike">
              <a:solidFill>
                <a:srgbClr val="000000"/>
              </a:solidFill>
              <a:effectLst/>
              <a:uFillTx/>
              <a:latin typeface="Arial"/>
            </a:endParaRPr>
          </a:p>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metadata. </a:t>
            </a:r>
            <a:r>
              <a:rPr lang="en-US" sz="1450" b="0" u="none" strike="noStrike">
                <a:solidFill>
                  <a:srgbClr val="162230"/>
                </a:solidFill>
                <a:effectLst/>
                <a:uFillTx/>
                <a:latin typeface="Calibri"/>
              </a:rPr>
              <a:t>describe el documento, no su contenido curricular.</a:t>
            </a:r>
            <a:endParaRPr lang="es-ES" sz="1450" b="0" u="none" strike="noStrike">
              <a:solidFill>
                <a:srgbClr val="000000"/>
              </a:solidFill>
              <a:effectLst/>
              <a:uFillTx/>
              <a:latin typeface="Arial"/>
            </a:endParaRPr>
          </a:p>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curriculum. </a:t>
            </a:r>
            <a:r>
              <a:rPr lang="en-US" sz="1450" b="0" u="none" strike="noStrike">
                <a:solidFill>
                  <a:srgbClr val="162230"/>
                </a:solidFill>
                <a:effectLst/>
                <a:uFillTx/>
                <a:latin typeface="Calibri"/>
              </a:rPr>
              <a:t>la información propiamente dicha, organizada por área conceptual del dominio académico.</a:t>
            </a:r>
            <a:endParaRPr lang="es-ES" sz="1450" b="0" u="none" strike="noStrike">
              <a:solidFill>
                <a:srgbClr val="000000"/>
              </a:solidFill>
              <a:effectLst/>
              <a:uFillTx/>
              <a:latin typeface="Arial"/>
            </a:endParaRPr>
          </a:p>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extensions. </a:t>
            </a:r>
            <a:r>
              <a:rPr lang="en-US" sz="1450" b="0" u="none" strike="noStrike">
                <a:solidFill>
                  <a:srgbClr val="162230"/>
                </a:solidFill>
                <a:effectLst/>
                <a:uFillTx/>
                <a:latin typeface="Calibri"/>
              </a:rPr>
              <a:t>opcional, reservado para metadatos de una herramienta concreta.</a:t>
            </a:r>
            <a:endParaRPr lang="es-ES" sz="1450" b="0" u="none" strike="noStrike">
              <a:solidFill>
                <a:srgbClr val="000000"/>
              </a:solidFill>
              <a:effectLst/>
              <a:uFillTx/>
              <a:latin typeface="Arial"/>
            </a:endParaRPr>
          </a:p>
        </p:txBody>
      </p:sp>
      <p:sp>
        <p:nvSpPr>
          <p:cNvPr id="326" name="TextBox 7"/>
          <p:cNvSpPr/>
          <p:nvPr/>
        </p:nvSpPr>
        <p:spPr>
          <a:xfrm>
            <a:off x="6400800" y="5349240"/>
            <a:ext cx="51202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150" b="0" i="1" u="none" strike="noStrike">
                <a:solidFill>
                  <a:srgbClr val="5B6B7A"/>
                </a:solidFill>
                <a:effectLst/>
                <a:uFillTx/>
                <a:latin typeface="Calibri"/>
              </a:rPr>
              <a:t>Los valores controlados comparten una misma forma: code, label, source y, opcionalmente, raw_value o uri.</a:t>
            </a:r>
            <a:endParaRPr lang="es-ES" sz="11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3CA845D7-E81C-36C8-078C-19BCC07C2224}"/>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14</a:t>
            </a:fld>
            <a:endParaRPr lang="es-ES" sz="12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6 · FORMATO OPEN CVN Y HERRAMIENTA</a:t>
            </a:r>
            <a:endParaRPr lang="es-ES" sz="1300" b="0" u="none" strike="noStrike">
              <a:solidFill>
                <a:srgbClr val="000000"/>
              </a:solidFill>
              <a:effectLst/>
              <a:uFillTx/>
              <a:latin typeface="Arial"/>
            </a:endParaRPr>
          </a:p>
        </p:txBody>
      </p:sp>
      <p:sp>
        <p:nvSpPr>
          <p:cNvPr id="32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Parser y validador: un contrato con cinco estados</a:t>
            </a:r>
            <a:endParaRPr lang="es-ES" sz="3000" b="0" u="none" strike="noStrike">
              <a:solidFill>
                <a:srgbClr val="000000"/>
              </a:solidFill>
              <a:effectLst/>
              <a:uFillTx/>
              <a:latin typeface="Arial"/>
            </a:endParaRPr>
          </a:p>
        </p:txBody>
      </p:sp>
      <p:sp>
        <p:nvSpPr>
          <p:cNvPr id="330" name="Rounded Rectangle 4"/>
          <p:cNvSpPr/>
          <p:nvPr/>
        </p:nvSpPr>
        <p:spPr>
          <a:xfrm>
            <a:off x="548640" y="1929204"/>
            <a:ext cx="5074560" cy="512064"/>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1" name="TextBox 5"/>
          <p:cNvSpPr/>
          <p:nvPr/>
        </p:nvSpPr>
        <p:spPr>
          <a:xfrm>
            <a:off x="731520" y="1929204"/>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162230"/>
                </a:solidFill>
                <a:effectLst/>
                <a:uFillTx/>
                <a:latin typeface="Calibri"/>
              </a:rPr>
              <a:t>Sin ejecutar</a:t>
            </a:r>
            <a:endParaRPr lang="es-ES" sz="1350" b="0" u="none" strike="noStrike">
              <a:solidFill>
                <a:srgbClr val="000000"/>
              </a:solidFill>
              <a:effectLst/>
              <a:uFillTx/>
              <a:latin typeface="Arial"/>
            </a:endParaRPr>
          </a:p>
        </p:txBody>
      </p:sp>
      <p:sp>
        <p:nvSpPr>
          <p:cNvPr id="332" name="Rounded Rectangle 6"/>
          <p:cNvSpPr/>
          <p:nvPr/>
        </p:nvSpPr>
        <p:spPr>
          <a:xfrm>
            <a:off x="548640" y="2550996"/>
            <a:ext cx="5074560" cy="512064"/>
          </a:xfrm>
          <a:prstGeom prst="roundRect">
            <a:avLst>
              <a:gd name="adj" fmla="val 5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3" name="TextBox 7"/>
          <p:cNvSpPr/>
          <p:nvPr/>
        </p:nvSpPr>
        <p:spPr>
          <a:xfrm>
            <a:off x="731520" y="2550996"/>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Válido</a:t>
            </a:r>
            <a:endParaRPr lang="es-ES" sz="1350" b="0" u="none" strike="noStrike">
              <a:solidFill>
                <a:srgbClr val="000000"/>
              </a:solidFill>
              <a:effectLst/>
              <a:uFillTx/>
              <a:latin typeface="Arial"/>
            </a:endParaRPr>
          </a:p>
        </p:txBody>
      </p:sp>
      <p:sp>
        <p:nvSpPr>
          <p:cNvPr id="334" name="Rounded Rectangle 8"/>
          <p:cNvSpPr/>
          <p:nvPr/>
        </p:nvSpPr>
        <p:spPr>
          <a:xfrm>
            <a:off x="548640" y="3172788"/>
            <a:ext cx="5074560" cy="512064"/>
          </a:xfrm>
          <a:prstGeom prst="roundRect">
            <a:avLst>
              <a:gd name="adj" fmla="val 50000"/>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5" name="TextBox 9"/>
          <p:cNvSpPr/>
          <p:nvPr/>
        </p:nvSpPr>
        <p:spPr>
          <a:xfrm>
            <a:off x="731520" y="3172788"/>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Válido con avisos</a:t>
            </a:r>
            <a:endParaRPr lang="es-ES" sz="1350" b="0" u="none" strike="noStrike">
              <a:solidFill>
                <a:srgbClr val="000000"/>
              </a:solidFill>
              <a:effectLst/>
              <a:uFillTx/>
              <a:latin typeface="Arial"/>
            </a:endParaRPr>
          </a:p>
        </p:txBody>
      </p:sp>
      <p:sp>
        <p:nvSpPr>
          <p:cNvPr id="336" name="Rounded Rectangle 10"/>
          <p:cNvSpPr/>
          <p:nvPr/>
        </p:nvSpPr>
        <p:spPr>
          <a:xfrm>
            <a:off x="548640" y="3794580"/>
            <a:ext cx="5074560" cy="512064"/>
          </a:xfrm>
          <a:prstGeom prst="roundRect">
            <a:avLst>
              <a:gd name="adj" fmla="val 50000"/>
            </a:avLst>
          </a:prstGeom>
          <a:solidFill>
            <a:srgbClr val="B03A2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7" name="TextBox 11"/>
          <p:cNvSpPr/>
          <p:nvPr/>
        </p:nvSpPr>
        <p:spPr>
          <a:xfrm>
            <a:off x="731520" y="3794580"/>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Inválido</a:t>
            </a:r>
            <a:endParaRPr lang="es-ES" sz="1350" b="0" u="none" strike="noStrike">
              <a:solidFill>
                <a:srgbClr val="000000"/>
              </a:solidFill>
              <a:effectLst/>
              <a:uFillTx/>
              <a:latin typeface="Arial"/>
            </a:endParaRPr>
          </a:p>
        </p:txBody>
      </p:sp>
      <p:sp>
        <p:nvSpPr>
          <p:cNvPr id="338" name="Rounded Rectangle 12"/>
          <p:cNvSpPr/>
          <p:nvPr/>
        </p:nvSpPr>
        <p:spPr>
          <a:xfrm>
            <a:off x="548640" y="4416372"/>
            <a:ext cx="5074560" cy="512064"/>
          </a:xfrm>
          <a:prstGeom prst="roundRect">
            <a:avLst>
              <a:gd name="adj" fmla="val 50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9" name="TextBox 13"/>
          <p:cNvSpPr/>
          <p:nvPr/>
        </p:nvSpPr>
        <p:spPr>
          <a:xfrm>
            <a:off x="731520" y="4416372"/>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Fallido</a:t>
            </a:r>
            <a:endParaRPr lang="es-ES" sz="1350" b="0" u="none" strike="noStrike">
              <a:solidFill>
                <a:srgbClr val="000000"/>
              </a:solidFill>
              <a:effectLst/>
              <a:uFillTx/>
              <a:latin typeface="Arial"/>
            </a:endParaRPr>
          </a:p>
        </p:txBody>
      </p:sp>
      <p:sp>
        <p:nvSpPr>
          <p:cNvPr id="340" name="TextBox 14"/>
          <p:cNvSpPr/>
          <p:nvPr/>
        </p:nvSpPr>
        <p:spPr>
          <a:xfrm>
            <a:off x="548640" y="4983300"/>
            <a:ext cx="507456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150" b="0" i="1" u="none" strike="noStrike">
                <a:solidFill>
                  <a:srgbClr val="5B6B7A"/>
                </a:solidFill>
                <a:effectLst/>
                <a:uFillTx/>
                <a:latin typeface="Calibri"/>
              </a:rPr>
              <a:t>Un aviso nunca convierte un documento válido en inválido: señala un caso semánticamente atípico (tipo inconsistente con la sección, referencia sin code ni label) para que pueda revisarse.</a:t>
            </a:r>
            <a:endParaRPr lang="es-ES" sz="1150" b="0" u="none" strike="noStrike">
              <a:solidFill>
                <a:srgbClr val="000000"/>
              </a:solidFill>
              <a:effectLst/>
              <a:uFillTx/>
              <a:latin typeface="Arial"/>
            </a:endParaRPr>
          </a:p>
        </p:txBody>
      </p:sp>
      <p:pic>
        <p:nvPicPr>
          <p:cNvPr id="341" name="Picture 15" descr="open_cvn_import_validation_flow.png"/>
          <p:cNvPicPr/>
          <p:nvPr/>
        </p:nvPicPr>
        <p:blipFill>
          <a:blip r:embed="rId3"/>
          <a:stretch/>
        </p:blipFill>
        <p:spPr>
          <a:xfrm>
            <a:off x="5996520" y="1737360"/>
            <a:ext cx="5517360" cy="4343040"/>
          </a:xfrm>
          <a:prstGeom prst="rect">
            <a:avLst/>
          </a:prstGeom>
          <a:noFill/>
          <a:ln w="0">
            <a:noFill/>
          </a:ln>
        </p:spPr>
      </p:pic>
      <p:sp>
        <p:nvSpPr>
          <p:cNvPr id="2" name="Marcador de número de diapositiva 1">
            <a:extLst>
              <a:ext uri="{FF2B5EF4-FFF2-40B4-BE49-F238E27FC236}">
                <a16:creationId xmlns:a16="http://schemas.microsoft.com/office/drawing/2014/main" id="{2CD38987-169C-ED61-2909-17F2D601BE90}"/>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15</a:t>
            </a:fld>
            <a:endParaRPr lang="es-ES" sz="12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3"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6 · FORMATO OPEN CVN Y HERRAMIENTA</a:t>
            </a:r>
            <a:endParaRPr lang="es-ES" sz="1300" b="0" u="none" strike="noStrike">
              <a:solidFill>
                <a:srgbClr val="000000"/>
              </a:solidFill>
              <a:effectLst/>
              <a:uFillTx/>
              <a:latin typeface="Arial"/>
            </a:endParaRPr>
          </a:p>
        </p:txBody>
      </p:sp>
      <p:sp>
        <p:nvSpPr>
          <p:cNvPr id="344"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Importación determinista y herramienta local</a:t>
            </a:r>
            <a:endParaRPr lang="es-ES" sz="3000" b="0" u="none" strike="noStrike">
              <a:solidFill>
                <a:srgbClr val="000000"/>
              </a:solidFill>
              <a:effectLst/>
              <a:uFillTx/>
              <a:latin typeface="Arial"/>
            </a:endParaRPr>
          </a:p>
        </p:txBody>
      </p:sp>
      <p:sp>
        <p:nvSpPr>
          <p:cNvPr id="345" name="Rounded Rectangle 4"/>
          <p:cNvSpPr/>
          <p:nvPr/>
        </p:nvSpPr>
        <p:spPr>
          <a:xfrm>
            <a:off x="640080" y="1783080"/>
            <a:ext cx="5074560" cy="1170000"/>
          </a:xfrm>
          <a:prstGeom prst="roundRect">
            <a:avLst>
              <a:gd name="adj" fmla="val 10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6" name="Oval 5"/>
          <p:cNvSpPr/>
          <p:nvPr/>
        </p:nvSpPr>
        <p:spPr>
          <a:xfrm>
            <a:off x="804600" y="194760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347" name="TextBox 6"/>
          <p:cNvSpPr/>
          <p:nvPr/>
        </p:nvSpPr>
        <p:spPr>
          <a:xfrm>
            <a:off x="1426320" y="1911240"/>
            <a:ext cx="4160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1243A"/>
                </a:solidFill>
                <a:effectLst/>
                <a:uFillTx/>
                <a:latin typeface="Calibri"/>
              </a:rPr>
              <a:t>Open CVN JSON</a:t>
            </a:r>
            <a:endParaRPr lang="es-ES" sz="1400" b="0" u="none" strike="noStrike">
              <a:solidFill>
                <a:srgbClr val="000000"/>
              </a:solidFill>
              <a:effectLst/>
              <a:uFillTx/>
              <a:latin typeface="Arial"/>
            </a:endParaRPr>
          </a:p>
        </p:txBody>
      </p:sp>
      <p:sp>
        <p:nvSpPr>
          <p:cNvPr id="348" name="TextBox 7"/>
          <p:cNvSpPr/>
          <p:nvPr/>
        </p:nvSpPr>
        <p:spPr>
          <a:xfrm>
            <a:off x="1426320" y="2240280"/>
            <a:ext cx="416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080" b="0" u="none" strike="noStrike">
                <a:solidFill>
                  <a:srgbClr val="5B6B7A"/>
                </a:solidFill>
                <a:effectLst/>
                <a:uFillTx/>
                <a:latin typeface="Calibri"/>
              </a:rPr>
              <a:t>Caso directo: se analiza y valida sin transformación adicional.</a:t>
            </a:r>
            <a:endParaRPr lang="es-ES" sz="1080" b="0" u="none" strike="noStrike">
              <a:solidFill>
                <a:srgbClr val="000000"/>
              </a:solidFill>
              <a:effectLst/>
              <a:uFillTx/>
              <a:latin typeface="Arial"/>
            </a:endParaRPr>
          </a:p>
        </p:txBody>
      </p:sp>
      <p:sp>
        <p:nvSpPr>
          <p:cNvPr id="349" name="Rounded Rectangle 8"/>
          <p:cNvSpPr/>
          <p:nvPr/>
        </p:nvSpPr>
        <p:spPr>
          <a:xfrm>
            <a:off x="640080" y="3099960"/>
            <a:ext cx="5074560" cy="1417320"/>
          </a:xfrm>
          <a:prstGeom prst="roundRect">
            <a:avLst>
              <a:gd name="adj" fmla="val 10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0" name="Oval 9"/>
          <p:cNvSpPr/>
          <p:nvPr/>
        </p:nvSpPr>
        <p:spPr>
          <a:xfrm>
            <a:off x="804600" y="326448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351" name="TextBox 10"/>
          <p:cNvSpPr/>
          <p:nvPr/>
        </p:nvSpPr>
        <p:spPr>
          <a:xfrm>
            <a:off x="1426320" y="3227832"/>
            <a:ext cx="416016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250" b="1">
                <a:solidFill>
                  <a:srgbClr val="11243A"/>
                </a:solidFill>
              </a:rPr>
              <a:t>Documento CVN (XML o PDF conforme)</a:t>
            </a:r>
          </a:p>
        </p:txBody>
      </p:sp>
      <p:sp>
        <p:nvSpPr>
          <p:cNvPr id="352" name="TextBox 11"/>
          <p:cNvSpPr/>
          <p:nvPr/>
        </p:nvSpPr>
        <p:spPr>
          <a:xfrm>
            <a:off x="1426320" y="3703320"/>
            <a:ext cx="4160160" cy="75895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030" b="0">
                <a:solidFill>
                  <a:srgbClr val="5B6B7A"/>
                </a:solidFill>
              </a:rPr>
              <a:t>Incluye el XML directo y un PDF que sigue la norma CVN, del que se extrae el XML de forma determinista; solo si esa extracción falla se recurre a un LLM como respaldo.</a:t>
            </a:r>
          </a:p>
        </p:txBody>
      </p:sp>
      <p:sp>
        <p:nvSpPr>
          <p:cNvPr id="353" name="Rounded Rectangle 12"/>
          <p:cNvSpPr/>
          <p:nvPr/>
        </p:nvSpPr>
        <p:spPr>
          <a:xfrm>
            <a:off x="640080" y="4663440"/>
            <a:ext cx="5074560" cy="1417320"/>
          </a:xfrm>
          <a:prstGeom prst="roundRect">
            <a:avLst>
              <a:gd name="adj" fmla="val 10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4" name="Oval 13"/>
          <p:cNvSpPr/>
          <p:nvPr/>
        </p:nvSpPr>
        <p:spPr>
          <a:xfrm>
            <a:off x="804600" y="4828032"/>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355" name="TextBox 14"/>
          <p:cNvSpPr/>
          <p:nvPr/>
        </p:nvSpPr>
        <p:spPr>
          <a:xfrm>
            <a:off x="1426320" y="4791456"/>
            <a:ext cx="416016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250" b="1">
                <a:solidFill>
                  <a:srgbClr val="11243A"/>
                </a:solidFill>
              </a:rPr>
              <a:t>PDF no conforme a CVN</a:t>
            </a:r>
          </a:p>
        </p:txBody>
      </p:sp>
      <p:sp>
        <p:nvSpPr>
          <p:cNvPr id="356" name="TextBox 15"/>
          <p:cNvSpPr/>
          <p:nvPr/>
        </p:nvSpPr>
        <p:spPr>
          <a:xfrm>
            <a:off x="1426320" y="5266944"/>
            <a:ext cx="4160160" cy="75895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030" b="0">
                <a:solidFill>
                  <a:srgbClr val="5B6B7A"/>
                </a:solidFill>
              </a:rPr>
              <a:t>PDF sin estructura XML embebida ni conformidad con la norma: al no existir una vía determinista, el documento se procesa íntegramente mediante un LLM.</a:t>
            </a:r>
          </a:p>
        </p:txBody>
      </p:sp>
      <p:graphicFrame>
        <p:nvGraphicFramePr>
          <p:cNvPr id="357" name="Table 16"/>
          <p:cNvGraphicFramePr/>
          <p:nvPr/>
        </p:nvGraphicFramePr>
        <p:xfrm>
          <a:off x="5989320" y="1783080"/>
          <a:ext cx="5532120" cy="4341600"/>
        </p:xfrm>
        <a:graphic>
          <a:graphicData uri="http://schemas.openxmlformats.org/drawingml/2006/table">
            <a:tbl>
              <a:tblPr/>
              <a:tblGrid>
                <a:gridCol w="2331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723600">
                <a:tc>
                  <a:txBody>
                    <a:bodyPr/>
                    <a:lstStyle/>
                    <a:p>
                      <a:pPr defTabSz="457200">
                        <a:lnSpc>
                          <a:spcPct val="100000"/>
                        </a:lnSpc>
                      </a:pPr>
                      <a:r>
                        <a:rPr lang="en-US" sz="1250" b="1" u="none" strike="noStrike">
                          <a:solidFill>
                            <a:srgbClr val="FFFFFF"/>
                          </a:solidFill>
                          <a:effectLst/>
                          <a:uFillTx/>
                          <a:latin typeface="Calibri"/>
                        </a:rPr>
                        <a:t>Comando</a:t>
                      </a:r>
                      <a:endParaRPr lang="es-ES" sz="12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250" b="1" u="none" strike="noStrike">
                          <a:solidFill>
                            <a:srgbClr val="FFFFFF"/>
                          </a:solidFill>
                          <a:effectLst/>
                          <a:uFillTx/>
                          <a:latin typeface="Calibri"/>
                        </a:rPr>
                        <a:t>Función</a:t>
                      </a:r>
                      <a:endParaRPr lang="es-ES" sz="12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extLst>
                  <a:ext uri="{0D108BD9-81ED-4DB2-BD59-A6C34878D82A}">
                    <a16:rowId xmlns:a16="http://schemas.microsoft.com/office/drawing/2014/main" val="10000"/>
                  </a:ext>
                </a:extLst>
              </a:tr>
              <a:tr h="723600">
                <a:tc>
                  <a:txBody>
                    <a:bodyPr/>
                    <a:lstStyle/>
                    <a:p>
                      <a:pPr defTabSz="457200">
                        <a:lnSpc>
                          <a:spcPct val="100000"/>
                        </a:lnSpc>
                      </a:pPr>
                      <a:r>
                        <a:rPr lang="en-US" sz="1150" b="0" u="none" strike="noStrike">
                          <a:solidFill>
                            <a:srgbClr val="162230"/>
                          </a:solidFill>
                          <a:effectLst/>
                          <a:uFillTx/>
                          <a:latin typeface="Calibri"/>
                        </a:rPr>
                        <a:t>store init</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150" b="0" u="none" strike="noStrike">
                          <a:solidFill>
                            <a:srgbClr val="162230"/>
                          </a:solidFill>
                          <a:effectLst/>
                          <a:uFillTx/>
                          <a:latin typeface="Calibri"/>
                        </a:rPr>
                        <a:t>Inicializa el almacenamiento SQLite local</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723600">
                <a:tc>
                  <a:txBody>
                    <a:bodyPr/>
                    <a:lstStyle/>
                    <a:p>
                      <a:pPr defTabSz="457200">
                        <a:lnSpc>
                          <a:spcPct val="100000"/>
                        </a:lnSpc>
                      </a:pPr>
                      <a:r>
                        <a:rPr lang="en-US" sz="1150" b="0" u="none" strike="noStrike">
                          <a:solidFill>
                            <a:srgbClr val="162230"/>
                          </a:solidFill>
                          <a:effectLst/>
                          <a:uFillTx/>
                          <a:latin typeface="Calibri"/>
                        </a:rPr>
                        <a:t>json import / pdf import</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150" b="0" u="none" strike="noStrike">
                          <a:solidFill>
                            <a:srgbClr val="162230"/>
                          </a:solidFill>
                          <a:effectLst/>
                          <a:uFillTx/>
                          <a:latin typeface="Calibri"/>
                        </a:rPr>
                        <a:t>Importa Open CVN JSON o un CVN PDF (LLM opcional)</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2"/>
                  </a:ext>
                </a:extLst>
              </a:tr>
              <a:tr h="723600">
                <a:tc>
                  <a:txBody>
                    <a:bodyPr/>
                    <a:lstStyle/>
                    <a:p>
                      <a:pPr defTabSz="457200">
                        <a:lnSpc>
                          <a:spcPct val="100000"/>
                        </a:lnSpc>
                      </a:pPr>
                      <a:r>
                        <a:rPr lang="en-US" sz="1150" b="0" u="none" strike="noStrike">
                          <a:solidFill>
                            <a:srgbClr val="162230"/>
                          </a:solidFill>
                          <a:effectLst/>
                          <a:uFillTx/>
                          <a:latin typeface="Calibri"/>
                        </a:rPr>
                        <a:t>versions derive</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150" b="0" u="none" strike="noStrike">
                          <a:solidFill>
                            <a:srgbClr val="162230"/>
                          </a:solidFill>
                          <a:effectLst/>
                          <a:uFillTx/>
                          <a:latin typeface="Calibri"/>
                        </a:rPr>
                        <a:t>Crea una versión derivada a partir del maestro</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723600">
                <a:tc>
                  <a:txBody>
                    <a:bodyPr/>
                    <a:lstStyle/>
                    <a:p>
                      <a:pPr defTabSz="457200">
                        <a:lnSpc>
                          <a:spcPct val="100000"/>
                        </a:lnSpc>
                      </a:pPr>
                      <a:r>
                        <a:rPr lang="en-US" sz="1150" b="0" u="none" strike="noStrike">
                          <a:solidFill>
                            <a:srgbClr val="162230"/>
                          </a:solidFill>
                          <a:effectLst/>
                          <a:uFillTx/>
                          <a:latin typeface="Calibri"/>
                        </a:rPr>
                        <a:t>versions include / exclude</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150" b="0" u="none" strike="noStrike">
                          <a:solidFill>
                            <a:srgbClr val="162230"/>
                          </a:solidFill>
                          <a:effectLst/>
                          <a:uFillTx/>
                          <a:latin typeface="Calibri"/>
                        </a:rPr>
                        <a:t>Selecciona o excluye secciones y entradas</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4"/>
                  </a:ext>
                </a:extLst>
              </a:tr>
              <a:tr h="723600">
                <a:tc>
                  <a:txBody>
                    <a:bodyPr/>
                    <a:lstStyle/>
                    <a:p>
                      <a:pPr defTabSz="457200">
                        <a:lnSpc>
                          <a:spcPct val="100000"/>
                        </a:lnSpc>
                      </a:pPr>
                      <a:r>
                        <a:rPr lang="en-US" sz="1150" b="0" u="none" strike="noStrike">
                          <a:solidFill>
                            <a:srgbClr val="162230"/>
                          </a:solidFill>
                          <a:effectLst/>
                          <a:uFillTx/>
                          <a:latin typeface="Calibri"/>
                        </a:rPr>
                        <a:t>latex export / pdf generate</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150" b="0" u="none" strike="noStrike">
                          <a:solidFill>
                            <a:srgbClr val="162230"/>
                          </a:solidFill>
                          <a:effectLst/>
                          <a:uFillTx/>
                          <a:latin typeface="Calibri"/>
                        </a:rPr>
                        <a:t>Exporta a LaTeX y compila a PDF</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2" name="Marcador de número de diapositiva 1">
            <a:extLst>
              <a:ext uri="{FF2B5EF4-FFF2-40B4-BE49-F238E27FC236}">
                <a16:creationId xmlns:a16="http://schemas.microsoft.com/office/drawing/2014/main" id="{F9498F3C-BA21-1205-ED3B-5033D5ADBF74}"/>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16</a:t>
            </a:fld>
            <a:endParaRPr lang="es-ES" sz="120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9"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7 · EVALUACIÓN Y RESULTADOS</a:t>
            </a:r>
            <a:endParaRPr lang="es-ES" sz="1300" b="0" u="none" strike="noStrike">
              <a:solidFill>
                <a:srgbClr val="000000"/>
              </a:solidFill>
              <a:effectLst/>
              <a:uFillTx/>
              <a:latin typeface="Arial"/>
            </a:endParaRPr>
          </a:p>
        </p:txBody>
      </p:sp>
      <p:sp>
        <p:nvSpPr>
          <p:cNvPr id="360"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488 pruebas automatizadas, sin ningún fallo</a:t>
            </a:r>
            <a:endParaRPr lang="es-ES" sz="3000" b="0" u="none" strike="noStrike">
              <a:solidFill>
                <a:srgbClr val="000000"/>
              </a:solidFill>
              <a:effectLst/>
              <a:uFillTx/>
              <a:latin typeface="Arial"/>
            </a:endParaRPr>
          </a:p>
        </p:txBody>
      </p:sp>
      <p:sp>
        <p:nvSpPr>
          <p:cNvPr id="361" name="Rounded Rectangle 4"/>
          <p:cNvSpPr/>
          <p:nvPr/>
        </p:nvSpPr>
        <p:spPr>
          <a:xfrm>
            <a:off x="64008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2" name="TextBox 5"/>
          <p:cNvSpPr/>
          <p:nvPr/>
        </p:nvSpPr>
        <p:spPr>
          <a:xfrm>
            <a:off x="71316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488</a:t>
            </a:r>
            <a:endParaRPr lang="es-ES" sz="3000" b="0" u="none" strike="noStrike">
              <a:solidFill>
                <a:srgbClr val="000000"/>
              </a:solidFill>
              <a:effectLst/>
              <a:uFillTx/>
              <a:latin typeface="Arial"/>
            </a:endParaRPr>
          </a:p>
        </p:txBody>
      </p:sp>
      <p:sp>
        <p:nvSpPr>
          <p:cNvPr id="363" name="TextBox 6"/>
          <p:cNvSpPr/>
          <p:nvPr/>
        </p:nvSpPr>
        <p:spPr>
          <a:xfrm>
            <a:off x="71316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pruebas ejecutadas</a:t>
            </a:r>
            <a:endParaRPr lang="es-ES" sz="1050" b="0" u="none" strike="noStrike">
              <a:solidFill>
                <a:srgbClr val="000000"/>
              </a:solidFill>
              <a:effectLst/>
              <a:uFillTx/>
              <a:latin typeface="Arial"/>
            </a:endParaRPr>
          </a:p>
        </p:txBody>
      </p:sp>
      <p:sp>
        <p:nvSpPr>
          <p:cNvPr id="364" name="Rounded Rectangle 7"/>
          <p:cNvSpPr/>
          <p:nvPr/>
        </p:nvSpPr>
        <p:spPr>
          <a:xfrm>
            <a:off x="340164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5" name="TextBox 8"/>
          <p:cNvSpPr/>
          <p:nvPr/>
        </p:nvSpPr>
        <p:spPr>
          <a:xfrm>
            <a:off x="347472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8</a:t>
            </a:r>
            <a:endParaRPr lang="es-ES" sz="3000" b="0" u="none" strike="noStrike">
              <a:solidFill>
                <a:srgbClr val="000000"/>
              </a:solidFill>
              <a:effectLst/>
              <a:uFillTx/>
              <a:latin typeface="Arial"/>
            </a:endParaRPr>
          </a:p>
        </p:txBody>
      </p:sp>
      <p:sp>
        <p:nvSpPr>
          <p:cNvPr id="366" name="TextBox 9"/>
          <p:cNvSpPr/>
          <p:nvPr/>
        </p:nvSpPr>
        <p:spPr>
          <a:xfrm>
            <a:off x="347472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niveles de evaluación</a:t>
            </a:r>
            <a:endParaRPr lang="es-ES" sz="1050" b="0" u="none" strike="noStrike">
              <a:solidFill>
                <a:srgbClr val="000000"/>
              </a:solidFill>
              <a:effectLst/>
              <a:uFillTx/>
              <a:latin typeface="Arial"/>
            </a:endParaRPr>
          </a:p>
        </p:txBody>
      </p:sp>
      <p:sp>
        <p:nvSpPr>
          <p:cNvPr id="367" name="Rounded Rectangle 10"/>
          <p:cNvSpPr/>
          <p:nvPr/>
        </p:nvSpPr>
        <p:spPr>
          <a:xfrm>
            <a:off x="616320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8" name="TextBox 11"/>
          <p:cNvSpPr/>
          <p:nvPr/>
        </p:nvSpPr>
        <p:spPr>
          <a:xfrm>
            <a:off x="623628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692,80 s</a:t>
            </a:r>
            <a:endParaRPr lang="es-ES" sz="3000" b="0" u="none" strike="noStrike">
              <a:solidFill>
                <a:srgbClr val="000000"/>
              </a:solidFill>
              <a:effectLst/>
              <a:uFillTx/>
              <a:latin typeface="Arial"/>
            </a:endParaRPr>
          </a:p>
        </p:txBody>
      </p:sp>
      <p:sp>
        <p:nvSpPr>
          <p:cNvPr id="369" name="TextBox 12"/>
          <p:cNvSpPr/>
          <p:nvPr/>
        </p:nvSpPr>
        <p:spPr>
          <a:xfrm>
            <a:off x="623628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 ejecución paralela</a:t>
            </a:r>
            <a:endParaRPr lang="es-ES" sz="1050" b="0" u="none" strike="noStrike">
              <a:solidFill>
                <a:srgbClr val="000000"/>
              </a:solidFill>
              <a:effectLst/>
              <a:uFillTx/>
              <a:latin typeface="Arial"/>
            </a:endParaRPr>
          </a:p>
        </p:txBody>
      </p:sp>
      <p:sp>
        <p:nvSpPr>
          <p:cNvPr id="370" name="Rounded Rectangle 13"/>
          <p:cNvSpPr/>
          <p:nvPr/>
        </p:nvSpPr>
        <p:spPr>
          <a:xfrm>
            <a:off x="892440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1" name="TextBox 14"/>
          <p:cNvSpPr/>
          <p:nvPr/>
        </p:nvSpPr>
        <p:spPr>
          <a:xfrm>
            <a:off x="899784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0</a:t>
            </a:r>
            <a:endParaRPr lang="es-ES" sz="3000" b="0" u="none" strike="noStrike">
              <a:solidFill>
                <a:srgbClr val="000000"/>
              </a:solidFill>
              <a:effectLst/>
              <a:uFillTx/>
              <a:latin typeface="Arial"/>
            </a:endParaRPr>
          </a:p>
        </p:txBody>
      </p:sp>
      <p:sp>
        <p:nvSpPr>
          <p:cNvPr id="372" name="TextBox 15"/>
          <p:cNvSpPr/>
          <p:nvPr/>
        </p:nvSpPr>
        <p:spPr>
          <a:xfrm>
            <a:off x="899784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fallos en la última ejecución</a:t>
            </a:r>
            <a:endParaRPr lang="es-ES" sz="1050" b="0" u="none" strike="noStrike">
              <a:solidFill>
                <a:srgbClr val="000000"/>
              </a:solidFill>
              <a:effectLst/>
              <a:uFillTx/>
              <a:latin typeface="Arial"/>
            </a:endParaRPr>
          </a:p>
        </p:txBody>
      </p:sp>
      <p:graphicFrame>
        <p:nvGraphicFramePr>
          <p:cNvPr id="373" name="Chart 16"/>
          <p:cNvGraphicFramePr/>
          <p:nvPr/>
        </p:nvGraphicFramePr>
        <p:xfrm>
          <a:off x="640080" y="3154680"/>
          <a:ext cx="7680600" cy="3245760"/>
        </p:xfrm>
        <a:graphic>
          <a:graphicData uri="http://schemas.openxmlformats.org/drawingml/2006/chart">
            <c:chart xmlns:c="http://schemas.openxmlformats.org/drawingml/2006/chart" xmlns:r="http://schemas.openxmlformats.org/officeDocument/2006/relationships" r:id="rId3"/>
          </a:graphicData>
        </a:graphic>
      </p:graphicFrame>
      <p:sp>
        <p:nvSpPr>
          <p:cNvPr id="374" name="Rounded Rectangle 17"/>
          <p:cNvSpPr/>
          <p:nvPr/>
        </p:nvSpPr>
        <p:spPr>
          <a:xfrm>
            <a:off x="8503920" y="3154680"/>
            <a:ext cx="3017160" cy="32457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5" name="TextBox 18"/>
          <p:cNvSpPr/>
          <p:nvPr/>
        </p:nvSpPr>
        <p:spPr>
          <a:xfrm>
            <a:off x="8732520" y="3337560"/>
            <a:ext cx="2605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50" b="1" u="none" strike="noStrike">
                <a:solidFill>
                  <a:srgbClr val="065A82"/>
                </a:solidFill>
                <a:effectLst/>
                <a:uFillTx/>
                <a:latin typeface="Courier New"/>
              </a:rPr>
              <a:t>uv run pytest -n auto tests</a:t>
            </a:r>
            <a:endParaRPr lang="es-ES" sz="1150" b="0" u="none" strike="noStrike">
              <a:solidFill>
                <a:srgbClr val="000000"/>
              </a:solidFill>
              <a:effectLst/>
              <a:uFillTx/>
              <a:latin typeface="Arial"/>
            </a:endParaRPr>
          </a:p>
        </p:txBody>
      </p:sp>
      <p:sp>
        <p:nvSpPr>
          <p:cNvPr id="376" name="TextBox 19"/>
          <p:cNvSpPr/>
          <p:nvPr/>
        </p:nvSpPr>
        <p:spPr>
          <a:xfrm>
            <a:off x="8732520" y="3977640"/>
            <a:ext cx="260568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2000"/>
              </a:lnSpc>
              <a:spcAft>
                <a:spcPts val="1001"/>
              </a:spcAft>
              <a:buClr>
                <a:srgbClr val="065A82"/>
              </a:buClr>
              <a:buSzPct val="55000"/>
              <a:buFont typeface="Arial"/>
              <a:buChar char="●"/>
            </a:pPr>
            <a:r>
              <a:rPr lang="en-US" sz="1150" b="0" u="none" strike="noStrike">
                <a:solidFill>
                  <a:srgbClr val="162230"/>
                </a:solidFill>
                <a:effectLst/>
                <a:uFillTx/>
                <a:latin typeface="Calibri"/>
              </a:rPr>
              <a:t>Organizada por las mismas capas que la arquitectura.</a:t>
            </a:r>
            <a:endParaRPr lang="es-ES" sz="1150" b="0" u="none" strike="noStrike">
              <a:solidFill>
                <a:srgbClr val="000000"/>
              </a:solidFill>
              <a:effectLst/>
              <a:uFillTx/>
              <a:latin typeface="Arial"/>
            </a:endParaRPr>
          </a:p>
          <a:p>
            <a:pPr marL="255960" indent="-255960" defTabSz="457200">
              <a:lnSpc>
                <a:spcPct val="112000"/>
              </a:lnSpc>
              <a:spcAft>
                <a:spcPts val="1001"/>
              </a:spcAft>
              <a:buClr>
                <a:srgbClr val="065A82"/>
              </a:buClr>
              <a:buSzPct val="55000"/>
              <a:buFont typeface="Arial"/>
              <a:buChar char="●"/>
            </a:pPr>
            <a:r>
              <a:rPr lang="en-US" sz="1150" b="0" u="none" strike="noStrike">
                <a:solidFill>
                  <a:srgbClr val="162230"/>
                </a:solidFill>
                <a:effectLst/>
                <a:uFillTx/>
                <a:latin typeface="Calibri"/>
              </a:rPr>
              <a:t>Se ejecuta también en integración continua en cada contribución.</a:t>
            </a:r>
            <a:endParaRPr lang="es-ES" sz="1150" b="0" u="none" strike="noStrike">
              <a:solidFill>
                <a:srgbClr val="000000"/>
              </a:solidFill>
              <a:effectLst/>
              <a:uFillTx/>
              <a:latin typeface="Arial"/>
            </a:endParaRPr>
          </a:p>
          <a:p>
            <a:pPr marL="255960" indent="-255960" defTabSz="457200">
              <a:lnSpc>
                <a:spcPct val="112000"/>
              </a:lnSpc>
              <a:spcAft>
                <a:spcPts val="1001"/>
              </a:spcAft>
              <a:buClr>
                <a:srgbClr val="065A82"/>
              </a:buClr>
              <a:buSzPct val="55000"/>
              <a:buFont typeface="Arial"/>
              <a:buChar char="●"/>
            </a:pPr>
            <a:r>
              <a:rPr lang="en-US" sz="1150" b="0" u="none" strike="noStrike">
                <a:solidFill>
                  <a:srgbClr val="162230"/>
                </a:solidFill>
                <a:effectLst/>
                <a:uFillTx/>
                <a:latin typeface="Calibri"/>
              </a:rPr>
              <a:t>El resultado no depende del entorno de quien lo ejecuta.</a:t>
            </a:r>
            <a:endParaRPr lang="es-ES" sz="11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137B3929-EBB5-94DF-29BA-7F9F11A5D9A7}"/>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17</a:t>
            </a:fld>
            <a:endParaRPr lang="es-ES" sz="120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7 · EVALUACIÓN Y RESULTADOS</a:t>
            </a:r>
            <a:endParaRPr lang="es-ES" sz="1300" b="0" u="none" strike="noStrike">
              <a:solidFill>
                <a:srgbClr val="000000"/>
              </a:solidFill>
              <a:effectLst/>
              <a:uFillTx/>
              <a:latin typeface="Arial"/>
            </a:endParaRPr>
          </a:p>
        </p:txBody>
      </p:sp>
      <p:sp>
        <p:nvSpPr>
          <p:cNvPr id="37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Garantías fuertes donde el proceso es determinista</a:t>
            </a:r>
            <a:endParaRPr lang="es-ES" sz="3000" b="0" u="none" strike="noStrike">
              <a:solidFill>
                <a:srgbClr val="000000"/>
              </a:solidFill>
              <a:effectLst/>
              <a:uFillTx/>
              <a:latin typeface="Arial"/>
            </a:endParaRPr>
          </a:p>
        </p:txBody>
      </p:sp>
      <p:sp>
        <p:nvSpPr>
          <p:cNvPr id="380" name="Rounded Rectangle 4"/>
          <p:cNvSpPr/>
          <p:nvPr/>
        </p:nvSpPr>
        <p:spPr>
          <a:xfrm>
            <a:off x="640080" y="1783080"/>
            <a:ext cx="5348880" cy="4205880"/>
          </a:xfrm>
          <a:prstGeom prst="roundRect">
            <a:avLst>
              <a:gd name="adj" fmla="val 10000"/>
            </a:avLst>
          </a:prstGeom>
          <a:solidFill>
            <a:srgbClr val="E1EEF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1" name="TextBox 5"/>
          <p:cNvSpPr/>
          <p:nvPr/>
        </p:nvSpPr>
        <p:spPr>
          <a:xfrm>
            <a:off x="868680" y="1965960"/>
            <a:ext cx="4891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1C7293"/>
                </a:solidFill>
                <a:effectLst/>
                <a:uFillTx/>
                <a:latin typeface="Calibri"/>
              </a:rPr>
              <a:t>GARANTÍAS FUERTES Y DETERMINISTAS</a:t>
            </a:r>
            <a:endParaRPr lang="es-ES" sz="1250" b="0" u="none" strike="noStrike">
              <a:solidFill>
                <a:srgbClr val="000000"/>
              </a:solidFill>
              <a:effectLst/>
              <a:uFillTx/>
              <a:latin typeface="Arial"/>
            </a:endParaRPr>
          </a:p>
        </p:txBody>
      </p:sp>
      <p:sp>
        <p:nvSpPr>
          <p:cNvPr id="382" name="TextBox 6"/>
          <p:cNvSpPr/>
          <p:nvPr/>
        </p:nvSpPr>
        <p:spPr>
          <a:xfrm>
            <a:off x="868680" y="2395800"/>
            <a:ext cx="4937400" cy="342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Generación estructural desde los esquemas XSD oficiales.</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Normalización y resolución de referencias con evidencia trazable.</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Política semántica evaluada a partir de evidencia concreta.</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Validación estructural y en tiempo de ejecución del formato Open CVN JSON.</a:t>
            </a:r>
            <a:endParaRPr lang="es-ES" sz="1350" b="0" u="none" strike="noStrike">
              <a:solidFill>
                <a:srgbClr val="000000"/>
              </a:solidFill>
              <a:effectLst/>
              <a:uFillTx/>
              <a:latin typeface="Arial"/>
            </a:endParaRPr>
          </a:p>
        </p:txBody>
      </p:sp>
      <p:sp>
        <p:nvSpPr>
          <p:cNvPr id="383" name="Rounded Rectangle 7"/>
          <p:cNvSpPr/>
          <p:nvPr/>
        </p:nvSpPr>
        <p:spPr>
          <a:xfrm>
            <a:off x="6172200" y="1783080"/>
            <a:ext cx="5348880" cy="4205880"/>
          </a:xfrm>
          <a:prstGeom prst="roundRect">
            <a:avLst>
              <a:gd name="adj" fmla="val 10000"/>
            </a:avLst>
          </a:prstGeom>
          <a:solidFill>
            <a:srgbClr val="FBF0D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4" name="TextBox 8"/>
          <p:cNvSpPr/>
          <p:nvPr/>
        </p:nvSpPr>
        <p:spPr>
          <a:xfrm>
            <a:off x="6400800" y="1965960"/>
            <a:ext cx="4891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E09A3E"/>
                </a:solidFill>
                <a:effectLst/>
                <a:uFillTx/>
                <a:latin typeface="Calibri"/>
              </a:rPr>
              <a:t>GARANTÍAS PARCIALES Y DOCUMENTADAS</a:t>
            </a:r>
            <a:endParaRPr lang="es-ES" sz="1250" b="0" u="none" strike="noStrike">
              <a:solidFill>
                <a:srgbClr val="000000"/>
              </a:solidFill>
              <a:effectLst/>
              <a:uFillTx/>
              <a:latin typeface="Arial"/>
            </a:endParaRPr>
          </a:p>
        </p:txBody>
      </p:sp>
      <p:sp>
        <p:nvSpPr>
          <p:cNvPr id="385" name="TextBox 9"/>
          <p:cNvSpPr/>
          <p:nvPr/>
        </p:nvSpPr>
        <p:spPr>
          <a:xfrm>
            <a:off x="6400800" y="2395800"/>
            <a:ext cx="4937400" cy="342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2000"/>
              </a:lnSpc>
              <a:spcAft>
                <a:spcPts val="1599"/>
              </a:spcAft>
              <a:buClr>
                <a:srgbClr val="E0993C"/>
              </a:buClr>
              <a:buSzPct val="55000"/>
              <a:buFont typeface="Arial"/>
              <a:buChar char="●"/>
            </a:pPr>
            <a:r>
              <a:rPr lang="en-US" sz="1350" b="0" u="none" strike="noStrike">
                <a:solidFill>
                  <a:srgbClr val="162230"/>
                </a:solidFill>
                <a:effectLst/>
                <a:uFillTx/>
                <a:latin typeface="Calibri"/>
              </a:rPr>
              <a:t>Importación de CVN XML: mapeo semántico parcial y creciente.</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E0993C"/>
              </a:buClr>
              <a:buSzPct val="55000"/>
              <a:buFont typeface="Arial"/>
              <a:buChar char="●"/>
            </a:pPr>
            <a:r>
              <a:rPr lang="en-US" sz="1350" b="0" u="none" strike="noStrike">
                <a:solidFill>
                  <a:srgbClr val="162230"/>
                </a:solidFill>
                <a:effectLst/>
                <a:uFillTx/>
                <a:latin typeface="Calibri"/>
              </a:rPr>
              <a:t>Importación asistida por LLM: opcional, no autoritativa sin revisión.</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E0993C"/>
              </a:buClr>
              <a:buSzPct val="55000"/>
              <a:buFont typeface="Arial"/>
              <a:buChar char="●"/>
            </a:pPr>
            <a:r>
              <a:rPr lang="en-US" sz="1350" b="0" u="none" strike="noStrike">
                <a:solidFill>
                  <a:srgbClr val="162230"/>
                </a:solidFill>
                <a:effectLst/>
                <a:uFillTx/>
                <a:latin typeface="Calibri"/>
              </a:rPr>
              <a:t>Generación de PDF: depende de un motor LaTeX disponible en el entorno.</a:t>
            </a:r>
            <a:endParaRPr lang="es-ES" sz="1350" b="0" u="none" strike="noStrike">
              <a:solidFill>
                <a:srgbClr val="000000"/>
              </a:solidFill>
              <a:effectLst/>
              <a:uFillTx/>
              <a:latin typeface="Arial"/>
            </a:endParaRPr>
          </a:p>
        </p:txBody>
      </p:sp>
      <p:sp>
        <p:nvSpPr>
          <p:cNvPr id="386" name="TextBox 10"/>
          <p:cNvSpPr/>
          <p:nvPr/>
        </p:nvSpPr>
        <p:spPr>
          <a:xfrm>
            <a:off x="640080" y="6172200"/>
            <a:ext cx="108810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0" i="1" u="none" strike="noStrike">
                <a:solidFill>
                  <a:srgbClr val="5B6B7A"/>
                </a:solidFill>
                <a:effectLst/>
                <a:uFillTx/>
                <a:latin typeface="Calibri"/>
              </a:rPr>
              <a:t>No debe interpretarse como una conversión completa del ecosistema CVN ni como una validación semántica total del dominio.</a:t>
            </a:r>
            <a:endParaRPr lang="es-ES" sz="11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B3742CF2-1E6B-6C55-2310-BC94A49D622A}"/>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18</a:t>
            </a:fld>
            <a:endParaRPr lang="es-ES" sz="120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8 · CONCLUSIONES</a:t>
            </a:r>
            <a:endParaRPr lang="es-ES" sz="1300" b="0" u="none" strike="noStrike">
              <a:solidFill>
                <a:srgbClr val="000000"/>
              </a:solidFill>
              <a:effectLst/>
              <a:uFillTx/>
              <a:latin typeface="Arial"/>
            </a:endParaRPr>
          </a:p>
        </p:txBody>
      </p:sp>
      <p:sp>
        <p:nvSpPr>
          <p:cNvPr id="38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Cumplimiento de los objetivos específicos</a:t>
            </a:r>
            <a:endParaRPr lang="es-ES" sz="3000" b="0" u="none" strike="noStrike">
              <a:solidFill>
                <a:srgbClr val="000000"/>
              </a:solidFill>
              <a:effectLst/>
              <a:uFillTx/>
              <a:latin typeface="Arial"/>
            </a:endParaRPr>
          </a:p>
        </p:txBody>
      </p:sp>
      <p:graphicFrame>
        <p:nvGraphicFramePr>
          <p:cNvPr id="390" name="Table 4"/>
          <p:cNvGraphicFramePr/>
          <p:nvPr/>
        </p:nvGraphicFramePr>
        <p:xfrm>
          <a:off x="640080" y="1783080"/>
          <a:ext cx="10881360" cy="4431240"/>
        </p:xfrm>
        <a:graphic>
          <a:graphicData uri="http://schemas.openxmlformats.org/drawingml/2006/table">
            <a:tbl>
              <a:tblPr/>
              <a:tblGrid>
                <a:gridCol w="868680">
                  <a:extLst>
                    <a:ext uri="{9D8B030D-6E8A-4147-A177-3AD203B41FA5}">
                      <a16:colId xmlns:a16="http://schemas.microsoft.com/office/drawing/2014/main" val="20000"/>
                    </a:ext>
                  </a:extLst>
                </a:gridCol>
                <a:gridCol w="7635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02840">
                <a:tc>
                  <a:txBody>
                    <a:bodyPr/>
                    <a:lstStyle/>
                    <a:p>
                      <a:pPr defTabSz="457200">
                        <a:lnSpc>
                          <a:spcPct val="100000"/>
                        </a:lnSpc>
                      </a:pPr>
                      <a:r>
                        <a:rPr lang="en-US" sz="1300" b="1" u="none" strike="noStrike">
                          <a:solidFill>
                            <a:srgbClr val="FFFFFF"/>
                          </a:solidFill>
                          <a:effectLst/>
                          <a:uFillTx/>
                          <a:latin typeface="Calibri"/>
                        </a:rPr>
                        <a:t>Obj.</a:t>
                      </a:r>
                      <a:endParaRPr lang="es-ES" sz="130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300" b="1" u="none" strike="noStrike">
                          <a:solidFill>
                            <a:srgbClr val="FFFFFF"/>
                          </a:solidFill>
                          <a:effectLst/>
                          <a:uFillTx/>
                          <a:latin typeface="Calibri"/>
                        </a:rPr>
                        <a:t>Descripción resumida</a:t>
                      </a:r>
                      <a:endParaRPr lang="es-ES" sz="130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300" b="1" u="none" strike="noStrike">
                          <a:solidFill>
                            <a:srgbClr val="FFFFFF"/>
                          </a:solidFill>
                          <a:effectLst/>
                          <a:uFillTx/>
                          <a:latin typeface="Calibri"/>
                        </a:rPr>
                        <a:t>Estado</a:t>
                      </a:r>
                      <a:endParaRPr lang="es-ES" sz="130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extLst>
                  <a:ext uri="{0D108BD9-81ED-4DB2-BD59-A6C34878D82A}">
                    <a16:rowId xmlns:a16="http://schemas.microsoft.com/office/drawing/2014/main" val="10000"/>
                  </a:ext>
                </a:extLst>
              </a:tr>
              <a:tr h="402840">
                <a:tc>
                  <a:txBody>
                    <a:bodyPr/>
                    <a:lstStyle/>
                    <a:p>
                      <a:pPr defTabSz="457200">
                        <a:lnSpc>
                          <a:spcPct val="100000"/>
                        </a:lnSpc>
                      </a:pPr>
                      <a:r>
                        <a:rPr lang="en-US" sz="1250" b="0" u="none" strike="noStrike">
                          <a:solidFill>
                            <a:srgbClr val="162230"/>
                          </a:solidFill>
                          <a:effectLst/>
                          <a:uFillTx/>
                          <a:latin typeface="Calibri"/>
                        </a:rPr>
                        <a:t>OE1</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Análisis del ecosistema CVN y sus artefactos oficiales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402840">
                <a:tc>
                  <a:txBody>
                    <a:bodyPr/>
                    <a:lstStyle/>
                    <a:p>
                      <a:pPr defTabSz="457200">
                        <a:lnSpc>
                          <a:spcPct val="100000"/>
                        </a:lnSpc>
                      </a:pPr>
                      <a:r>
                        <a:rPr lang="en-US" sz="1250" b="0" u="none" strike="noStrike">
                          <a:solidFill>
                            <a:srgbClr val="162230"/>
                          </a:solidFill>
                          <a:effectLst/>
                          <a:uFillTx/>
                          <a:latin typeface="Calibri"/>
                        </a:rPr>
                        <a:t>OE2</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Estudio de alternativas de representación, modelado y validación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2"/>
                  </a:ext>
                </a:extLst>
              </a:tr>
              <a:tr h="402840">
                <a:tc>
                  <a:txBody>
                    <a:bodyPr/>
                    <a:lstStyle/>
                    <a:p>
                      <a:pPr defTabSz="457200">
                        <a:lnSpc>
                          <a:spcPct val="100000"/>
                        </a:lnSpc>
                      </a:pPr>
                      <a:r>
                        <a:rPr lang="en-US" sz="1250" b="0" u="none" strike="noStrike">
                          <a:solidFill>
                            <a:srgbClr val="162230"/>
                          </a:solidFill>
                          <a:effectLst/>
                          <a:uFillTx/>
                          <a:latin typeface="Calibri"/>
                        </a:rPr>
                        <a:t>OE3</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Generación estructural reproducible desde XSD</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402840">
                <a:tc>
                  <a:txBody>
                    <a:bodyPr/>
                    <a:lstStyle/>
                    <a:p>
                      <a:pPr defTabSz="457200">
                        <a:lnSpc>
                          <a:spcPct val="100000"/>
                        </a:lnSpc>
                      </a:pPr>
                      <a:r>
                        <a:rPr lang="en-US" sz="1250" b="0" u="none" strike="noStrike">
                          <a:solidFill>
                            <a:srgbClr val="162230"/>
                          </a:solidFill>
                          <a:effectLst/>
                          <a:uFillTx/>
                          <a:latin typeface="Calibri"/>
                        </a:rPr>
                        <a:t>OE4</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Normalización de metadatos CVN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4"/>
                  </a:ext>
                </a:extLst>
              </a:tr>
              <a:tr h="402840">
                <a:tc>
                  <a:txBody>
                    <a:bodyPr/>
                    <a:lstStyle/>
                    <a:p>
                      <a:pPr defTabSz="457200">
                        <a:lnSpc>
                          <a:spcPct val="100000"/>
                        </a:lnSpc>
                      </a:pPr>
                      <a:r>
                        <a:rPr lang="en-US" sz="1250" b="0" u="none" strike="noStrike">
                          <a:solidFill>
                            <a:srgbClr val="162230"/>
                          </a:solidFill>
                          <a:effectLst/>
                          <a:uFillTx/>
                          <a:latin typeface="Calibri"/>
                        </a:rPr>
                        <a:t>OE5</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Definición de reglas semánticas trazables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5"/>
                  </a:ext>
                </a:extLst>
              </a:tr>
              <a:tr h="402840">
                <a:tc>
                  <a:txBody>
                    <a:bodyPr/>
                    <a:lstStyle/>
                    <a:p>
                      <a:pPr defTabSz="457200">
                        <a:lnSpc>
                          <a:spcPct val="100000"/>
                        </a:lnSpc>
                      </a:pPr>
                      <a:r>
                        <a:rPr lang="en-US" sz="1250" b="0" u="none" strike="noStrike">
                          <a:solidFill>
                            <a:srgbClr val="162230"/>
                          </a:solidFill>
                          <a:effectLst/>
                          <a:uFillTx/>
                          <a:latin typeface="Calibri"/>
                        </a:rPr>
                        <a:t>OE6</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Generación de modelos de dominio y artefactos conceptuales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6"/>
                  </a:ext>
                </a:extLst>
              </a:tr>
              <a:tr h="402840">
                <a:tc>
                  <a:txBody>
                    <a:bodyPr/>
                    <a:lstStyle/>
                    <a:p>
                      <a:pPr defTabSz="457200">
                        <a:lnSpc>
                          <a:spcPct val="100000"/>
                        </a:lnSpc>
                      </a:pPr>
                      <a:r>
                        <a:rPr lang="en-US" sz="1250" b="0" u="none" strike="noStrike">
                          <a:solidFill>
                            <a:srgbClr val="162230"/>
                          </a:solidFill>
                          <a:effectLst/>
                          <a:uFillTx/>
                          <a:latin typeface="Calibri"/>
                        </a:rPr>
                        <a:t>OE7</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Definición del formato Open CVN JSON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7"/>
                  </a:ext>
                </a:extLst>
              </a:tr>
              <a:tr h="402840">
                <a:tc>
                  <a:txBody>
                    <a:bodyPr/>
                    <a:lstStyle/>
                    <a:p>
                      <a:pPr defTabSz="457200">
                        <a:lnSpc>
                          <a:spcPct val="100000"/>
                        </a:lnSpc>
                      </a:pPr>
                      <a:r>
                        <a:rPr lang="en-US" sz="1250" b="0" u="none" strike="noStrike">
                          <a:solidFill>
                            <a:srgbClr val="162230"/>
                          </a:solidFill>
                          <a:effectLst/>
                          <a:uFillTx/>
                          <a:latin typeface="Calibri"/>
                        </a:rPr>
                        <a:t>OE8</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Parser, validador, almacenamiento y exportación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8"/>
                  </a:ext>
                </a:extLst>
              </a:tr>
              <a:tr h="402840">
                <a:tc>
                  <a:txBody>
                    <a:bodyPr/>
                    <a:lstStyle/>
                    <a:p>
                      <a:pPr defTabSz="457200">
                        <a:lnSpc>
                          <a:spcPct val="100000"/>
                        </a:lnSpc>
                      </a:pPr>
                      <a:r>
                        <a:rPr lang="en-US" sz="1250" b="0" u="none" strike="noStrike">
                          <a:solidFill>
                            <a:srgbClr val="162230"/>
                          </a:solidFill>
                          <a:effectLst/>
                          <a:uFillTx/>
                          <a:latin typeface="Calibri"/>
                        </a:rPr>
                        <a:t>OE9</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Importación determinista y asistida por LLM</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E09A3E"/>
                          </a:solidFill>
                          <a:effectLst/>
                          <a:uFillTx/>
                          <a:latin typeface="Calibri"/>
                        </a:rPr>
                        <a:t>Parcial (deliberado)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9"/>
                  </a:ext>
                </a:extLst>
              </a:tr>
              <a:tr h="402840">
                <a:tc>
                  <a:txBody>
                    <a:bodyPr/>
                    <a:lstStyle/>
                    <a:p>
                      <a:pPr defTabSz="457200">
                        <a:lnSpc>
                          <a:spcPct val="100000"/>
                        </a:lnSpc>
                      </a:pPr>
                      <a:r>
                        <a:rPr lang="en-US" sz="1250" b="0" u="none" strike="noStrike">
                          <a:solidFill>
                            <a:srgbClr val="162230"/>
                          </a:solidFill>
                          <a:effectLst/>
                          <a:uFillTx/>
                          <a:latin typeface="Calibri"/>
                        </a:rPr>
                        <a:t>OE10</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Verificación automatizada y flujos reproducibles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10"/>
                  </a:ext>
                </a:extLst>
              </a:tr>
            </a:tbl>
          </a:graphicData>
        </a:graphic>
      </p:graphicFrame>
      <p:sp>
        <p:nvSpPr>
          <p:cNvPr id="391" name="TextBox 5"/>
          <p:cNvSpPr/>
          <p:nvPr/>
        </p:nvSpPr>
        <p:spPr>
          <a:xfrm>
            <a:off x="640080" y="6382440"/>
            <a:ext cx="10881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0" i="1" u="none" strike="noStrike">
                <a:solidFill>
                  <a:srgbClr val="5B6B7A"/>
                </a:solidFill>
                <a:effectLst/>
                <a:uFillTx/>
                <a:latin typeface="Calibri"/>
              </a:rPr>
              <a:t>El objetivo general se considera cumplido: la única salvedad es deliberada, no una carencia.</a:t>
            </a:r>
            <a:endParaRPr lang="es-ES" sz="115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CA516338-34E9-07E8-7454-D9A9386AB681}"/>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19</a:t>
            </a:fld>
            <a:endParaRPr lang="es-ES" sz="1200" b="0" u="none" strike="noStrike">
              <a:solidFill>
                <a:srgbClr val="000000"/>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7"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8 · CONCLUSIONES</a:t>
            </a:r>
            <a:endParaRPr lang="es-ES" sz="1300" b="0" u="none" strike="noStrike">
              <a:solidFill>
                <a:srgbClr val="000000"/>
              </a:solidFill>
              <a:effectLst/>
              <a:uFillTx/>
              <a:latin typeface="Arial"/>
            </a:endParaRPr>
          </a:p>
        </p:txBody>
      </p:sp>
      <p:sp>
        <p:nvSpPr>
          <p:cNvPr id="418"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Conclusión y líneas de trabajo futuro</a:t>
            </a:r>
            <a:endParaRPr lang="es-ES" sz="3000" b="0" u="none" strike="noStrike">
              <a:solidFill>
                <a:srgbClr val="000000"/>
              </a:solidFill>
              <a:effectLst/>
              <a:uFillTx/>
              <a:latin typeface="Arial"/>
            </a:endParaRPr>
          </a:p>
        </p:txBody>
      </p:sp>
      <p:sp>
        <p:nvSpPr>
          <p:cNvPr id="419" name="Rounded Rectangle 4"/>
          <p:cNvSpPr/>
          <p:nvPr/>
        </p:nvSpPr>
        <p:spPr>
          <a:xfrm>
            <a:off x="640080" y="1783080"/>
            <a:ext cx="5211720" cy="4205880"/>
          </a:xfrm>
          <a:prstGeom prst="roundRect">
            <a:avLst>
              <a:gd name="adj" fmla="val 9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0" name="TextBox 5"/>
          <p:cNvSpPr/>
          <p:nvPr/>
        </p:nvSpPr>
        <p:spPr>
          <a:xfrm>
            <a:off x="896040" y="2011680"/>
            <a:ext cx="4708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E09A3E"/>
                </a:solidFill>
                <a:effectLst/>
                <a:uFillTx/>
                <a:latin typeface="Calibri"/>
              </a:rPr>
              <a:t>CONCLUSIÓN</a:t>
            </a:r>
            <a:endParaRPr lang="es-ES" sz="1200" b="0" u="none" strike="noStrike">
              <a:solidFill>
                <a:srgbClr val="000000"/>
              </a:solidFill>
              <a:effectLst/>
              <a:uFillTx/>
              <a:latin typeface="Arial"/>
            </a:endParaRPr>
          </a:p>
        </p:txBody>
      </p:sp>
      <p:sp>
        <p:nvSpPr>
          <p:cNvPr id="421" name="TextBox 6"/>
          <p:cNvSpPr/>
          <p:nvPr/>
        </p:nvSpPr>
        <p:spPr>
          <a:xfrm>
            <a:off x="896040" y="2423160"/>
            <a:ext cx="470880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22000"/>
              </a:lnSpc>
              <a:spcAft>
                <a:spcPts val="601"/>
              </a:spcAft>
            </a:pPr>
            <a:r>
              <a:rPr lang="en-US" sz="1450" b="0" i="1" u="none" strike="noStrike">
                <a:solidFill>
                  <a:srgbClr val="E9F1F7"/>
                </a:solidFill>
                <a:effectLst/>
                <a:uFillTx/>
                <a:latin typeface="Cambria"/>
              </a:rPr>
              <a:t>Este trabajo demuestra que es posible construir, a partir de CVN, una arquitectura computacional abierta que separa la interoperabilidad estructural del significado curricular, con trazabilidad verificable y garantías reproducibles allí donde el proceso es determinista.</a:t>
            </a:r>
            <a:endParaRPr lang="es-ES" sz="1450" b="0" u="none" strike="noStrike">
              <a:solidFill>
                <a:srgbClr val="000000"/>
              </a:solidFill>
              <a:effectLst/>
              <a:uFillTx/>
              <a:latin typeface="Arial"/>
            </a:endParaRPr>
          </a:p>
          <a:p>
            <a:pPr defTabSz="457200">
              <a:lnSpc>
                <a:spcPct val="122000"/>
              </a:lnSpc>
              <a:spcAft>
                <a:spcPts val="601"/>
              </a:spcAft>
            </a:pPr>
            <a:endParaRPr lang="es-ES" sz="1450" b="0" u="none" strike="noStrike">
              <a:solidFill>
                <a:srgbClr val="000000"/>
              </a:solidFill>
              <a:effectLst/>
              <a:uFillTx/>
              <a:latin typeface="Arial"/>
            </a:endParaRPr>
          </a:p>
          <a:p>
            <a:pPr defTabSz="457200">
              <a:lnSpc>
                <a:spcPct val="122000"/>
              </a:lnSpc>
              <a:spcAft>
                <a:spcPts val="601"/>
              </a:spcAft>
            </a:pPr>
            <a:r>
              <a:rPr lang="en-US" sz="1450" b="0" i="1" u="none" strike="noStrike">
                <a:solidFill>
                  <a:srgbClr val="E9F1F7"/>
                </a:solidFill>
                <a:effectLst/>
                <a:uFillTx/>
                <a:latin typeface="Cambria"/>
              </a:rPr>
              <a:t>Esa arquitectura por capas —más que el formato JSON o la herramienta que la demuestran— es la aportación principal de este Trabajo Fin de Grado.</a:t>
            </a:r>
            <a:endParaRPr lang="es-ES" sz="1450" b="0" u="none" strike="noStrike">
              <a:solidFill>
                <a:srgbClr val="000000"/>
              </a:solidFill>
              <a:effectLst/>
              <a:uFillTx/>
              <a:latin typeface="Arial"/>
            </a:endParaRPr>
          </a:p>
        </p:txBody>
      </p:sp>
      <p:sp>
        <p:nvSpPr>
          <p:cNvPr id="422" name="TextBox 7"/>
          <p:cNvSpPr/>
          <p:nvPr/>
        </p:nvSpPr>
        <p:spPr>
          <a:xfrm>
            <a:off x="6172200" y="1783080"/>
            <a:ext cx="5348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1C7293"/>
                </a:solidFill>
                <a:effectLst/>
                <a:uFillTx/>
                <a:latin typeface="Calibri"/>
              </a:rPr>
              <a:t>TRABAJO FUTURO</a:t>
            </a:r>
            <a:endParaRPr lang="es-ES" sz="1200" b="0" u="none" strike="noStrike">
              <a:solidFill>
                <a:srgbClr val="000000"/>
              </a:solidFill>
              <a:effectLst/>
              <a:uFillTx/>
              <a:latin typeface="Arial"/>
            </a:endParaRPr>
          </a:p>
        </p:txBody>
      </p:sp>
      <p:sp>
        <p:nvSpPr>
          <p:cNvPr id="423" name="Rounded Rectangle 8"/>
          <p:cNvSpPr/>
          <p:nvPr/>
        </p:nvSpPr>
        <p:spPr>
          <a:xfrm>
            <a:off x="6172200" y="216720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4" name="Oval 9"/>
          <p:cNvSpPr/>
          <p:nvPr/>
        </p:nvSpPr>
        <p:spPr>
          <a:xfrm>
            <a:off x="6309360" y="229500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u="none" strike="noStrike">
                <a:solidFill>
                  <a:srgbClr val="FFFFFF"/>
                </a:solidFill>
                <a:effectLst/>
                <a:uFillTx/>
                <a:latin typeface="Calibri"/>
              </a:rPr>
              <a:t>1</a:t>
            </a:r>
            <a:endParaRPr lang="es-ES" sz="1300" b="0" u="none" strike="noStrike">
              <a:solidFill>
                <a:srgbClr val="FFFFFF"/>
              </a:solidFill>
              <a:effectLst/>
              <a:uFillTx/>
              <a:latin typeface="Arial"/>
            </a:endParaRPr>
          </a:p>
        </p:txBody>
      </p:sp>
      <p:sp>
        <p:nvSpPr>
          <p:cNvPr id="425" name="TextBox 10"/>
          <p:cNvSpPr/>
          <p:nvPr/>
        </p:nvSpPr>
        <p:spPr>
          <a:xfrm>
            <a:off x="6830640" y="216720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Completar el mapeo semántico de importación XML con currículos reales</a:t>
            </a:r>
            <a:endParaRPr lang="es-ES" sz="1180" b="0" u="none" strike="noStrike">
              <a:solidFill>
                <a:srgbClr val="000000"/>
              </a:solidFill>
              <a:effectLst/>
              <a:uFillTx/>
              <a:latin typeface="Arial"/>
            </a:endParaRPr>
          </a:p>
        </p:txBody>
      </p:sp>
      <p:sp>
        <p:nvSpPr>
          <p:cNvPr id="429" name="Rounded Rectangle 14"/>
          <p:cNvSpPr/>
          <p:nvPr/>
        </p:nvSpPr>
        <p:spPr>
          <a:xfrm>
            <a:off x="6172200" y="302184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0" name="Oval 15"/>
          <p:cNvSpPr/>
          <p:nvPr/>
        </p:nvSpPr>
        <p:spPr>
          <a:xfrm>
            <a:off x="6309360" y="315000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dirty="0">
                <a:solidFill>
                  <a:srgbClr val="FFFFFF"/>
                </a:solidFill>
                <a:latin typeface="Calibri"/>
              </a:rPr>
              <a:t>2</a:t>
            </a:r>
            <a:endParaRPr lang="es-ES" sz="1300" b="0" u="none" strike="noStrike" dirty="0">
              <a:solidFill>
                <a:srgbClr val="FFFFFF"/>
              </a:solidFill>
              <a:effectLst/>
              <a:uFillTx/>
              <a:latin typeface="Arial"/>
            </a:endParaRPr>
          </a:p>
        </p:txBody>
      </p:sp>
      <p:sp>
        <p:nvSpPr>
          <p:cNvPr id="431" name="TextBox 16"/>
          <p:cNvSpPr/>
          <p:nvPr/>
        </p:nvSpPr>
        <p:spPr>
          <a:xfrm>
            <a:off x="6830640" y="302184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Estudiar restricciones OCL sobre el modelo conceptual</a:t>
            </a:r>
            <a:endParaRPr lang="es-ES" sz="1180" b="0" u="none" strike="noStrike">
              <a:solidFill>
                <a:srgbClr val="000000"/>
              </a:solidFill>
              <a:effectLst/>
              <a:uFillTx/>
              <a:latin typeface="Arial"/>
            </a:endParaRPr>
          </a:p>
        </p:txBody>
      </p:sp>
      <p:sp>
        <p:nvSpPr>
          <p:cNvPr id="432" name="Rounded Rectangle 17"/>
          <p:cNvSpPr/>
          <p:nvPr/>
        </p:nvSpPr>
        <p:spPr>
          <a:xfrm>
            <a:off x="6172200" y="382644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3" name="Oval 18"/>
          <p:cNvSpPr/>
          <p:nvPr/>
        </p:nvSpPr>
        <p:spPr>
          <a:xfrm>
            <a:off x="6309360" y="395460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dirty="0">
                <a:solidFill>
                  <a:srgbClr val="FFFFFF"/>
                </a:solidFill>
                <a:latin typeface="Calibri"/>
              </a:rPr>
              <a:t>3</a:t>
            </a:r>
          </a:p>
        </p:txBody>
      </p:sp>
      <p:sp>
        <p:nvSpPr>
          <p:cNvPr id="434" name="TextBox 19"/>
          <p:cNvSpPr/>
          <p:nvPr/>
        </p:nvSpPr>
        <p:spPr>
          <a:xfrm>
            <a:off x="6830640" y="382644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Reducir la dependencia de un motor LaTeX en la generación de PDF</a:t>
            </a:r>
            <a:endParaRPr lang="es-ES" sz="1180" b="0" u="none" strike="noStrike">
              <a:solidFill>
                <a:srgbClr val="000000"/>
              </a:solidFill>
              <a:effectLst/>
              <a:uFillTx/>
              <a:latin typeface="Arial"/>
            </a:endParaRPr>
          </a:p>
        </p:txBody>
      </p:sp>
      <p:sp>
        <p:nvSpPr>
          <p:cNvPr id="435" name="Rounded Rectangle 20"/>
          <p:cNvSpPr/>
          <p:nvPr/>
        </p:nvSpPr>
        <p:spPr>
          <a:xfrm>
            <a:off x="6172200" y="463140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6" name="Oval 21"/>
          <p:cNvSpPr/>
          <p:nvPr/>
        </p:nvSpPr>
        <p:spPr>
          <a:xfrm>
            <a:off x="6309360" y="475920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dirty="0">
                <a:solidFill>
                  <a:srgbClr val="FFFFFF"/>
                </a:solidFill>
                <a:latin typeface="Calibri"/>
              </a:rPr>
              <a:t>4</a:t>
            </a:r>
            <a:endParaRPr lang="es-ES" sz="1300" b="0" u="none" strike="noStrike" dirty="0">
              <a:solidFill>
                <a:srgbClr val="FFFFFF"/>
              </a:solidFill>
              <a:effectLst/>
              <a:uFillTx/>
              <a:latin typeface="Arial"/>
            </a:endParaRPr>
          </a:p>
        </p:txBody>
      </p:sp>
      <p:sp>
        <p:nvSpPr>
          <p:cNvPr id="437" name="TextBox 22"/>
          <p:cNvSpPr/>
          <p:nvPr/>
        </p:nvSpPr>
        <p:spPr>
          <a:xfrm>
            <a:off x="6830640" y="463140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Explorar extensiones semánticas (JSON-LD) e integración institucional</a:t>
            </a:r>
            <a:endParaRPr lang="es-ES" sz="118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96C3D7CA-E077-7846-E03D-B12B2C524C77}"/>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20</a:t>
            </a:fld>
            <a:endParaRPr lang="es-ES" sz="1200" b="0" u="none" strike="noStrike">
              <a:solidFill>
                <a:srgbClr val="000000"/>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Rectangle 1"/>
          <p:cNvSpPr/>
          <p:nvPr/>
        </p:nvSpPr>
        <p:spPr>
          <a:xfrm>
            <a:off x="0" y="0"/>
            <a:ext cx="12191400" cy="6857640"/>
          </a:xfrm>
          <a:prstGeom prst="rect">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9" name="Rectangle 2"/>
          <p:cNvSpPr/>
          <p:nvPr/>
        </p:nvSpPr>
        <p:spPr>
          <a:xfrm>
            <a:off x="0" y="0"/>
            <a:ext cx="5120280" cy="182520"/>
          </a:xfrm>
          <a:prstGeom prst="rect">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40" name="Rectangle 3"/>
          <p:cNvSpPr/>
          <p:nvPr/>
        </p:nvSpPr>
        <p:spPr>
          <a:xfrm>
            <a:off x="0" y="219600"/>
            <a:ext cx="8595000" cy="182520"/>
          </a:xfrm>
          <a:prstGeom prst="rect">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41" name="Rectangle 4"/>
          <p:cNvSpPr/>
          <p:nvPr/>
        </p:nvSpPr>
        <p:spPr>
          <a:xfrm>
            <a:off x="0" y="438840"/>
            <a:ext cx="12191400" cy="18252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42" name="TextBox 5"/>
          <p:cNvSpPr/>
          <p:nvPr/>
        </p:nvSpPr>
        <p:spPr>
          <a:xfrm>
            <a:off x="640080" y="2514600"/>
            <a:ext cx="10881000" cy="67710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4400" b="1" u="none" strike="noStrike" dirty="0">
                <a:solidFill>
                  <a:srgbClr val="FFFFFF"/>
                </a:solidFill>
                <a:effectLst/>
                <a:uFillTx/>
                <a:latin typeface="Cambria"/>
              </a:rPr>
              <a:t>FIN</a:t>
            </a:r>
            <a:endParaRPr lang="es-ES" sz="4400" b="0" u="none" strike="noStrike" dirty="0">
              <a:solidFill>
                <a:srgbClr val="000000"/>
              </a:solidFill>
              <a:effectLst/>
              <a:uFillTx/>
              <a:latin typeface="Arial"/>
            </a:endParaRPr>
          </a:p>
        </p:txBody>
      </p:sp>
      <p:sp>
        <p:nvSpPr>
          <p:cNvPr id="443" name="TextBox 6"/>
          <p:cNvSpPr/>
          <p:nvPr/>
        </p:nvSpPr>
        <p:spPr>
          <a:xfrm>
            <a:off x="640080" y="3520440"/>
            <a:ext cx="10881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800" b="0" i="1" u="none" strike="noStrike">
                <a:solidFill>
                  <a:srgbClr val="E9F1F7"/>
                </a:solidFill>
                <a:effectLst/>
                <a:uFillTx/>
                <a:latin typeface="Calibri"/>
              </a:rPr>
              <a:t>Quedo a su disposición para las preguntas del tribunal</a:t>
            </a:r>
            <a:endParaRPr lang="es-ES" sz="1800" b="0" u="none" strike="noStrike">
              <a:solidFill>
                <a:srgbClr val="000000"/>
              </a:solidFill>
              <a:effectLst/>
              <a:uFillTx/>
              <a:latin typeface="Arial"/>
            </a:endParaRPr>
          </a:p>
        </p:txBody>
      </p:sp>
      <p:sp>
        <p:nvSpPr>
          <p:cNvPr id="444" name="TextBox 7"/>
          <p:cNvSpPr/>
          <p:nvPr/>
        </p:nvSpPr>
        <p:spPr>
          <a:xfrm>
            <a:off x="640080" y="6263640"/>
            <a:ext cx="10881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00" b="0" u="none" strike="noStrike">
                <a:solidFill>
                  <a:srgbClr val="A9BFD1"/>
                </a:solidFill>
                <a:effectLst/>
                <a:uFillTx/>
                <a:latin typeface="Calibri"/>
              </a:rPr>
              <a:t>Carlos Martínez Jaén · Open CVN · ESIIAB, Universidad de Castilla-La Mancha</a:t>
            </a:r>
            <a:endParaRPr lang="es-ES" sz="1100" b="0" u="none" strike="noStrike">
              <a:solidFill>
                <a:srgbClr val="000000"/>
              </a:solidFill>
              <a:effectLst/>
              <a:uFillTx/>
              <a:latin typeface="Arial"/>
            </a:endParaRPr>
          </a:p>
        </p:txBody>
      </p:sp>
      <p:sp>
        <p:nvSpPr>
          <p:cNvPr id="2" name="Marcador de número de diapositiva 1">
            <a:extLst>
              <a:ext uri="{FF2B5EF4-FFF2-40B4-BE49-F238E27FC236}">
                <a16:creationId xmlns:a16="http://schemas.microsoft.com/office/drawing/2014/main" id="{F2A581EB-C665-7C9B-51F6-5AD17F5B2A1B}"/>
              </a:ext>
            </a:extLst>
          </p:cNvPr>
          <p:cNvSpPr>
            <a:spLocks noGrp="1"/>
          </p:cNvSpPr>
          <p:nvPr>
            <p:ph type="sldNum" idx="27"/>
          </p:nvPr>
        </p:nvSpPr>
        <p:spPr/>
        <p:txBody>
          <a:bodyPr/>
          <a:lstStyle/>
          <a:p>
            <a:pPr indent="0" algn="r" defTabSz="457200">
              <a:lnSpc>
                <a:spcPct val="100000"/>
              </a:lnSpc>
              <a:buNone/>
            </a:pPr>
            <a:fld id="{E96B40A6-A46F-4A85-AE2F-4CA2D3C05104}" type="slidenum">
              <a:rPr lang="en-US" sz="1200" b="0" u="none" strike="noStrike" smtClean="0">
                <a:solidFill>
                  <a:schemeClr val="dk1">
                    <a:tint val="75000"/>
                  </a:schemeClr>
                </a:solidFill>
                <a:effectLst/>
                <a:uFillTx/>
                <a:latin typeface="Calibri"/>
              </a:rPr>
              <a:t>21</a:t>
            </a:fld>
            <a:endParaRPr lang="es-ES" sz="120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352</TotalTime>
  <Words>6015</Words>
  <Application>Microsoft Office PowerPoint</Application>
  <PresentationFormat>Panorámica</PresentationFormat>
  <Paragraphs>518</Paragraphs>
  <Slides>21</Slides>
  <Notes>21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Arial</vt:lpstr>
      <vt:lpstr>Calibri</vt:lpstr>
      <vt:lpstr>Cambria</vt:lpstr>
      <vt:lpstr>Courier New</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CARLOS MARTÍNEZ JAÉN</cp:lastModifiedBy>
  <cp:revision>5</cp:revision>
  <dcterms:created xsi:type="dcterms:W3CDTF">2013-01-27T09:14:16Z</dcterms:created>
  <dcterms:modified xsi:type="dcterms:W3CDTF">2026-09-09T13:58:17Z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