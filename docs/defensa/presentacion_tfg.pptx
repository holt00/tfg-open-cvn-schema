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Pruebas</c:v>
                </c:pt>
              </c:strCache>
            </c:strRef>
          </c:tx>
          <c:spPr>
            <a:solidFill>
              <a:srgbClr val="065A82"/>
            </a:solidFill>
          </c:spPr>
          <c:cat>
            <c:strRef>
              <c:f>Sheet1!$A$2:$A$9</c:f>
              <c:strCache>
                <c:ptCount val="8"/>
                <c:pt idx="0">
                  <c:v>Artefactos generados</c:v>
                </c:pt>
                <c:pt idx="1">
                  <c:v>Normalización y trazabilidad</c:v>
                </c:pt>
                <c:pt idx="2">
                  <c:v>Política semántica</c:v>
                </c:pt>
                <c:pt idx="3">
                  <c:v>JSON Schema y validación</c:v>
                </c:pt>
                <c:pt idx="4">
                  <c:v>Parsers e importadores</c:v>
                </c:pt>
                <c:pt idx="5">
                  <c:v>Almacenamiento y versiones</c:v>
                </c:pt>
                <c:pt idx="6">
                  <c:v>Exportación</c:v>
                </c:pt>
                <c:pt idx="7">
                  <c:v>Extremo a extremo</c:v>
                </c:pt>
              </c:strCache>
            </c:strRef>
          </c:cat>
          <c:val>
            <c:numRef>
              <c:f>Sheet1!$B$2:$B$9</c:f>
              <c:numCache>
                <c:formatCode>General</c:formatCode>
                <c:ptCount val="8"/>
                <c:pt idx="0">
                  <c:v>146</c:v>
                </c:pt>
                <c:pt idx="1">
                  <c:v>90</c:v>
                </c:pt>
                <c:pt idx="2">
                  <c:v>76</c:v>
                </c:pt>
                <c:pt idx="3">
                  <c:v>25</c:v>
                </c:pt>
                <c:pt idx="4">
                  <c:v>63</c:v>
                </c:pt>
                <c:pt idx="5">
                  <c:v>25</c:v>
                </c:pt>
                <c:pt idx="6">
                  <c:v>19</c:v>
                </c:pt>
                <c:pt idx="7">
                  <c:v>44</c:v>
                </c:pt>
              </c:numCache>
            </c:numRef>
          </c:val>
        </c:ser>
        <c:dLbls>
          <c:numFmt formatCode="0" sourceLinked="0"/>
          <c:txPr>
            <a:bodyPr/>
            <a:lstStyle/>
            <a:p>
              <a:pPr>
                <a:defRPr sz="1000">
                  <a:solidFill>
                    <a:srgbClr val="162230"/>
                  </a:solidFill>
                </a:defRPr>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spPr>
          <a:ln>
            <a:solidFill>
              <a:srgbClr val="D8E2EA"/>
            </a:solidFill>
          </a:ln>
        </c:spPr>
        <c:txPr>
          <a:bodyPr/>
          <a:lstStyle/>
          <a:p>
            <a:pPr>
              <a:defRPr sz="1050">
                <a:solidFill>
                  <a:srgbClr val="162230"/>
                </a:solidFill>
              </a:defRPr>
            </a:pPr>
          </a:p>
        </c:txPr>
        <c:crossAx val="-2113994440"/>
        <c:crosses val="autoZero"/>
        <c:auto val="1"/>
        <c:lblAlgn val="ctr"/>
        <c:lblOffset val="100"/>
        <c:noMultiLvlLbl val="0"/>
      </c:catAx>
      <c:valAx>
        <c:axId val="-2113994440"/>
        <c:scaling>
          <c:max val="165.0"/>
          <c:min val="0.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Duracion objetivo: 30 s. Saludo al tribunal, presentacion personal breve y titulo del TFG. Frase puente: 'Voy a presentar Open CVN, una arquitectura computacional abierta para representar, validar, transformar y exportar curriculos academicos tomando CVN como referencia.' Recordar en voz baja el guion propio: objetivos, metodologia, contenido y conclusiones, en 25 minutos.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Duracion objetivo: 40 s. Recorrer el indice en voz alta rapidamente, sin detenerse en cada punto. Insistir en que la estructura sigue lo que exige la normativa: objetivos, metodologia, contenido y conclusiones.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Duracion objetivo: 90 s. Explicar que CVN (FECYT) normaliza la presentacion curricular en Espana, pero que la automatizacion real sigue siendo costosa: actualizar, adaptar y reutilizar un curriculo exige trabajo manual. Esta es la motivacion de partida del TFG, antes de entrar en como funciona CVN por dentro.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Duracion objetivo: 100 s. Sin entrar en estado del arte: solo explicar en que se basa CVN. Mostrar las cuatro capas del paquete oficial (manual PDF, manual XML, modelo en arbol, XSD) mas las tres familias auxiliares (entidades, tablas de referencia/subtipos, tesauro). Idea clave: CVN es un ecosistema de artefactos oficiales, XML es el mecanismo de representacion, no el unico objeto del trabajo.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Duracion objetivo: 100 s. Leer el objetivo general con calma (esa frase es la columna vertebral de toda la defensa, volvera en conclusiones). Despues recorrer los 4 bloques de objetivos especificos sin detenerse en cada OE individual; mencionar que se retomaran uno a uno en las conclusiones con su grado de cumplimiento.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Duracion objetivo: 90 s. Mostrar evidencia tecnica concreta sin dramatizar: son cuatro tipos de limitacion detectados al analizar el paquete oficial, cada una con una respuesta de diseno ya en Open CVN. Cerrar dejando claro que CVN sigue siendo valido para su proposito original de interoperabilidad documental.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Duracion objetivo: 80 s. Presentar la figura de separacion entre CVN y Open CVN: el paquete oficial no se copia como modelo interno, se transforma de forma trazable en metadatos normalizados, luego politica semantica, luego modelo conceptual y finalmente el formato Open CVN JSON. Esta diapositiva es el puente hacia metodologia y arquitectura.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Duracion objetivo: 90 s. El proceso no fue un desarrollo de producto con sprints: cinco fases (analisis, exploracion de artefactos, diseno incremental, implementacion reproducible, verificacion) con documentacion continua de decisiones y limitaciones como criterio transversal. Repasar brevemente las herramientas clave: Python/uv, xsdata, Pydantic, JSON Schema, SQLite, Jinja, pytest, Git/GitHub Actions.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Duracion objetivo: 90 s. Mostrar la figura de arquitectura por capas y explicar los cuatro bloques: fuente CVN (frontera externa), generacion y normalizacion (bindings + metadatos + politica semantica), dominio/modelo conceptual/formato, y herramienta local. Cada bloque corresponde a un modulo real del repositorio; el detalle de implementacion vendra en la siguiente diapositiva.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Duracion objetivo: 100 s. Explicar las cuatro etapas del segundo bloque de la arquitectura: generacion estructural, normalizacion por codigo CVN, resolucion de referencias auxiliares y politica semantica. Insistir en que el codigo generado nunca se edita a mano: la limpieza semantica ocurre en capas posteriores.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Duracion objetivo: 80 s. Dar las cifras ya verificadas: 1457 entradas normalizadas, 1429 en ambas fuentes, 557 con tabla de referencia declarada, 33 discrepancias, 1 referencia no resuelta (CVN_AGENCY_C). El mensaje es que cada resolucion se apoya en evidencia concreta del paquete, no en suposiciones.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Duracion objetivo: 90 s. Enumerar rapido las nueve formas semanticas reconocidas. Detenerse en el ejemplo del campo de sexo (CVN_SEX_A): enumeracion cerrada con dos valores, el ejemplo mas simple, usado como hilo conductor en la memoria desde normalizacion hasta el JSON final.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Duracion objetivo: 90 s. Explicar que esta etapa produce dos artefactos distintos: los modelos de dominio en Pydantic (105 archivos) y, por separado, el modelo conceptual agnostico que ya no vuelve a leer XML/XSD. Mostrar la vista UML compacta como el puente hacia el JSON Schema (182 definiciones, 74 vocabularios controlados).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Duracion objetivo: 90 s. Mostrar la estructura raiz minima: cuatro campos (schema_version, metadata, curriculum, extensions). Explicar que curriculum se organiza por area conceptual (identity, education, research, professional experience, achievements, other) y no por estructura XML. Mencionar la forma comun de las referencias controladas, reutilizando el ejemplo de sexo ya visto.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Duracion objetivo: 90 s. El contrato publico expone cuatro funciones (leer, validar, importar XML, importar PDF) que devuelven siempre la misma estructura de resultado, con cinco estados posibles. Explicar por que existe 'valido con avisos': para senializar casos semanticamente atipicos sin bloquear el documento. Recorrer brevemente el diagrama de flujo de importacion/validacion.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Duracion objetivo: 100 s. Explicar los tres caminos de importacion en orden de prioridad: JSON directo, XML con mapeo parcial, PDF con extraccion determinista y LLM opcional solo como ultimo recurso autorizado y validado despues. Despues presentar la herramienta local: modelo maestro / version derivada y los comandos principales de la CLI.</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Duracion objetivo: 100 s. Presentar el resultado central de la evaluacion: 488 pruebas, 8 niveles alineados con la arquitectura, 0 fallos, 692,80 segundos en paralelo. Un unico comando ejecuta todo, tanto en local como en CI. Este es el dato que sostiene todas las afirmaciones tecnicas anteriores.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Duracion objetivo: 90 s. Distinguir con precision: garantias fuertes donde el proceso es determinista (generacion, normalizacion, politica semantica, validacion Open CVN JSON) frente a garantias parciales y documentadas (importacion XML, importacion LLM, generacion PDF). Es el momento de dejar clara la honestidad tecnica del trabajo antes de pasar a conclusiones.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Duracion objetivo: 90 s. Retomar los diez objetivos especificos del capitulo 1 en el mismo orden. Nueve se dan por cumplidos de forma determinista; OE9 (importacion) se cumple con garantias parciales de forma deliberada: la importacion asistida por LLM es opcional y no autoritativa sin revision, una decision de diseno, no una carencia.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Duracion objetivo: 70 s. Enumerar las siete contribuciones con ritmo, sin detenerse en cada una: analisis del ecosistema CVN, arquitectura reproducible por capas, trazabilidad CVN-Open CVN, formato JSON, herramientas de validacion, importacion determinista/LLM y verificacion automatizada. Recordar que ninguna sustituye al ecosistema CVN oficial: lo complementan.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Duracion objetivo: 90 s. Cerrar con la conclusion central: la arquitectura por capas, no el JSON ni la herramienta, es la aportacion principal. Las limitaciones no comprometen esta conclusion: unas vienen del propio paquete CVN, otras son decisiones deliberadas de alcance de un TFG. Repasar rapido las cinco lineas futuras sin extenderse, dejando tiempo para preguntas.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Cierre: agradecer al tribunal, indicar explicitamente que se abre el turno de preguntas segun la normativa (exponer objetivos, metodologia, contenido y conclusiones; despues, preguntas del tribunal). Mantener la calma, escuchar la pregunta completa antes de responder, y si hace falta pedir que se repita o aclare sin problema.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1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199632"/>
            <a:ext cx="12191695" cy="1828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419088"/>
            <a:ext cx="8595360" cy="18288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638544"/>
            <a:ext cx="5120640" cy="182880"/>
          </a:xfrm>
          <a:prstGeom prst="rect">
            <a:avLst/>
          </a:prstGeom>
          <a:solidFill>
            <a:srgbClr val="E09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66928"/>
            <a:ext cx="7315200" cy="365760"/>
          </a:xfrm>
          <a:prstGeom prst="rect">
            <a:avLst/>
          </a:prstGeom>
          <a:noFill/>
        </p:spPr>
        <p:txBody>
          <a:bodyPr wrap="square" lIns="0" rIns="0" tIns="0" bIns="0" anchor="t">
            <a:spAutoFit/>
          </a:bodyPr>
          <a:lstStyle/>
          <a:p>
            <a:pPr algn="l"/>
            <a:r>
              <a:rPr sz="1250" b="1" i="0">
                <a:solidFill>
                  <a:srgbClr val="E09A3E"/>
                </a:solidFill>
                <a:latin typeface="Calibri"/>
              </a:rPr>
              <a:t>TRABAJO FIN DE GRADO · INTENSIFICACIÓN EN COMPUTACIÓN</a:t>
            </a:r>
          </a:p>
        </p:txBody>
      </p:sp>
      <p:sp>
        <p:nvSpPr>
          <p:cNvPr id="7" name="TextBox 6"/>
          <p:cNvSpPr txBox="1"/>
          <p:nvPr/>
        </p:nvSpPr>
        <p:spPr>
          <a:xfrm>
            <a:off x="640080" y="1234440"/>
            <a:ext cx="10607040" cy="2103120"/>
          </a:xfrm>
          <a:prstGeom prst="rect">
            <a:avLst/>
          </a:prstGeom>
          <a:noFill/>
        </p:spPr>
        <p:txBody>
          <a:bodyPr wrap="square" lIns="0" rIns="0" tIns="0" bIns="0" anchor="t">
            <a:spAutoFit/>
          </a:bodyPr>
          <a:lstStyle/>
          <a:p>
            <a:pPr algn="l">
              <a:lnSpc>
                <a:spcPct val="108000"/>
              </a:lnSpc>
            </a:pPr>
            <a:r>
              <a:rPr sz="3000" b="1" i="0">
                <a:solidFill>
                  <a:srgbClr val="FFFFFF"/>
                </a:solidFill>
                <a:latin typeface="Cambria"/>
              </a:rPr>
              <a:t>Especificación de formato y desarrollo de herramientas para el procesamiento de currículum vítae en el ámbito académico universitario</a:t>
            </a:r>
          </a:p>
        </p:txBody>
      </p:sp>
      <p:sp>
        <p:nvSpPr>
          <p:cNvPr id="8" name="TextBox 7"/>
          <p:cNvSpPr txBox="1"/>
          <p:nvPr/>
        </p:nvSpPr>
        <p:spPr>
          <a:xfrm>
            <a:off x="640080" y="3310128"/>
            <a:ext cx="10424160" cy="777240"/>
          </a:xfrm>
          <a:prstGeom prst="rect">
            <a:avLst/>
          </a:prstGeom>
          <a:noFill/>
        </p:spPr>
        <p:txBody>
          <a:bodyPr wrap="square" lIns="0" rIns="0" tIns="0" bIns="0" anchor="t">
            <a:spAutoFit/>
          </a:bodyPr>
          <a:lstStyle/>
          <a:p>
            <a:pPr algn="l">
              <a:lnSpc>
                <a:spcPct val="105000"/>
              </a:lnSpc>
            </a:pPr>
            <a:r>
              <a:rPr sz="1650" b="0" i="1">
                <a:solidFill>
                  <a:srgbClr val="E9F1F7"/>
                </a:solidFill>
                <a:latin typeface="Calibri"/>
              </a:rPr>
              <a:t>Open CVN: una arquitectura computacional abierta para representar, validar, transformar y exportar currículos académicos</a:t>
            </a:r>
          </a:p>
        </p:txBody>
      </p:sp>
      <p:sp>
        <p:nvSpPr>
          <p:cNvPr id="9" name="TextBox 8"/>
          <p:cNvSpPr txBox="1"/>
          <p:nvPr/>
        </p:nvSpPr>
        <p:spPr>
          <a:xfrm>
            <a:off x="640080" y="4343400"/>
            <a:ext cx="7315200" cy="365760"/>
          </a:xfrm>
          <a:prstGeom prst="rect">
            <a:avLst/>
          </a:prstGeom>
          <a:noFill/>
        </p:spPr>
        <p:txBody>
          <a:bodyPr wrap="square" lIns="0" rIns="0" tIns="0" bIns="0" anchor="t">
            <a:spAutoFit/>
          </a:bodyPr>
          <a:lstStyle/>
          <a:p>
            <a:pPr algn="l"/>
            <a:r>
              <a:rPr sz="1700" b="1" i="0">
                <a:solidFill>
                  <a:srgbClr val="FFFFFF"/>
                </a:solidFill>
                <a:latin typeface="Cambria"/>
              </a:rPr>
              <a:t>Carlos Martínez Jaén</a:t>
            </a:r>
          </a:p>
        </p:txBody>
      </p:sp>
      <p:sp>
        <p:nvSpPr>
          <p:cNvPr id="10" name="TextBox 9"/>
          <p:cNvSpPr txBox="1"/>
          <p:nvPr/>
        </p:nvSpPr>
        <p:spPr>
          <a:xfrm>
            <a:off x="640080" y="4736592"/>
            <a:ext cx="7315200" cy="320040"/>
          </a:xfrm>
          <a:prstGeom prst="rect">
            <a:avLst/>
          </a:prstGeom>
          <a:noFill/>
        </p:spPr>
        <p:txBody>
          <a:bodyPr wrap="square" lIns="0" rIns="0" tIns="0" bIns="0" anchor="t">
            <a:spAutoFit/>
          </a:bodyPr>
          <a:lstStyle/>
          <a:p>
            <a:pPr algn="l"/>
            <a:r>
              <a:rPr sz="1250" b="0" i="0">
                <a:solidFill>
                  <a:srgbClr val="A9BFD1"/>
                </a:solidFill>
                <a:latin typeface="Calibri"/>
              </a:rPr>
              <a:t>Directores: Luis De la Ossa Jiménez · José Antonio Gámez Martín</a:t>
            </a:r>
          </a:p>
        </p:txBody>
      </p:sp>
      <p:sp>
        <p:nvSpPr>
          <p:cNvPr id="11" name="TextBox 10"/>
          <p:cNvSpPr txBox="1"/>
          <p:nvPr/>
        </p:nvSpPr>
        <p:spPr>
          <a:xfrm>
            <a:off x="640080" y="5047488"/>
            <a:ext cx="7315200" cy="320040"/>
          </a:xfrm>
          <a:prstGeom prst="rect">
            <a:avLst/>
          </a:prstGeom>
          <a:noFill/>
        </p:spPr>
        <p:txBody>
          <a:bodyPr wrap="square" lIns="0" rIns="0" tIns="0" bIns="0" anchor="t">
            <a:spAutoFit/>
          </a:bodyPr>
          <a:lstStyle/>
          <a:p>
            <a:pPr algn="l"/>
            <a:r>
              <a:rPr sz="1250" b="0" i="0">
                <a:solidFill>
                  <a:srgbClr val="A9BFD1"/>
                </a:solidFill>
                <a:latin typeface="Calibri"/>
              </a:rPr>
              <a:t>Escuela Superior de Ingeniería Informática de Albacete · Universidad de Castilla-La Mancha</a:t>
            </a:r>
          </a:p>
        </p:txBody>
      </p:sp>
      <p:sp>
        <p:nvSpPr>
          <p:cNvPr id="12" name="TextBox 11"/>
          <p:cNvSpPr txBox="1"/>
          <p:nvPr/>
        </p:nvSpPr>
        <p:spPr>
          <a:xfrm>
            <a:off x="640080" y="5358384"/>
            <a:ext cx="7315200" cy="320040"/>
          </a:xfrm>
          <a:prstGeom prst="rect">
            <a:avLst/>
          </a:prstGeom>
          <a:noFill/>
        </p:spPr>
        <p:txBody>
          <a:bodyPr wrap="square" lIns="0" rIns="0" tIns="0" bIns="0" anchor="t">
            <a:spAutoFit/>
          </a:bodyPr>
          <a:lstStyle/>
          <a:p>
            <a:pPr algn="l"/>
            <a:r>
              <a:rPr sz="1250" b="0" i="0">
                <a:solidFill>
                  <a:srgbClr val="A9BFD1"/>
                </a:solidFill>
                <a:latin typeface="Calibri"/>
              </a:rPr>
              <a:t>Julio de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9144000" cy="320040"/>
          </a:xfrm>
          <a:prstGeom prst="rect">
            <a:avLst/>
          </a:prstGeom>
          <a:noFill/>
        </p:spPr>
        <p:txBody>
          <a:bodyPr wrap="square" lIns="0" rIns="0" tIns="0" bIns="0" anchor="t">
            <a:spAutoFit/>
          </a:bodyPr>
          <a:lstStyle/>
          <a:p>
            <a:pPr algn="l"/>
            <a:r>
              <a:rPr sz="1300" b="1" i="0">
                <a:solidFill>
                  <a:srgbClr val="1C7293"/>
                </a:solidFill>
                <a:latin typeface="Calibri"/>
              </a:rPr>
              <a:t>GUION DE LA DEFENSA</a:t>
            </a:r>
          </a:p>
        </p:txBody>
      </p:sp>
      <p:sp>
        <p:nvSpPr>
          <p:cNvPr id="4" name="TextBox 3"/>
          <p:cNvSpPr txBox="1"/>
          <p:nvPr/>
        </p:nvSpPr>
        <p:spPr>
          <a:xfrm>
            <a:off x="548640" y="658368"/>
            <a:ext cx="11064240" cy="822960"/>
          </a:xfrm>
          <a:prstGeom prst="rect">
            <a:avLst/>
          </a:prstGeom>
          <a:noFill/>
        </p:spPr>
        <p:txBody>
          <a:bodyPr wrap="square" lIns="0" rIns="0" tIns="0" bIns="0" anchor="t">
            <a:spAutoFit/>
          </a:bodyPr>
          <a:lstStyle/>
          <a:p>
            <a:pPr algn="l">
              <a:lnSpc>
                <a:spcPct val="102000"/>
              </a:lnSpc>
            </a:pPr>
            <a:r>
              <a:rPr sz="3000" b="1" i="0">
                <a:solidFill>
                  <a:srgbClr val="11243A"/>
                </a:solidFill>
                <a:latin typeface="Cambria"/>
              </a:rPr>
              <a:t>Índice</a:t>
            </a:r>
          </a:p>
        </p:txBody>
      </p:sp>
      <p:sp>
        <p:nvSpPr>
          <p:cNvPr id="5" name="Oval 4"/>
          <p:cNvSpPr/>
          <p:nvPr/>
        </p:nvSpPr>
        <p:spPr>
          <a:xfrm>
            <a:off x="640080" y="1783080"/>
            <a:ext cx="457200" cy="45720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0" bIns="0"/>
          <a:lstStyle/>
          <a:p>
            <a:pPr algn="ctr"/>
            <a:r>
              <a:rPr sz="1500" b="1">
                <a:solidFill>
                  <a:srgbClr val="FFFFFF"/>
                </a:solidFill>
                <a:latin typeface="Calibri"/>
              </a:rPr>
              <a:t>1</a:t>
            </a:r>
          </a:p>
        </p:txBody>
      </p:sp>
      <p:sp>
        <p:nvSpPr>
          <p:cNvPr id="6" name="TextBox 5"/>
          <p:cNvSpPr txBox="1"/>
          <p:nvPr/>
        </p:nvSpPr>
        <p:spPr>
          <a:xfrm>
            <a:off x="1261872" y="1801368"/>
            <a:ext cx="4389120" cy="457200"/>
          </a:xfrm>
          <a:prstGeom prst="rect">
            <a:avLst/>
          </a:prstGeom>
          <a:noFill/>
        </p:spPr>
        <p:txBody>
          <a:bodyPr wrap="square" lIns="0" rIns="0" tIns="0" bIns="0" anchor="ctr">
            <a:spAutoFit/>
          </a:bodyPr>
          <a:lstStyle/>
          <a:p>
            <a:pPr algn="l"/>
            <a:r>
              <a:rPr sz="1600" b="1" i="0">
                <a:solidFill>
                  <a:srgbClr val="162230"/>
                </a:solidFill>
                <a:latin typeface="Calibri"/>
              </a:rPr>
              <a:t>Motivación y contexto</a:t>
            </a:r>
          </a:p>
        </p:txBody>
      </p:sp>
      <p:sp>
        <p:nvSpPr>
          <p:cNvPr id="7" name="Oval 6"/>
          <p:cNvSpPr/>
          <p:nvPr/>
        </p:nvSpPr>
        <p:spPr>
          <a:xfrm>
            <a:off x="640080" y="2569464"/>
            <a:ext cx="457200" cy="45720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0" bIns="0"/>
          <a:lstStyle/>
          <a:p>
            <a:pPr algn="ctr"/>
            <a:r>
              <a:rPr sz="1500" b="1">
                <a:solidFill>
                  <a:srgbClr val="FFFFFF"/>
                </a:solidFill>
                <a:latin typeface="Calibri"/>
              </a:rPr>
              <a:t>2</a:t>
            </a:r>
          </a:p>
        </p:txBody>
      </p:sp>
      <p:sp>
        <p:nvSpPr>
          <p:cNvPr id="8" name="TextBox 7"/>
          <p:cNvSpPr txBox="1"/>
          <p:nvPr/>
        </p:nvSpPr>
        <p:spPr>
          <a:xfrm>
            <a:off x="1261872" y="2587752"/>
            <a:ext cx="4389120" cy="457200"/>
          </a:xfrm>
          <a:prstGeom prst="rect">
            <a:avLst/>
          </a:prstGeom>
          <a:noFill/>
        </p:spPr>
        <p:txBody>
          <a:bodyPr wrap="square" lIns="0" rIns="0" tIns="0" bIns="0" anchor="ctr">
            <a:spAutoFit/>
          </a:bodyPr>
          <a:lstStyle/>
          <a:p>
            <a:pPr algn="l"/>
            <a:r>
              <a:rPr sz="1600" b="1" i="0">
                <a:solidFill>
                  <a:srgbClr val="162230"/>
                </a:solidFill>
                <a:latin typeface="Calibri"/>
              </a:rPr>
              <a:t>Objetivos del trabajo</a:t>
            </a:r>
          </a:p>
        </p:txBody>
      </p:sp>
      <p:sp>
        <p:nvSpPr>
          <p:cNvPr id="9" name="Oval 8"/>
          <p:cNvSpPr/>
          <p:nvPr/>
        </p:nvSpPr>
        <p:spPr>
          <a:xfrm>
            <a:off x="640080" y="3355848"/>
            <a:ext cx="457200" cy="45720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0" bIns="0"/>
          <a:lstStyle/>
          <a:p>
            <a:pPr algn="ctr"/>
            <a:r>
              <a:rPr sz="1500" b="1">
                <a:solidFill>
                  <a:srgbClr val="FFFFFF"/>
                </a:solidFill>
                <a:latin typeface="Calibri"/>
              </a:rPr>
              <a:t>3</a:t>
            </a:r>
          </a:p>
        </p:txBody>
      </p:sp>
      <p:sp>
        <p:nvSpPr>
          <p:cNvPr id="10" name="TextBox 9"/>
          <p:cNvSpPr txBox="1"/>
          <p:nvPr/>
        </p:nvSpPr>
        <p:spPr>
          <a:xfrm>
            <a:off x="1261872" y="3374136"/>
            <a:ext cx="4389120" cy="457200"/>
          </a:xfrm>
          <a:prstGeom prst="rect">
            <a:avLst/>
          </a:prstGeom>
          <a:noFill/>
        </p:spPr>
        <p:txBody>
          <a:bodyPr wrap="square" lIns="0" rIns="0" tIns="0" bIns="0" anchor="ctr">
            <a:spAutoFit/>
          </a:bodyPr>
          <a:lstStyle/>
          <a:p>
            <a:pPr algn="l"/>
            <a:r>
              <a:rPr sz="1600" b="1" i="0">
                <a:solidFill>
                  <a:srgbClr val="162230"/>
                </a:solidFill>
                <a:latin typeface="Calibri"/>
              </a:rPr>
              <a:t>El ecosistema CVN y su análisis</a:t>
            </a:r>
          </a:p>
        </p:txBody>
      </p:sp>
      <p:sp>
        <p:nvSpPr>
          <p:cNvPr id="11" name="Oval 10"/>
          <p:cNvSpPr/>
          <p:nvPr/>
        </p:nvSpPr>
        <p:spPr>
          <a:xfrm>
            <a:off x="640080" y="4142232"/>
            <a:ext cx="457200" cy="45720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0" bIns="0"/>
          <a:lstStyle/>
          <a:p>
            <a:pPr algn="ctr"/>
            <a:r>
              <a:rPr sz="1500" b="1">
                <a:solidFill>
                  <a:srgbClr val="FFFFFF"/>
                </a:solidFill>
                <a:latin typeface="Calibri"/>
              </a:rPr>
              <a:t>4</a:t>
            </a:r>
          </a:p>
        </p:txBody>
      </p:sp>
      <p:sp>
        <p:nvSpPr>
          <p:cNvPr id="12" name="TextBox 11"/>
          <p:cNvSpPr txBox="1"/>
          <p:nvPr/>
        </p:nvSpPr>
        <p:spPr>
          <a:xfrm>
            <a:off x="1261872" y="4160520"/>
            <a:ext cx="4389120" cy="457200"/>
          </a:xfrm>
          <a:prstGeom prst="rect">
            <a:avLst/>
          </a:prstGeom>
          <a:noFill/>
        </p:spPr>
        <p:txBody>
          <a:bodyPr wrap="square" lIns="0" rIns="0" tIns="0" bIns="0" anchor="ctr">
            <a:spAutoFit/>
          </a:bodyPr>
          <a:lstStyle/>
          <a:p>
            <a:pPr algn="l"/>
            <a:r>
              <a:rPr sz="1600" b="1" i="0">
                <a:solidFill>
                  <a:srgbClr val="162230"/>
                </a:solidFill>
                <a:latin typeface="Calibri"/>
              </a:rPr>
              <a:t>Metodología y arquitectura</a:t>
            </a:r>
          </a:p>
        </p:txBody>
      </p:sp>
      <p:sp>
        <p:nvSpPr>
          <p:cNvPr id="13" name="Oval 12"/>
          <p:cNvSpPr/>
          <p:nvPr/>
        </p:nvSpPr>
        <p:spPr>
          <a:xfrm>
            <a:off x="6309360" y="1783080"/>
            <a:ext cx="457200" cy="45720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0" bIns="0"/>
          <a:lstStyle/>
          <a:p>
            <a:pPr algn="ctr"/>
            <a:r>
              <a:rPr sz="1500" b="1">
                <a:solidFill>
                  <a:srgbClr val="FFFFFF"/>
                </a:solidFill>
                <a:latin typeface="Calibri"/>
              </a:rPr>
              <a:t>5</a:t>
            </a:r>
          </a:p>
        </p:txBody>
      </p:sp>
      <p:sp>
        <p:nvSpPr>
          <p:cNvPr id="14" name="TextBox 13"/>
          <p:cNvSpPr txBox="1"/>
          <p:nvPr/>
        </p:nvSpPr>
        <p:spPr>
          <a:xfrm>
            <a:off x="6931152" y="1801368"/>
            <a:ext cx="4389120" cy="457200"/>
          </a:xfrm>
          <a:prstGeom prst="rect">
            <a:avLst/>
          </a:prstGeom>
          <a:noFill/>
        </p:spPr>
        <p:txBody>
          <a:bodyPr wrap="square" lIns="0" rIns="0" tIns="0" bIns="0" anchor="ctr">
            <a:spAutoFit/>
          </a:bodyPr>
          <a:lstStyle/>
          <a:p>
            <a:pPr algn="l"/>
            <a:r>
              <a:rPr sz="1600" b="1" i="0">
                <a:solidFill>
                  <a:srgbClr val="162230"/>
                </a:solidFill>
                <a:latin typeface="Calibri"/>
              </a:rPr>
              <a:t>Implementación del pipeline</a:t>
            </a:r>
          </a:p>
        </p:txBody>
      </p:sp>
      <p:sp>
        <p:nvSpPr>
          <p:cNvPr id="15" name="Oval 14"/>
          <p:cNvSpPr/>
          <p:nvPr/>
        </p:nvSpPr>
        <p:spPr>
          <a:xfrm>
            <a:off x="6309360" y="2569464"/>
            <a:ext cx="457200" cy="45720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0" bIns="0"/>
          <a:lstStyle/>
          <a:p>
            <a:pPr algn="ctr"/>
            <a:r>
              <a:rPr sz="1500" b="1">
                <a:solidFill>
                  <a:srgbClr val="FFFFFF"/>
                </a:solidFill>
                <a:latin typeface="Calibri"/>
              </a:rPr>
              <a:t>6</a:t>
            </a:r>
          </a:p>
        </p:txBody>
      </p:sp>
      <p:sp>
        <p:nvSpPr>
          <p:cNvPr id="16" name="TextBox 15"/>
          <p:cNvSpPr txBox="1"/>
          <p:nvPr/>
        </p:nvSpPr>
        <p:spPr>
          <a:xfrm>
            <a:off x="6931152" y="2587752"/>
            <a:ext cx="4389120" cy="457200"/>
          </a:xfrm>
          <a:prstGeom prst="rect">
            <a:avLst/>
          </a:prstGeom>
          <a:noFill/>
        </p:spPr>
        <p:txBody>
          <a:bodyPr wrap="square" lIns="0" rIns="0" tIns="0" bIns="0" anchor="ctr">
            <a:spAutoFit/>
          </a:bodyPr>
          <a:lstStyle/>
          <a:p>
            <a:pPr algn="l"/>
            <a:r>
              <a:rPr sz="1600" b="1" i="0">
                <a:solidFill>
                  <a:srgbClr val="162230"/>
                </a:solidFill>
                <a:latin typeface="Calibri"/>
              </a:rPr>
              <a:t>Formato Open CVN y herramienta</a:t>
            </a:r>
          </a:p>
        </p:txBody>
      </p:sp>
      <p:sp>
        <p:nvSpPr>
          <p:cNvPr id="17" name="Oval 16"/>
          <p:cNvSpPr/>
          <p:nvPr/>
        </p:nvSpPr>
        <p:spPr>
          <a:xfrm>
            <a:off x="6309360" y="3355848"/>
            <a:ext cx="457200" cy="45720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0" bIns="0"/>
          <a:lstStyle/>
          <a:p>
            <a:pPr algn="ctr"/>
            <a:r>
              <a:rPr sz="1500" b="1">
                <a:solidFill>
                  <a:srgbClr val="FFFFFF"/>
                </a:solidFill>
                <a:latin typeface="Calibri"/>
              </a:rPr>
              <a:t>7</a:t>
            </a:r>
          </a:p>
        </p:txBody>
      </p:sp>
      <p:sp>
        <p:nvSpPr>
          <p:cNvPr id="18" name="TextBox 17"/>
          <p:cNvSpPr txBox="1"/>
          <p:nvPr/>
        </p:nvSpPr>
        <p:spPr>
          <a:xfrm>
            <a:off x="6931152" y="3374136"/>
            <a:ext cx="4389120" cy="457200"/>
          </a:xfrm>
          <a:prstGeom prst="rect">
            <a:avLst/>
          </a:prstGeom>
          <a:noFill/>
        </p:spPr>
        <p:txBody>
          <a:bodyPr wrap="square" lIns="0" rIns="0" tIns="0" bIns="0" anchor="ctr">
            <a:spAutoFit/>
          </a:bodyPr>
          <a:lstStyle/>
          <a:p>
            <a:pPr algn="l"/>
            <a:r>
              <a:rPr sz="1600" b="1" i="0">
                <a:solidFill>
                  <a:srgbClr val="162230"/>
                </a:solidFill>
                <a:latin typeface="Calibri"/>
              </a:rPr>
              <a:t>Evaluación y resultados</a:t>
            </a:r>
          </a:p>
        </p:txBody>
      </p:sp>
      <p:sp>
        <p:nvSpPr>
          <p:cNvPr id="19" name="Oval 18"/>
          <p:cNvSpPr/>
          <p:nvPr/>
        </p:nvSpPr>
        <p:spPr>
          <a:xfrm>
            <a:off x="6309360" y="4142232"/>
            <a:ext cx="457200" cy="45720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0" bIns="0"/>
          <a:lstStyle/>
          <a:p>
            <a:pPr algn="ctr"/>
            <a:r>
              <a:rPr sz="1500" b="1">
                <a:solidFill>
                  <a:srgbClr val="FFFFFF"/>
                </a:solidFill>
                <a:latin typeface="Calibri"/>
              </a:rPr>
              <a:t>8</a:t>
            </a:r>
          </a:p>
        </p:txBody>
      </p:sp>
      <p:sp>
        <p:nvSpPr>
          <p:cNvPr id="20" name="TextBox 19"/>
          <p:cNvSpPr txBox="1"/>
          <p:nvPr/>
        </p:nvSpPr>
        <p:spPr>
          <a:xfrm>
            <a:off x="6931152" y="4160520"/>
            <a:ext cx="4389120" cy="457200"/>
          </a:xfrm>
          <a:prstGeom prst="rect">
            <a:avLst/>
          </a:prstGeom>
          <a:noFill/>
        </p:spPr>
        <p:txBody>
          <a:bodyPr wrap="square" lIns="0" rIns="0" tIns="0" bIns="0" anchor="ctr">
            <a:spAutoFit/>
          </a:bodyPr>
          <a:lstStyle/>
          <a:p>
            <a:pPr algn="l"/>
            <a:r>
              <a:rPr sz="1600" b="1" i="0">
                <a:solidFill>
                  <a:srgbClr val="162230"/>
                </a:solidFill>
                <a:latin typeface="Calibri"/>
              </a:rPr>
              <a:t>Conclusiones y trabajo futuro</a:t>
            </a:r>
          </a:p>
        </p:txBody>
      </p:sp>
      <p:sp>
        <p:nvSpPr>
          <p:cNvPr id="21" name="Rounded Rectangle 20"/>
          <p:cNvSpPr/>
          <p:nvPr/>
        </p:nvSpPr>
        <p:spPr>
          <a:xfrm>
            <a:off x="640080" y="5440680"/>
            <a:ext cx="10881360" cy="822960"/>
          </a:xfrm>
          <a:prstGeom prst="roundRect">
            <a:avLst>
              <a:gd name="adj" fmla="val 12000"/>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8680" y="5577840"/>
            <a:ext cx="10424160" cy="594360"/>
          </a:xfrm>
          <a:prstGeom prst="rect">
            <a:avLst/>
          </a:prstGeom>
          <a:noFill/>
        </p:spPr>
        <p:txBody>
          <a:bodyPr wrap="square" lIns="0" rIns="0" tIns="0" bIns="0" anchor="ctr">
            <a:spAutoFit/>
          </a:bodyPr>
          <a:lstStyle/>
          <a:p>
            <a:pPr algn="l"/>
            <a:r>
              <a:rPr sz="1300" b="0" i="1">
                <a:solidFill>
                  <a:srgbClr val="5B6B7A"/>
                </a:solidFill>
                <a:latin typeface="Calibri"/>
              </a:rPr>
              <a:t>25 minutos de exposición: objetivos, metodología, contenido y conclusiones del trabajo. Después, turno de preguntas del tribunal.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9144000" cy="320040"/>
          </a:xfrm>
          <a:prstGeom prst="rect">
            <a:avLst/>
          </a:prstGeom>
          <a:noFill/>
        </p:spPr>
        <p:txBody>
          <a:bodyPr wrap="square" lIns="0" rIns="0" tIns="0" bIns="0" anchor="t">
            <a:spAutoFit/>
          </a:bodyPr>
          <a:lstStyle/>
          <a:p>
            <a:pPr algn="l"/>
            <a:r>
              <a:rPr sz="1300" b="1" i="0">
                <a:solidFill>
                  <a:srgbClr val="1C7293"/>
                </a:solidFill>
                <a:latin typeface="Calibri"/>
              </a:rPr>
              <a:t>1 · MOTIVACIÓN Y CONTEXTO</a:t>
            </a:r>
          </a:p>
        </p:txBody>
      </p:sp>
      <p:sp>
        <p:nvSpPr>
          <p:cNvPr id="4" name="TextBox 3"/>
          <p:cNvSpPr txBox="1"/>
          <p:nvPr/>
        </p:nvSpPr>
        <p:spPr>
          <a:xfrm>
            <a:off x="548640" y="658368"/>
            <a:ext cx="11064240" cy="822960"/>
          </a:xfrm>
          <a:prstGeom prst="rect">
            <a:avLst/>
          </a:prstGeom>
          <a:noFill/>
        </p:spPr>
        <p:txBody>
          <a:bodyPr wrap="square" lIns="0" rIns="0" tIns="0" bIns="0" anchor="t">
            <a:spAutoFit/>
          </a:bodyPr>
          <a:lstStyle/>
          <a:p>
            <a:pPr algn="l">
              <a:lnSpc>
                <a:spcPct val="102000"/>
              </a:lnSpc>
            </a:pPr>
            <a:r>
              <a:rPr sz="3000" b="1" i="0">
                <a:solidFill>
                  <a:srgbClr val="11243A"/>
                </a:solidFill>
                <a:latin typeface="Cambria"/>
              </a:rPr>
              <a:t>El coste no está en el formato, está en usarlo</a:t>
            </a:r>
          </a:p>
        </p:txBody>
      </p:sp>
      <p:sp>
        <p:nvSpPr>
          <p:cNvPr id="5" name="TextBox 4"/>
          <p:cNvSpPr txBox="1"/>
          <p:nvPr/>
        </p:nvSpPr>
        <p:spPr>
          <a:xfrm>
            <a:off x="640080" y="1783080"/>
            <a:ext cx="6309360" cy="4206240"/>
          </a:xfrm>
          <a:prstGeom prst="rect">
            <a:avLst/>
          </a:prstGeom>
          <a:noFill/>
        </p:spPr>
        <p:txBody>
          <a:bodyPr wrap="square" anchor="t" lIns="0" rIns="0" tIns="0" bIns="0">
            <a:spAutoFit/>
          </a:bodyPr>
          <a:lstStyle/>
          <a:p>
            <a:pPr algn="l" marL="256032" indent="-256032">
              <a:lnSpc>
                <a:spcPct val="108000"/>
              </a:lnSpc>
              <a:spcAft>
                <a:spcPts val="1800"/>
              </a:spcAft>
              <a:buClr>
                <a:srgbClr val="065A82"/>
              </a:buClr>
              <a:buSzPct val="55000"/>
              <a:buFont typeface="Arial"/>
              <a:buChar char="●"/>
            </a:pPr>
            <a:r>
              <a:rPr b="1" sz="1550">
                <a:solidFill>
                  <a:srgbClr val="162230"/>
                </a:solidFill>
                <a:latin typeface="Calibri"/>
              </a:rPr>
              <a:t>Norma de referencia. </a:t>
            </a:r>
            <a:r>
              <a:rPr sz="1550">
                <a:solidFill>
                  <a:srgbClr val="162230"/>
                </a:solidFill>
                <a:latin typeface="Calibri"/>
              </a:rPr>
              <a:t>FECYT define CVN como el formato común de presentación de datos curriculares de investigadores en España, y su interoperabilidad con bases de datos institucionales.</a:t>
            </a:r>
          </a:p>
          <a:p>
            <a:pPr algn="l" marL="256032" indent="-256032">
              <a:lnSpc>
                <a:spcPct val="108000"/>
              </a:lnSpc>
              <a:spcAft>
                <a:spcPts val="1800"/>
              </a:spcAft>
              <a:buClr>
                <a:srgbClr val="065A82"/>
              </a:buClr>
              <a:buSzPct val="55000"/>
              <a:buFont typeface="Arial"/>
              <a:buChar char="●"/>
            </a:pPr>
            <a:r>
              <a:rPr b="1" sz="1550">
                <a:solidFill>
                  <a:srgbClr val="162230"/>
                </a:solidFill>
                <a:latin typeface="Calibri"/>
              </a:rPr>
              <a:t>Uso más allá de la presentación. </a:t>
            </a:r>
            <a:r>
              <a:rPr sz="1550">
                <a:solidFill>
                  <a:srgbClr val="162230"/>
                </a:solidFill>
                <a:latin typeface="Calibri"/>
              </a:rPr>
              <a:t>El currículo se emplea como entrada en evaluaciones, convocatorias, solicitudes de ayudas, acreditaciones y sistemas de gestión de la investigación.</a:t>
            </a:r>
          </a:p>
          <a:p>
            <a:pPr algn="l" marL="256032" indent="-256032">
              <a:lnSpc>
                <a:spcPct val="108000"/>
              </a:lnSpc>
              <a:spcAft>
                <a:spcPts val="1800"/>
              </a:spcAft>
              <a:buClr>
                <a:srgbClr val="065A82"/>
              </a:buClr>
              <a:buSzPct val="55000"/>
              <a:buFont typeface="Arial"/>
              <a:buChar char="●"/>
            </a:pPr>
            <a:r>
              <a:rPr b="1" sz="1550">
                <a:solidFill>
                  <a:srgbClr val="162230"/>
                </a:solidFill>
                <a:latin typeface="Calibri"/>
              </a:rPr>
              <a:t>El formato existe, el problema persiste. </a:t>
            </a:r>
            <a:r>
              <a:rPr sz="1550">
                <a:solidFill>
                  <a:srgbClr val="162230"/>
                </a:solidFill>
                <a:latin typeface="Calibri"/>
              </a:rPr>
              <a:t>Disponer de una norma común no elimina el coste de elaborar, mantener y adaptar un currículo a distintos contextos.</a:t>
            </a:r>
          </a:p>
        </p:txBody>
      </p:sp>
      <p:sp>
        <p:nvSpPr>
          <p:cNvPr id="6" name="Rounded Rectangle 5"/>
          <p:cNvSpPr/>
          <p:nvPr/>
        </p:nvSpPr>
        <p:spPr>
          <a:xfrm>
            <a:off x="7269480" y="1783080"/>
            <a:ext cx="4251960" cy="3977639"/>
          </a:xfrm>
          <a:prstGeom prst="roundRect">
            <a:avLst>
              <a:gd name="adj" fmla="val 10000"/>
            </a:avLst>
          </a:prstGeom>
          <a:solidFill>
            <a:srgbClr val="FBF0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543800" y="2011680"/>
            <a:ext cx="3703320" cy="365760"/>
          </a:xfrm>
          <a:prstGeom prst="rect">
            <a:avLst/>
          </a:prstGeom>
          <a:noFill/>
        </p:spPr>
        <p:txBody>
          <a:bodyPr wrap="square" lIns="0" rIns="0" tIns="0" bIns="0" anchor="t">
            <a:spAutoFit/>
          </a:bodyPr>
          <a:lstStyle/>
          <a:p>
            <a:pPr algn="l"/>
            <a:r>
              <a:rPr sz="1200" b="1" i="0">
                <a:solidFill>
                  <a:srgbClr val="E09A3E"/>
                </a:solidFill>
                <a:latin typeface="Calibri"/>
              </a:rPr>
              <a:t>EL PROBLEMA DE PARTIDA</a:t>
            </a:r>
          </a:p>
        </p:txBody>
      </p:sp>
      <p:sp>
        <p:nvSpPr>
          <p:cNvPr id="8" name="TextBox 7"/>
          <p:cNvSpPr txBox="1"/>
          <p:nvPr/>
        </p:nvSpPr>
        <p:spPr>
          <a:xfrm>
            <a:off x="7543800" y="2450592"/>
            <a:ext cx="3703320" cy="2103120"/>
          </a:xfrm>
          <a:prstGeom prst="rect">
            <a:avLst/>
          </a:prstGeom>
          <a:noFill/>
        </p:spPr>
        <p:txBody>
          <a:bodyPr wrap="square" lIns="0" rIns="0" tIns="0" bIns="0" anchor="t">
            <a:spAutoFit/>
          </a:bodyPr>
          <a:lstStyle/>
          <a:p>
            <a:pPr algn="l">
              <a:lnSpc>
                <a:spcPct val="118000"/>
              </a:lnSpc>
            </a:pPr>
            <a:r>
              <a:rPr sz="1600" b="0" i="1">
                <a:solidFill>
                  <a:srgbClr val="162230"/>
                </a:solidFill>
                <a:latin typeface="Cambria"/>
              </a:rPr>
              <a:t>“Pequeñas variaciones en la estructura o en el formato de salida obligan a tareas manuales repetitivas cada vez que un currículo se reutiliza en un contexto distinto.”</a:t>
            </a:r>
          </a:p>
        </p:txBody>
      </p:sp>
      <p:sp>
        <p:nvSpPr>
          <p:cNvPr id="9" name="TextBox 8"/>
          <p:cNvSpPr txBox="1"/>
          <p:nvPr/>
        </p:nvSpPr>
        <p:spPr>
          <a:xfrm>
            <a:off x="7543800" y="5074920"/>
            <a:ext cx="3703320" cy="548640"/>
          </a:xfrm>
          <a:prstGeom prst="rect">
            <a:avLst/>
          </a:prstGeom>
          <a:noFill/>
        </p:spPr>
        <p:txBody>
          <a:bodyPr wrap="square" lIns="0" rIns="0" tIns="0" bIns="0" anchor="t">
            <a:spAutoFit/>
          </a:bodyPr>
          <a:lstStyle/>
          <a:p>
            <a:pPr algn="l"/>
            <a:r>
              <a:rPr sz="1250" b="1" i="0">
                <a:solidFill>
                  <a:srgbClr val="065A82"/>
                </a:solidFill>
                <a:latin typeface="Calibri"/>
              </a:rPr>
              <a:t>El uso automatizado de CVN sigue siendo costoso.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9144000" cy="320040"/>
          </a:xfrm>
          <a:prstGeom prst="rect">
            <a:avLst/>
          </a:prstGeom>
          <a:noFill/>
        </p:spPr>
        <p:txBody>
          <a:bodyPr wrap="square" lIns="0" rIns="0" tIns="0" bIns="0" anchor="t">
            <a:spAutoFit/>
          </a:bodyPr>
          <a:lstStyle/>
          <a:p>
            <a:pPr algn="l"/>
            <a:r>
              <a:rPr sz="1300" b="1" i="0">
                <a:solidFill>
                  <a:srgbClr val="1C7293"/>
                </a:solidFill>
                <a:latin typeface="Calibri"/>
              </a:rPr>
              <a:t>1 · MOTIVACIÓN Y CONTEXTO</a:t>
            </a:r>
          </a:p>
        </p:txBody>
      </p:sp>
      <p:sp>
        <p:nvSpPr>
          <p:cNvPr id="4" name="TextBox 3"/>
          <p:cNvSpPr txBox="1"/>
          <p:nvPr/>
        </p:nvSpPr>
        <p:spPr>
          <a:xfrm>
            <a:off x="548640" y="658368"/>
            <a:ext cx="11064240" cy="822960"/>
          </a:xfrm>
          <a:prstGeom prst="rect">
            <a:avLst/>
          </a:prstGeom>
          <a:noFill/>
        </p:spPr>
        <p:txBody>
          <a:bodyPr wrap="square" lIns="0" rIns="0" tIns="0" bIns="0" anchor="t">
            <a:spAutoFit/>
          </a:bodyPr>
          <a:lstStyle/>
          <a:p>
            <a:pPr algn="l">
              <a:lnSpc>
                <a:spcPct val="102000"/>
              </a:lnSpc>
            </a:pPr>
            <a:r>
              <a:rPr sz="3000" b="1" i="0">
                <a:solidFill>
                  <a:srgbClr val="11243A"/>
                </a:solidFill>
                <a:latin typeface="Cambria"/>
              </a:rPr>
              <a:t>CVN no es un documento: es un ecosistema de artefactos</a:t>
            </a:r>
          </a:p>
        </p:txBody>
      </p:sp>
      <p:sp>
        <p:nvSpPr>
          <p:cNvPr id="5" name="Rounded Rectangle 4"/>
          <p:cNvSpPr/>
          <p:nvPr/>
        </p:nvSpPr>
        <p:spPr>
          <a:xfrm>
            <a:off x="640080" y="1783080"/>
            <a:ext cx="5989320" cy="786384"/>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74519"/>
            <a:ext cx="5532120" cy="329184"/>
          </a:xfrm>
          <a:prstGeom prst="rect">
            <a:avLst/>
          </a:prstGeom>
          <a:noFill/>
        </p:spPr>
        <p:txBody>
          <a:bodyPr wrap="square" lIns="0" rIns="0" tIns="0" bIns="0" anchor="t">
            <a:spAutoFit/>
          </a:bodyPr>
          <a:lstStyle/>
          <a:p>
            <a:pPr algn="l"/>
            <a:r>
              <a:rPr sz="1450" b="1" i="0">
                <a:solidFill>
                  <a:srgbClr val="FFFFFF"/>
                </a:solidFill>
                <a:latin typeface="Calibri"/>
              </a:rPr>
              <a:t>Manual de especificaciones (PDF)</a:t>
            </a:r>
          </a:p>
        </p:txBody>
      </p:sp>
      <p:sp>
        <p:nvSpPr>
          <p:cNvPr id="7" name="TextBox 6"/>
          <p:cNvSpPr txBox="1"/>
          <p:nvPr/>
        </p:nvSpPr>
        <p:spPr>
          <a:xfrm>
            <a:off x="868680" y="2185416"/>
            <a:ext cx="5532120" cy="329184"/>
          </a:xfrm>
          <a:prstGeom prst="rect">
            <a:avLst/>
          </a:prstGeom>
          <a:noFill/>
        </p:spPr>
        <p:txBody>
          <a:bodyPr wrap="square" lIns="0" rIns="0" tIns="0" bIns="0" anchor="t">
            <a:spAutoFit/>
          </a:bodyPr>
          <a:lstStyle/>
          <a:p>
            <a:pPr algn="l"/>
            <a:r>
              <a:rPr sz="1100" b="0" i="0">
                <a:solidFill>
                  <a:srgbClr val="A9BFD1"/>
                </a:solidFill>
                <a:latin typeface="Calibri"/>
              </a:rPr>
              <a:t>Significado funcional de cada campo, para lectura humana</a:t>
            </a:r>
          </a:p>
        </p:txBody>
      </p:sp>
      <p:sp>
        <p:nvSpPr>
          <p:cNvPr id="8" name="Rounded Rectangle 7"/>
          <p:cNvSpPr/>
          <p:nvPr/>
        </p:nvSpPr>
        <p:spPr>
          <a:xfrm>
            <a:off x="640080" y="2697480"/>
            <a:ext cx="5989320" cy="786384"/>
          </a:xfrm>
          <a:prstGeom prst="roundRect">
            <a:avLst>
              <a:gd name="adj" fmla="val 1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788920"/>
            <a:ext cx="5532120" cy="329184"/>
          </a:xfrm>
          <a:prstGeom prst="rect">
            <a:avLst/>
          </a:prstGeom>
          <a:noFill/>
        </p:spPr>
        <p:txBody>
          <a:bodyPr wrap="square" lIns="0" rIns="0" tIns="0" bIns="0" anchor="t">
            <a:spAutoFit/>
          </a:bodyPr>
          <a:lstStyle/>
          <a:p>
            <a:pPr algn="l"/>
            <a:r>
              <a:rPr sz="1450" b="1" i="0">
                <a:solidFill>
                  <a:srgbClr val="FFFFFF"/>
                </a:solidFill>
                <a:latin typeface="Calibri"/>
              </a:rPr>
              <a:t>Manual estructurado (XML)</a:t>
            </a:r>
          </a:p>
        </p:txBody>
      </p:sp>
      <p:sp>
        <p:nvSpPr>
          <p:cNvPr id="10" name="TextBox 9"/>
          <p:cNvSpPr txBox="1"/>
          <p:nvPr/>
        </p:nvSpPr>
        <p:spPr>
          <a:xfrm>
            <a:off x="868680" y="3099816"/>
            <a:ext cx="5532120" cy="329184"/>
          </a:xfrm>
          <a:prstGeom prst="rect">
            <a:avLst/>
          </a:prstGeom>
          <a:noFill/>
        </p:spPr>
        <p:txBody>
          <a:bodyPr wrap="square" lIns="0" rIns="0" tIns="0" bIns="0" anchor="t">
            <a:spAutoFit/>
          </a:bodyPr>
          <a:lstStyle/>
          <a:p>
            <a:pPr algn="l"/>
            <a:r>
              <a:rPr sz="1100" b="0" i="0">
                <a:solidFill>
                  <a:srgbClr val="A9BFD1"/>
                </a:solidFill>
                <a:latin typeface="Calibri"/>
              </a:rPr>
              <a:t>El mismo manual, en forma parseable por software</a:t>
            </a:r>
          </a:p>
        </p:txBody>
      </p:sp>
      <p:sp>
        <p:nvSpPr>
          <p:cNvPr id="11" name="Rounded Rectangle 10"/>
          <p:cNvSpPr/>
          <p:nvPr/>
        </p:nvSpPr>
        <p:spPr>
          <a:xfrm>
            <a:off x="640080" y="3611880"/>
            <a:ext cx="5989320" cy="786384"/>
          </a:xfrm>
          <a:prstGeom prst="roundRect">
            <a:avLst>
              <a:gd name="adj" fmla="val 1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703320"/>
            <a:ext cx="5532120" cy="329184"/>
          </a:xfrm>
          <a:prstGeom prst="rect">
            <a:avLst/>
          </a:prstGeom>
          <a:noFill/>
        </p:spPr>
        <p:txBody>
          <a:bodyPr wrap="square" lIns="0" rIns="0" tIns="0" bIns="0" anchor="t">
            <a:spAutoFit/>
          </a:bodyPr>
          <a:lstStyle/>
          <a:p>
            <a:pPr algn="l"/>
            <a:r>
              <a:rPr sz="1450" b="1" i="0">
                <a:solidFill>
                  <a:srgbClr val="FFFFFF"/>
                </a:solidFill>
                <a:latin typeface="Calibri"/>
              </a:rPr>
              <a:t>Modelo en árbol (XML)</a:t>
            </a:r>
          </a:p>
        </p:txBody>
      </p:sp>
      <p:sp>
        <p:nvSpPr>
          <p:cNvPr id="13" name="TextBox 12"/>
          <p:cNvSpPr txBox="1"/>
          <p:nvPr/>
        </p:nvSpPr>
        <p:spPr>
          <a:xfrm>
            <a:off x="868680" y="4014216"/>
            <a:ext cx="5532120" cy="329184"/>
          </a:xfrm>
          <a:prstGeom prst="rect">
            <a:avLst/>
          </a:prstGeom>
          <a:noFill/>
        </p:spPr>
        <p:txBody>
          <a:bodyPr wrap="square" lIns="0" rIns="0" tIns="0" bIns="0" anchor="t">
            <a:spAutoFit/>
          </a:bodyPr>
          <a:lstStyle/>
          <a:p>
            <a:pPr algn="l"/>
            <a:r>
              <a:rPr sz="1100" b="0" i="0">
                <a:solidFill>
                  <a:srgbClr val="A9BFD1"/>
                </a:solidFill>
                <a:latin typeface="Calibri"/>
              </a:rPr>
              <a:t>Enlaza cada código funcional con el XML real de un currículo</a:t>
            </a:r>
          </a:p>
        </p:txBody>
      </p:sp>
      <p:sp>
        <p:nvSpPr>
          <p:cNvPr id="14" name="Rounded Rectangle 13"/>
          <p:cNvSpPr/>
          <p:nvPr/>
        </p:nvSpPr>
        <p:spPr>
          <a:xfrm>
            <a:off x="640080" y="4526280"/>
            <a:ext cx="5989320" cy="786384"/>
          </a:xfrm>
          <a:prstGeom prst="roundRect">
            <a:avLst>
              <a:gd name="adj" fmla="val 10000"/>
            </a:avLst>
          </a:prstGeom>
          <a:solidFill>
            <a:srgbClr val="11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617720"/>
            <a:ext cx="5532120" cy="329184"/>
          </a:xfrm>
          <a:prstGeom prst="rect">
            <a:avLst/>
          </a:prstGeom>
          <a:noFill/>
        </p:spPr>
        <p:txBody>
          <a:bodyPr wrap="square" lIns="0" rIns="0" tIns="0" bIns="0" anchor="t">
            <a:spAutoFit/>
          </a:bodyPr>
          <a:lstStyle/>
          <a:p>
            <a:pPr algn="l"/>
            <a:r>
              <a:rPr sz="1450" b="1" i="0">
                <a:solidFill>
                  <a:srgbClr val="FFFFFF"/>
                </a:solidFill>
                <a:latin typeface="Calibri"/>
              </a:rPr>
              <a:t>Esquemas XSD</a:t>
            </a:r>
          </a:p>
        </p:txBody>
      </p:sp>
      <p:sp>
        <p:nvSpPr>
          <p:cNvPr id="16" name="TextBox 15"/>
          <p:cNvSpPr txBox="1"/>
          <p:nvPr/>
        </p:nvSpPr>
        <p:spPr>
          <a:xfrm>
            <a:off x="868680" y="4928616"/>
            <a:ext cx="5532120" cy="329184"/>
          </a:xfrm>
          <a:prstGeom prst="rect">
            <a:avLst/>
          </a:prstGeom>
          <a:noFill/>
        </p:spPr>
        <p:txBody>
          <a:bodyPr wrap="square" lIns="0" rIns="0" tIns="0" bIns="0" anchor="t">
            <a:spAutoFit/>
          </a:bodyPr>
          <a:lstStyle/>
          <a:p>
            <a:pPr algn="l"/>
            <a:r>
              <a:rPr sz="1100" b="0" i="0">
                <a:solidFill>
                  <a:srgbClr val="A9BFD1"/>
                </a:solidFill>
                <a:latin typeface="Calibri"/>
              </a:rPr>
              <a:t>Forma legal del XML y vocabulario de tablas auxiliares</a:t>
            </a:r>
          </a:p>
        </p:txBody>
      </p:sp>
      <p:sp>
        <p:nvSpPr>
          <p:cNvPr id="17" name="TextBox 16"/>
          <p:cNvSpPr txBox="1"/>
          <p:nvPr/>
        </p:nvSpPr>
        <p:spPr>
          <a:xfrm>
            <a:off x="640080" y="5513832"/>
            <a:ext cx="5989320" cy="274320"/>
          </a:xfrm>
          <a:prstGeom prst="rect">
            <a:avLst/>
          </a:prstGeom>
          <a:noFill/>
        </p:spPr>
        <p:txBody>
          <a:bodyPr wrap="square" lIns="0" rIns="0" tIns="0" bIns="0" anchor="t">
            <a:spAutoFit/>
          </a:bodyPr>
          <a:lstStyle/>
          <a:p>
            <a:pPr algn="l"/>
            <a:r>
              <a:rPr sz="1150" b="0" i="1">
                <a:solidFill>
                  <a:srgbClr val="5B6B7A"/>
                </a:solidFill>
                <a:latin typeface="Calibri"/>
              </a:rPr>
              <a:t>+ tres familias auxiliares del paquete oficial:</a:t>
            </a:r>
          </a:p>
        </p:txBody>
      </p:sp>
      <p:sp>
        <p:nvSpPr>
          <p:cNvPr id="18" name="Rounded Rectangle 17"/>
          <p:cNvSpPr/>
          <p:nvPr/>
        </p:nvSpPr>
        <p:spPr>
          <a:xfrm>
            <a:off x="640080" y="5824728"/>
            <a:ext cx="1912924" cy="329184"/>
          </a:xfrm>
          <a:prstGeom prst="roundRect">
            <a:avLst>
              <a:gd name="adj" fmla="val 50000"/>
            </a:avLst>
          </a:prstGeom>
          <a:solidFill>
            <a:srgbClr val="E4EC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824728"/>
            <a:ext cx="1912924" cy="329184"/>
          </a:xfrm>
          <a:prstGeom prst="rect">
            <a:avLst/>
          </a:prstGeom>
          <a:noFill/>
        </p:spPr>
        <p:txBody>
          <a:bodyPr wrap="square" lIns="0" rIns="0" tIns="0" bIns="0" anchor="ctr">
            <a:spAutoFit/>
          </a:bodyPr>
          <a:lstStyle/>
          <a:p>
            <a:pPr algn="ctr"/>
            <a:r>
              <a:rPr sz="1050" b="1" i="0">
                <a:solidFill>
                  <a:srgbClr val="065A82"/>
                </a:solidFill>
                <a:latin typeface="Calibri"/>
              </a:rPr>
              <a:t>Catálogo de entidades</a:t>
            </a:r>
          </a:p>
        </p:txBody>
      </p:sp>
      <p:sp>
        <p:nvSpPr>
          <p:cNvPr id="20" name="Rounded Rectangle 19"/>
          <p:cNvSpPr/>
          <p:nvPr/>
        </p:nvSpPr>
        <p:spPr>
          <a:xfrm>
            <a:off x="2681020" y="5824728"/>
            <a:ext cx="2754172" cy="329184"/>
          </a:xfrm>
          <a:prstGeom prst="roundRect">
            <a:avLst>
              <a:gd name="adj" fmla="val 50000"/>
            </a:avLst>
          </a:prstGeom>
          <a:solidFill>
            <a:srgbClr val="E4EC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681020" y="5824728"/>
            <a:ext cx="2754172" cy="329184"/>
          </a:xfrm>
          <a:prstGeom prst="rect">
            <a:avLst/>
          </a:prstGeom>
          <a:noFill/>
        </p:spPr>
        <p:txBody>
          <a:bodyPr wrap="square" lIns="0" rIns="0" tIns="0" bIns="0" anchor="ctr">
            <a:spAutoFit/>
          </a:bodyPr>
          <a:lstStyle/>
          <a:p>
            <a:pPr algn="ctr"/>
            <a:r>
              <a:rPr sz="1050" b="1" i="0">
                <a:solidFill>
                  <a:srgbClr val="065A82"/>
                </a:solidFill>
                <a:latin typeface="Calibri"/>
              </a:rPr>
              <a:t>Tablas de referencia / subtipos</a:t>
            </a:r>
          </a:p>
        </p:txBody>
      </p:sp>
      <p:sp>
        <p:nvSpPr>
          <p:cNvPr id="22" name="Rounded Rectangle 21"/>
          <p:cNvSpPr/>
          <p:nvPr/>
        </p:nvSpPr>
        <p:spPr>
          <a:xfrm>
            <a:off x="5563209" y="5824728"/>
            <a:ext cx="1744675" cy="329184"/>
          </a:xfrm>
          <a:prstGeom prst="roundRect">
            <a:avLst>
              <a:gd name="adj" fmla="val 50000"/>
            </a:avLst>
          </a:prstGeom>
          <a:solidFill>
            <a:srgbClr val="E4EC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563209" y="5824728"/>
            <a:ext cx="1744675" cy="329184"/>
          </a:xfrm>
          <a:prstGeom prst="rect">
            <a:avLst/>
          </a:prstGeom>
          <a:noFill/>
        </p:spPr>
        <p:txBody>
          <a:bodyPr wrap="square" lIns="0" rIns="0" tIns="0" bIns="0" anchor="ctr">
            <a:spAutoFit/>
          </a:bodyPr>
          <a:lstStyle/>
          <a:p>
            <a:pPr algn="ctr"/>
            <a:r>
              <a:rPr sz="1050" b="1" i="0">
                <a:solidFill>
                  <a:srgbClr val="065A82"/>
                </a:solidFill>
                <a:latin typeface="Calibri"/>
              </a:rPr>
              <a:t>Tesauro multilingüe</a:t>
            </a:r>
          </a:p>
        </p:txBody>
      </p:sp>
      <p:sp>
        <p:nvSpPr>
          <p:cNvPr id="24" name="TextBox 23"/>
          <p:cNvSpPr txBox="1"/>
          <p:nvPr/>
        </p:nvSpPr>
        <p:spPr>
          <a:xfrm>
            <a:off x="6995160" y="1783080"/>
            <a:ext cx="4526280" cy="4206240"/>
          </a:xfrm>
          <a:prstGeom prst="rect">
            <a:avLst/>
          </a:prstGeom>
          <a:noFill/>
        </p:spPr>
        <p:txBody>
          <a:bodyPr wrap="square" anchor="t" lIns="0" rIns="0" tIns="0" bIns="0">
            <a:spAutoFit/>
          </a:bodyPr>
          <a:lstStyle/>
          <a:p>
            <a:pPr algn="l" marL="256032" indent="-256032">
              <a:lnSpc>
                <a:spcPct val="108000"/>
              </a:lnSpc>
              <a:spcAft>
                <a:spcPts val="1600"/>
              </a:spcAft>
              <a:buClr>
                <a:srgbClr val="065A82"/>
              </a:buClr>
              <a:buSzPct val="55000"/>
              <a:buFont typeface="Arial"/>
              <a:buChar char="●"/>
            </a:pPr>
            <a:r>
              <a:rPr b="1" sz="1400">
                <a:solidFill>
                  <a:srgbClr val="162230"/>
                </a:solidFill>
                <a:latin typeface="Calibri"/>
              </a:rPr>
              <a:t>Fuente única y oficial. </a:t>
            </a:r>
            <a:r>
              <a:rPr sz="1400">
                <a:solidFill>
                  <a:srgbClr val="162230"/>
                </a:solidFill>
                <a:latin typeface="Calibri"/>
              </a:rPr>
              <a:t>Todo el trabajo parte de la norma CVN y del paquete que FECYT distribuye para su implementación.</a:t>
            </a:r>
          </a:p>
          <a:p>
            <a:pPr algn="l" marL="256032" indent="-256032">
              <a:lnSpc>
                <a:spcPct val="108000"/>
              </a:lnSpc>
              <a:spcAft>
                <a:spcPts val="1600"/>
              </a:spcAft>
              <a:buClr>
                <a:srgbClr val="065A82"/>
              </a:buClr>
              <a:buSzPct val="55000"/>
              <a:buFont typeface="Arial"/>
              <a:buChar char="●"/>
            </a:pPr>
            <a:r>
              <a:rPr b="1" sz="1400">
                <a:solidFill>
                  <a:srgbClr val="162230"/>
                </a:solidFill>
                <a:latin typeface="Calibri"/>
              </a:rPr>
              <a:t>Qué significa vs. cómo se serializa. </a:t>
            </a:r>
            <a:r>
              <a:rPr sz="1400">
                <a:solidFill>
                  <a:srgbClr val="162230"/>
                </a:solidFill>
                <a:latin typeface="Calibri"/>
              </a:rPr>
              <a:t>El manual explica el significado de cada campo; el modelo en árbol y los XSD explican cómo se codifica en XML.</a:t>
            </a:r>
          </a:p>
          <a:p>
            <a:pPr algn="l" marL="256032" indent="-256032">
              <a:lnSpc>
                <a:spcPct val="108000"/>
              </a:lnSpc>
              <a:spcAft>
                <a:spcPts val="1600"/>
              </a:spcAft>
              <a:buClr>
                <a:srgbClr val="065A82"/>
              </a:buClr>
              <a:buSzPct val="55000"/>
              <a:buFont typeface="Arial"/>
              <a:buChar char="●"/>
            </a:pPr>
            <a:r>
              <a:rPr b="1" sz="1400">
                <a:solidFill>
                  <a:srgbClr val="162230"/>
                </a:solidFill>
                <a:latin typeface="Calibri"/>
              </a:rPr>
              <a:t>XML es el mecanismo, no el objeto. </a:t>
            </a:r>
            <a:r>
              <a:rPr sz="1400">
                <a:solidFill>
                  <a:srgbClr val="162230"/>
                </a:solidFill>
                <a:latin typeface="Calibri"/>
              </a:rPr>
              <a:t>XML sirve para representar e intercambiar los datos de CVN; no agota el contenido conceptual de la norma.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9144000" cy="320040"/>
          </a:xfrm>
          <a:prstGeom prst="rect">
            <a:avLst/>
          </a:prstGeom>
          <a:noFill/>
        </p:spPr>
        <p:txBody>
          <a:bodyPr wrap="square" lIns="0" rIns="0" tIns="0" bIns="0" anchor="t">
            <a:spAutoFit/>
          </a:bodyPr>
          <a:lstStyle/>
          <a:p>
            <a:pPr algn="l"/>
            <a:r>
              <a:rPr sz="1300" b="1" i="0">
                <a:solidFill>
                  <a:srgbClr val="1C7293"/>
                </a:solidFill>
                <a:latin typeface="Calibri"/>
              </a:rPr>
              <a:t>2 · OBJETIVOS</a:t>
            </a:r>
          </a:p>
        </p:txBody>
      </p:sp>
      <p:sp>
        <p:nvSpPr>
          <p:cNvPr id="4" name="TextBox 3"/>
          <p:cNvSpPr txBox="1"/>
          <p:nvPr/>
        </p:nvSpPr>
        <p:spPr>
          <a:xfrm>
            <a:off x="548640" y="658368"/>
            <a:ext cx="11064240" cy="822960"/>
          </a:xfrm>
          <a:prstGeom prst="rect">
            <a:avLst/>
          </a:prstGeom>
          <a:noFill/>
        </p:spPr>
        <p:txBody>
          <a:bodyPr wrap="square" lIns="0" rIns="0" tIns="0" bIns="0" anchor="t">
            <a:spAutoFit/>
          </a:bodyPr>
          <a:lstStyle/>
          <a:p>
            <a:pPr algn="l">
              <a:lnSpc>
                <a:spcPct val="102000"/>
              </a:lnSpc>
            </a:pPr>
            <a:r>
              <a:rPr sz="3000" b="1" i="0">
                <a:solidFill>
                  <a:srgbClr val="11243A"/>
                </a:solidFill>
                <a:latin typeface="Cambria"/>
              </a:rPr>
              <a:t>Objetivo general</a:t>
            </a:r>
          </a:p>
        </p:txBody>
      </p:sp>
      <p:sp>
        <p:nvSpPr>
          <p:cNvPr id="5" name="Rounded Rectangle 4"/>
          <p:cNvSpPr/>
          <p:nvPr/>
        </p:nvSpPr>
        <p:spPr>
          <a:xfrm>
            <a:off x="640080" y="1691640"/>
            <a:ext cx="10881360" cy="1417320"/>
          </a:xfrm>
          <a:prstGeom prst="roundRect">
            <a:avLst>
              <a:gd name="adj" fmla="val 9000"/>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96112" y="1828800"/>
            <a:ext cx="457200" cy="274320"/>
          </a:xfrm>
          <a:prstGeom prst="rect">
            <a:avLst/>
          </a:prstGeom>
          <a:noFill/>
        </p:spPr>
        <p:txBody>
          <a:bodyPr wrap="square" lIns="0" rIns="0" tIns="0" bIns="0" anchor="t">
            <a:spAutoFit/>
          </a:bodyPr>
          <a:lstStyle/>
          <a:p>
            <a:pPr algn="l"/>
            <a:r>
              <a:rPr sz="1300" b="1" i="0">
                <a:solidFill>
                  <a:srgbClr val="E09A3E"/>
                </a:solidFill>
                <a:latin typeface="Calibri"/>
              </a:rPr>
              <a:t>OG</a:t>
            </a:r>
          </a:p>
        </p:txBody>
      </p:sp>
      <p:sp>
        <p:nvSpPr>
          <p:cNvPr id="7" name="TextBox 6"/>
          <p:cNvSpPr txBox="1"/>
          <p:nvPr/>
        </p:nvSpPr>
        <p:spPr>
          <a:xfrm>
            <a:off x="896112" y="2084831"/>
            <a:ext cx="10378440" cy="932688"/>
          </a:xfrm>
          <a:prstGeom prst="rect">
            <a:avLst/>
          </a:prstGeom>
          <a:noFill/>
        </p:spPr>
        <p:txBody>
          <a:bodyPr wrap="square" lIns="0" rIns="0" tIns="0" bIns="0" anchor="t">
            <a:spAutoFit/>
          </a:bodyPr>
          <a:lstStyle/>
          <a:p>
            <a:pPr algn="l">
              <a:lnSpc>
                <a:spcPct val="114000"/>
              </a:lnSpc>
            </a:pPr>
            <a:r>
              <a:rPr sz="1500" b="0" i="1">
                <a:solidFill>
                  <a:srgbClr val="162230"/>
                </a:solidFill>
                <a:latin typeface="Cambria"/>
              </a:rPr>
              <a:t>Diseñar e implementar una arquitectura computacional abierta para representar, validar, transformar, almacenar y exportar currículos académicos e investigadores tomando CVN como norma de referencia, sin que su representación XML ni la herramienta oficial condicionen por completo el modelo interno.</a:t>
            </a:r>
          </a:p>
        </p:txBody>
      </p:sp>
      <p:sp>
        <p:nvSpPr>
          <p:cNvPr id="8" name="Rounded Rectangle 7"/>
          <p:cNvSpPr/>
          <p:nvPr/>
        </p:nvSpPr>
        <p:spPr>
          <a:xfrm>
            <a:off x="640080" y="3337560"/>
            <a:ext cx="2610612" cy="2514600"/>
          </a:xfrm>
          <a:prstGeom prst="roundRect">
            <a:avLst>
              <a:gd name="adj" fmla="val 9000"/>
            </a:avLst>
          </a:prstGeom>
          <a:solidFill>
            <a:srgbClr val="FFFFFF"/>
          </a:solidFill>
          <a:ln w="13970">
            <a:solidFill>
              <a:srgbClr val="D8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40080" y="3337560"/>
            <a:ext cx="2610612" cy="566928"/>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3621024"/>
            <a:ext cx="2610612" cy="283464"/>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3337560"/>
            <a:ext cx="2610612" cy="566928"/>
          </a:xfrm>
          <a:prstGeom prst="rect">
            <a:avLst/>
          </a:prstGeom>
          <a:noFill/>
        </p:spPr>
        <p:txBody>
          <a:bodyPr wrap="square" lIns="0" rIns="0" tIns="0" bIns="0" anchor="ctr">
            <a:spAutoFit/>
          </a:bodyPr>
          <a:lstStyle/>
          <a:p>
            <a:pPr algn="ctr"/>
            <a:r>
              <a:rPr sz="1500" b="1" i="0">
                <a:solidFill>
                  <a:srgbClr val="FFFFFF"/>
                </a:solidFill>
                <a:latin typeface="Cambria"/>
              </a:rPr>
              <a:t>OE1–OE2</a:t>
            </a:r>
          </a:p>
        </p:txBody>
      </p:sp>
      <p:sp>
        <p:nvSpPr>
          <p:cNvPr id="12" name="TextBox 11"/>
          <p:cNvSpPr txBox="1"/>
          <p:nvPr/>
        </p:nvSpPr>
        <p:spPr>
          <a:xfrm>
            <a:off x="786384" y="4050791"/>
            <a:ext cx="2318004" cy="457200"/>
          </a:xfrm>
          <a:prstGeom prst="rect">
            <a:avLst/>
          </a:prstGeom>
          <a:noFill/>
        </p:spPr>
        <p:txBody>
          <a:bodyPr wrap="square" lIns="0" rIns="0" tIns="0" bIns="0" anchor="t">
            <a:spAutoFit/>
          </a:bodyPr>
          <a:lstStyle/>
          <a:p>
            <a:pPr algn="l">
              <a:lnSpc>
                <a:spcPct val="100000"/>
              </a:lnSpc>
            </a:pPr>
            <a:r>
              <a:rPr sz="1350" b="1" i="0">
                <a:solidFill>
                  <a:srgbClr val="11243A"/>
                </a:solidFill>
                <a:latin typeface="Calibri"/>
              </a:rPr>
              <a:t>Análisis</a:t>
            </a:r>
          </a:p>
        </p:txBody>
      </p:sp>
      <p:sp>
        <p:nvSpPr>
          <p:cNvPr id="13" name="TextBox 12"/>
          <p:cNvSpPr txBox="1"/>
          <p:nvPr/>
        </p:nvSpPr>
        <p:spPr>
          <a:xfrm>
            <a:off x="786384" y="4489704"/>
            <a:ext cx="2318004" cy="1234440"/>
          </a:xfrm>
          <a:prstGeom prst="rect">
            <a:avLst/>
          </a:prstGeom>
          <a:noFill/>
        </p:spPr>
        <p:txBody>
          <a:bodyPr wrap="square" lIns="0" rIns="0" tIns="0" bIns="0" anchor="t">
            <a:spAutoFit/>
          </a:bodyPr>
          <a:lstStyle/>
          <a:p>
            <a:pPr algn="l">
              <a:lnSpc>
                <a:spcPct val="112000"/>
              </a:lnSpc>
            </a:pPr>
            <a:r>
              <a:rPr sz="1080" b="0" i="0">
                <a:solidFill>
                  <a:srgbClr val="5B6B7A"/>
                </a:solidFill>
                <a:latin typeface="Calibri"/>
              </a:rPr>
              <a:t>Analizar el ecosistema CVN y estudiar alternativas de representación y validación de datos curriculares.</a:t>
            </a:r>
          </a:p>
        </p:txBody>
      </p:sp>
      <p:sp>
        <p:nvSpPr>
          <p:cNvPr id="14" name="Rounded Rectangle 13"/>
          <p:cNvSpPr/>
          <p:nvPr/>
        </p:nvSpPr>
        <p:spPr>
          <a:xfrm>
            <a:off x="3396996" y="3337560"/>
            <a:ext cx="2610612" cy="2514600"/>
          </a:xfrm>
          <a:prstGeom prst="roundRect">
            <a:avLst>
              <a:gd name="adj" fmla="val 9000"/>
            </a:avLst>
          </a:prstGeom>
          <a:solidFill>
            <a:srgbClr val="FFFFFF"/>
          </a:solidFill>
          <a:ln w="13970">
            <a:solidFill>
              <a:srgbClr val="D8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396996" y="3337560"/>
            <a:ext cx="2610612" cy="566928"/>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396996" y="3621024"/>
            <a:ext cx="2610612" cy="283464"/>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396996" y="3337560"/>
            <a:ext cx="2610612" cy="566928"/>
          </a:xfrm>
          <a:prstGeom prst="rect">
            <a:avLst/>
          </a:prstGeom>
          <a:noFill/>
        </p:spPr>
        <p:txBody>
          <a:bodyPr wrap="square" lIns="0" rIns="0" tIns="0" bIns="0" anchor="ctr">
            <a:spAutoFit/>
          </a:bodyPr>
          <a:lstStyle/>
          <a:p>
            <a:pPr algn="ctr"/>
            <a:r>
              <a:rPr sz="1500" b="1" i="0">
                <a:solidFill>
                  <a:srgbClr val="FFFFFF"/>
                </a:solidFill>
                <a:latin typeface="Cambria"/>
              </a:rPr>
              <a:t>OE3–OE6</a:t>
            </a:r>
          </a:p>
        </p:txBody>
      </p:sp>
      <p:sp>
        <p:nvSpPr>
          <p:cNvPr id="18" name="TextBox 17"/>
          <p:cNvSpPr txBox="1"/>
          <p:nvPr/>
        </p:nvSpPr>
        <p:spPr>
          <a:xfrm>
            <a:off x="3543300" y="4050791"/>
            <a:ext cx="2318004" cy="457200"/>
          </a:xfrm>
          <a:prstGeom prst="rect">
            <a:avLst/>
          </a:prstGeom>
          <a:noFill/>
        </p:spPr>
        <p:txBody>
          <a:bodyPr wrap="square" lIns="0" rIns="0" tIns="0" bIns="0" anchor="t">
            <a:spAutoFit/>
          </a:bodyPr>
          <a:lstStyle/>
          <a:p>
            <a:pPr algn="l">
              <a:lnSpc>
                <a:spcPct val="100000"/>
              </a:lnSpc>
            </a:pPr>
            <a:r>
              <a:rPr sz="1350" b="1" i="0">
                <a:solidFill>
                  <a:srgbClr val="11243A"/>
                </a:solidFill>
                <a:latin typeface="Calibri"/>
              </a:rPr>
              <a:t>Generación y normalización</a:t>
            </a:r>
          </a:p>
        </p:txBody>
      </p:sp>
      <p:sp>
        <p:nvSpPr>
          <p:cNvPr id="19" name="TextBox 18"/>
          <p:cNvSpPr txBox="1"/>
          <p:nvPr/>
        </p:nvSpPr>
        <p:spPr>
          <a:xfrm>
            <a:off x="3543300" y="4489704"/>
            <a:ext cx="2318004" cy="1234440"/>
          </a:xfrm>
          <a:prstGeom prst="rect">
            <a:avLst/>
          </a:prstGeom>
          <a:noFill/>
        </p:spPr>
        <p:txBody>
          <a:bodyPr wrap="square" lIns="0" rIns="0" tIns="0" bIns="0" anchor="t">
            <a:spAutoFit/>
          </a:bodyPr>
          <a:lstStyle/>
          <a:p>
            <a:pPr algn="l">
              <a:lnSpc>
                <a:spcPct val="112000"/>
              </a:lnSpc>
            </a:pPr>
            <a:r>
              <a:rPr sz="1080" b="0" i="0">
                <a:solidFill>
                  <a:srgbClr val="5B6B7A"/>
                </a:solidFill>
                <a:latin typeface="Calibri"/>
              </a:rPr>
              <a:t>Generar la capa estructural desde los XSD, normalizar metadatos, definir reglas semánticas y modelos de dominio.</a:t>
            </a:r>
          </a:p>
        </p:txBody>
      </p:sp>
      <p:sp>
        <p:nvSpPr>
          <p:cNvPr id="20" name="Rounded Rectangle 19"/>
          <p:cNvSpPr/>
          <p:nvPr/>
        </p:nvSpPr>
        <p:spPr>
          <a:xfrm>
            <a:off x="6153912" y="3337560"/>
            <a:ext cx="2610612" cy="2514600"/>
          </a:xfrm>
          <a:prstGeom prst="roundRect">
            <a:avLst>
              <a:gd name="adj" fmla="val 9000"/>
            </a:avLst>
          </a:prstGeom>
          <a:solidFill>
            <a:srgbClr val="FFFFFF"/>
          </a:solidFill>
          <a:ln w="13970">
            <a:solidFill>
              <a:srgbClr val="D8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153912" y="3337560"/>
            <a:ext cx="2610612" cy="566928"/>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53912" y="3621024"/>
            <a:ext cx="2610612" cy="283464"/>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53912" y="3337560"/>
            <a:ext cx="2610612" cy="566928"/>
          </a:xfrm>
          <a:prstGeom prst="rect">
            <a:avLst/>
          </a:prstGeom>
          <a:noFill/>
        </p:spPr>
        <p:txBody>
          <a:bodyPr wrap="square" lIns="0" rIns="0" tIns="0" bIns="0" anchor="ctr">
            <a:spAutoFit/>
          </a:bodyPr>
          <a:lstStyle/>
          <a:p>
            <a:pPr algn="ctr"/>
            <a:r>
              <a:rPr sz="1500" b="1" i="0">
                <a:solidFill>
                  <a:srgbClr val="FFFFFF"/>
                </a:solidFill>
                <a:latin typeface="Cambria"/>
              </a:rPr>
              <a:t>OE7–OE9</a:t>
            </a:r>
          </a:p>
        </p:txBody>
      </p:sp>
      <p:sp>
        <p:nvSpPr>
          <p:cNvPr id="24" name="TextBox 23"/>
          <p:cNvSpPr txBox="1"/>
          <p:nvPr/>
        </p:nvSpPr>
        <p:spPr>
          <a:xfrm>
            <a:off x="6300216" y="4050791"/>
            <a:ext cx="2318004" cy="457200"/>
          </a:xfrm>
          <a:prstGeom prst="rect">
            <a:avLst/>
          </a:prstGeom>
          <a:noFill/>
        </p:spPr>
        <p:txBody>
          <a:bodyPr wrap="square" lIns="0" rIns="0" tIns="0" bIns="0" anchor="t">
            <a:spAutoFit/>
          </a:bodyPr>
          <a:lstStyle/>
          <a:p>
            <a:pPr algn="l">
              <a:lnSpc>
                <a:spcPct val="100000"/>
              </a:lnSpc>
            </a:pPr>
            <a:r>
              <a:rPr sz="1350" b="1" i="0">
                <a:solidFill>
                  <a:srgbClr val="11243A"/>
                </a:solidFill>
                <a:latin typeface="Calibri"/>
              </a:rPr>
              <a:t>Formato y herramienta</a:t>
            </a:r>
          </a:p>
        </p:txBody>
      </p:sp>
      <p:sp>
        <p:nvSpPr>
          <p:cNvPr id="25" name="TextBox 24"/>
          <p:cNvSpPr txBox="1"/>
          <p:nvPr/>
        </p:nvSpPr>
        <p:spPr>
          <a:xfrm>
            <a:off x="6300216" y="4489704"/>
            <a:ext cx="2318004" cy="1234440"/>
          </a:xfrm>
          <a:prstGeom prst="rect">
            <a:avLst/>
          </a:prstGeom>
          <a:noFill/>
        </p:spPr>
        <p:txBody>
          <a:bodyPr wrap="square" lIns="0" rIns="0" tIns="0" bIns="0" anchor="t">
            <a:spAutoFit/>
          </a:bodyPr>
          <a:lstStyle/>
          <a:p>
            <a:pPr algn="l">
              <a:lnSpc>
                <a:spcPct val="112000"/>
              </a:lnSpc>
            </a:pPr>
            <a:r>
              <a:rPr sz="1080" b="0" i="0">
                <a:solidFill>
                  <a:srgbClr val="5B6B7A"/>
                </a:solidFill>
                <a:latin typeface="Calibri"/>
              </a:rPr>
              <a:t>Definir el formato Open CVN JSON e implementar parseo, validación, almacenamiento, exportación e importación.</a:t>
            </a:r>
          </a:p>
        </p:txBody>
      </p:sp>
      <p:sp>
        <p:nvSpPr>
          <p:cNvPr id="26" name="Rounded Rectangle 25"/>
          <p:cNvSpPr/>
          <p:nvPr/>
        </p:nvSpPr>
        <p:spPr>
          <a:xfrm>
            <a:off x="8910828" y="3337560"/>
            <a:ext cx="2610612" cy="2514600"/>
          </a:xfrm>
          <a:prstGeom prst="roundRect">
            <a:avLst>
              <a:gd name="adj" fmla="val 9000"/>
            </a:avLst>
          </a:prstGeom>
          <a:solidFill>
            <a:srgbClr val="FFFFFF"/>
          </a:solidFill>
          <a:ln w="13970">
            <a:solidFill>
              <a:srgbClr val="D8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8910828" y="3337560"/>
            <a:ext cx="2610612" cy="566928"/>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910828" y="3621024"/>
            <a:ext cx="2610612" cy="283464"/>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910828" y="3337560"/>
            <a:ext cx="2610612" cy="566928"/>
          </a:xfrm>
          <a:prstGeom prst="rect">
            <a:avLst/>
          </a:prstGeom>
          <a:noFill/>
        </p:spPr>
        <p:txBody>
          <a:bodyPr wrap="square" lIns="0" rIns="0" tIns="0" bIns="0" anchor="ctr">
            <a:spAutoFit/>
          </a:bodyPr>
          <a:lstStyle/>
          <a:p>
            <a:pPr algn="ctr"/>
            <a:r>
              <a:rPr sz="1500" b="1" i="0">
                <a:solidFill>
                  <a:srgbClr val="FFFFFF"/>
                </a:solidFill>
                <a:latin typeface="Cambria"/>
              </a:rPr>
              <a:t>OE10</a:t>
            </a:r>
          </a:p>
        </p:txBody>
      </p:sp>
      <p:sp>
        <p:nvSpPr>
          <p:cNvPr id="30" name="TextBox 29"/>
          <p:cNvSpPr txBox="1"/>
          <p:nvPr/>
        </p:nvSpPr>
        <p:spPr>
          <a:xfrm>
            <a:off x="9057132" y="4050791"/>
            <a:ext cx="2318004" cy="457200"/>
          </a:xfrm>
          <a:prstGeom prst="rect">
            <a:avLst/>
          </a:prstGeom>
          <a:noFill/>
        </p:spPr>
        <p:txBody>
          <a:bodyPr wrap="square" lIns="0" rIns="0" tIns="0" bIns="0" anchor="t">
            <a:spAutoFit/>
          </a:bodyPr>
          <a:lstStyle/>
          <a:p>
            <a:pPr algn="l">
              <a:lnSpc>
                <a:spcPct val="100000"/>
              </a:lnSpc>
            </a:pPr>
            <a:r>
              <a:rPr sz="1350" b="1" i="0">
                <a:solidFill>
                  <a:srgbClr val="11243A"/>
                </a:solidFill>
                <a:latin typeface="Calibri"/>
              </a:rPr>
              <a:t>Verificación</a:t>
            </a:r>
          </a:p>
        </p:txBody>
      </p:sp>
      <p:sp>
        <p:nvSpPr>
          <p:cNvPr id="31" name="TextBox 30"/>
          <p:cNvSpPr txBox="1"/>
          <p:nvPr/>
        </p:nvSpPr>
        <p:spPr>
          <a:xfrm>
            <a:off x="9057132" y="4489704"/>
            <a:ext cx="2318004" cy="1234440"/>
          </a:xfrm>
          <a:prstGeom prst="rect">
            <a:avLst/>
          </a:prstGeom>
          <a:noFill/>
        </p:spPr>
        <p:txBody>
          <a:bodyPr wrap="square" lIns="0" rIns="0" tIns="0" bIns="0" anchor="t">
            <a:spAutoFit/>
          </a:bodyPr>
          <a:lstStyle/>
          <a:p>
            <a:pPr algn="l">
              <a:lnSpc>
                <a:spcPct val="112000"/>
              </a:lnSpc>
            </a:pPr>
            <a:r>
              <a:rPr sz="1080" b="0" i="0">
                <a:solidFill>
                  <a:srgbClr val="5B6B7A"/>
                </a:solidFill>
                <a:latin typeface="Calibri"/>
              </a:rPr>
              <a:t>Verificar el sistema mediante pruebas automatizadas y flujos reproducibles de extremo a extremo.</a:t>
            </a:r>
          </a:p>
        </p:txBody>
      </p:sp>
      <p:sp>
        <p:nvSpPr>
          <p:cNvPr id="32" name="TextBox 31"/>
          <p:cNvSpPr txBox="1"/>
          <p:nvPr/>
        </p:nvSpPr>
        <p:spPr>
          <a:xfrm>
            <a:off x="640080" y="6053328"/>
            <a:ext cx="10881360" cy="457200"/>
          </a:xfrm>
          <a:prstGeom prst="rect">
            <a:avLst/>
          </a:prstGeom>
          <a:noFill/>
        </p:spPr>
        <p:txBody>
          <a:bodyPr wrap="square" lIns="0" rIns="0" tIns="0" bIns="0" anchor="t">
            <a:spAutoFit/>
          </a:bodyPr>
          <a:lstStyle/>
          <a:p>
            <a:pPr algn="ctr"/>
            <a:r>
              <a:rPr sz="1200" b="0" i="1">
                <a:solidFill>
                  <a:srgbClr val="5B6B7A"/>
                </a:solidFill>
                <a:latin typeface="Calibri"/>
              </a:rPr>
              <a:t>10 objetivos específicos, organizados en cuatro bloques alineados con los capítulos 3 a 7 de la memoria.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9144000" cy="320040"/>
          </a:xfrm>
          <a:prstGeom prst="rect">
            <a:avLst/>
          </a:prstGeom>
          <a:noFill/>
        </p:spPr>
        <p:txBody>
          <a:bodyPr wrap="square" lIns="0" rIns="0" tIns="0" bIns="0" anchor="t">
            <a:spAutoFit/>
          </a:bodyPr>
          <a:lstStyle/>
          <a:p>
            <a:pPr algn="l"/>
            <a:r>
              <a:rPr sz="1300" b="1" i="0">
                <a:solidFill>
                  <a:srgbClr val="1C7293"/>
                </a:solidFill>
                <a:latin typeface="Calibri"/>
              </a:rPr>
              <a:t>3 · EL ECOSISTEMA CVN</a:t>
            </a:r>
          </a:p>
        </p:txBody>
      </p:sp>
      <p:sp>
        <p:nvSpPr>
          <p:cNvPr id="4" name="TextBox 3"/>
          <p:cNvSpPr txBox="1"/>
          <p:nvPr/>
        </p:nvSpPr>
        <p:spPr>
          <a:xfrm>
            <a:off x="548640" y="658368"/>
            <a:ext cx="11064240" cy="822960"/>
          </a:xfrm>
          <a:prstGeom prst="rect">
            <a:avLst/>
          </a:prstGeom>
          <a:noFill/>
        </p:spPr>
        <p:txBody>
          <a:bodyPr wrap="square" lIns="0" rIns="0" tIns="0" bIns="0" anchor="t">
            <a:spAutoFit/>
          </a:bodyPr>
          <a:lstStyle/>
          <a:p>
            <a:pPr algn="l">
              <a:lnSpc>
                <a:spcPct val="102000"/>
              </a:lnSpc>
            </a:pPr>
            <a:r>
              <a:rPr sz="3000" b="1" i="0">
                <a:solidFill>
                  <a:srgbClr val="11243A"/>
                </a:solidFill>
                <a:latin typeface="Cambria"/>
              </a:rPr>
              <a:t>El paquete oficial no es directamente un modelo interno</a:t>
            </a:r>
          </a:p>
        </p:txBody>
      </p:sp>
      <p:graphicFrame>
        <p:nvGraphicFramePr>
          <p:cNvPr id="5" name="Table 4"/>
          <p:cNvGraphicFramePr>
            <a:graphicFrameLocks noGrp="1"/>
          </p:cNvGraphicFramePr>
          <p:nvPr/>
        </p:nvGraphicFramePr>
        <p:xfrm>
          <a:off x="640080" y="1783080"/>
          <a:ext cx="10881360" cy="4160520"/>
        </p:xfrm>
        <a:graphic>
          <a:graphicData uri="http://schemas.openxmlformats.org/drawingml/2006/table">
            <a:tbl>
              <a:tblPr>
                <a:tableStyleId>{5C22544A-7EE6-4342-B048-85BDC9FD1C3A}</a:tableStyleId>
              </a:tblPr>
              <a:tblGrid>
                <a:gridCol w="5074920"/>
                <a:gridCol w="5806440"/>
              </a:tblGrid>
              <a:tr h="832104">
                <a:tc>
                  <a:txBody>
                    <a:bodyPr wrap="square"/>
                    <a:lstStyle/>
                    <a:p>
                      <a:pPr algn="l"/>
                      <a:r>
                        <a:rPr b="1" sz="1350">
                          <a:solidFill>
                            <a:srgbClr val="FFFFFF"/>
                          </a:solidFill>
                          <a:latin typeface="Calibri"/>
                        </a:rPr>
                        <a:t>Limitación detectada</a:t>
                      </a:r>
                    </a:p>
                  </a:txBody>
                  <a:tcPr marL="82296" marR="82296" marT="41148" marB="41148" anchor="ctr">
                    <a:solidFill>
                      <a:srgbClr val="065A82"/>
                    </a:solidFill>
                  </a:tcPr>
                </a:tc>
                <a:tc>
                  <a:txBody>
                    <a:bodyPr wrap="square"/>
                    <a:lstStyle/>
                    <a:p>
                      <a:pPr algn="l"/>
                      <a:r>
                        <a:rPr b="1" sz="1350">
                          <a:solidFill>
                            <a:srgbClr val="FFFFFF"/>
                          </a:solidFill>
                          <a:latin typeface="Calibri"/>
                        </a:rPr>
                        <a:t>Respuesta de diseño de Open CVN</a:t>
                      </a:r>
                    </a:p>
                  </a:txBody>
                  <a:tcPr marL="82296" marR="82296" marT="41148" marB="41148" anchor="ctr">
                    <a:solidFill>
                      <a:srgbClr val="065A82"/>
                    </a:solidFill>
                  </a:tcPr>
                </a:tc>
              </a:tr>
              <a:tr h="832104">
                <a:tc>
                  <a:txBody>
                    <a:bodyPr wrap="square"/>
                    <a:lstStyle/>
                    <a:p>
                      <a:pPr algn="l"/>
                      <a:r>
                        <a:rPr sz="1250">
                          <a:solidFill>
                            <a:srgbClr val="162230"/>
                          </a:solidFill>
                          <a:latin typeface="Calibri"/>
                        </a:rPr>
                        <a:t>Discrepancias puntuales entre el XML canónico y su esquema de validación</a:t>
                      </a:r>
                    </a:p>
                  </a:txBody>
                  <a:tcPr marL="82296" marR="82296" marT="41148" marB="41148" anchor="ctr">
                    <a:solidFill>
                      <a:srgbClr val="FFFFFF"/>
                    </a:solidFill>
                  </a:tcPr>
                </a:tc>
                <a:tc>
                  <a:txBody>
                    <a:bodyPr wrap="square"/>
                    <a:lstStyle/>
                    <a:p>
                      <a:pPr algn="l"/>
                      <a:r>
                        <a:rPr sz="1250">
                          <a:solidFill>
                            <a:srgbClr val="162230"/>
                          </a:solidFill>
                          <a:latin typeface="Calibri"/>
                        </a:rPr>
                        <a:t>Tratar el XML como evidencia de origen y registrar la discrepancia de forma explícita</a:t>
                      </a:r>
                    </a:p>
                  </a:txBody>
                  <a:tcPr marL="82296" marR="82296" marT="41148" marB="41148" anchor="ctr">
                    <a:solidFill>
                      <a:srgbClr val="FFFFFF"/>
                    </a:solidFill>
                  </a:tcPr>
                </a:tc>
              </a:tr>
              <a:tr h="832104">
                <a:tc>
                  <a:txBody>
                    <a:bodyPr wrap="square"/>
                    <a:lstStyle/>
                    <a:p>
                      <a:pPr algn="l"/>
                      <a:r>
                        <a:rPr sz="1250">
                          <a:solidFill>
                            <a:srgbClr val="162230"/>
                          </a:solidFill>
                          <a:latin typeface="Calibri"/>
                        </a:rPr>
                        <a:t>Construcciones XSD que no se trasladan de forma perfecta a estructuras ejecutables (choice, cardinalidades, tipos genéricos)</a:t>
                      </a:r>
                    </a:p>
                  </a:txBody>
                  <a:tcPr marL="82296" marR="82296" marT="41148" marB="41148" anchor="ctr">
                    <a:solidFill>
                      <a:srgbClr val="F0F4F8"/>
                    </a:solidFill>
                  </a:tcPr>
                </a:tc>
                <a:tc>
                  <a:txBody>
                    <a:bodyPr wrap="square"/>
                    <a:lstStyle/>
                    <a:p>
                      <a:pPr algn="l"/>
                      <a:r>
                        <a:rPr sz="1250">
                          <a:solidFill>
                            <a:srgbClr val="162230"/>
                          </a:solidFill>
                          <a:latin typeface="Calibri"/>
                        </a:rPr>
                        <a:t>Confinar estas limitaciones a la capa estructural generada, sin exponerlas en el formato final</a:t>
                      </a:r>
                    </a:p>
                  </a:txBody>
                  <a:tcPr marL="82296" marR="82296" marT="41148" marB="41148" anchor="ctr">
                    <a:solidFill>
                      <a:srgbClr val="F0F4F8"/>
                    </a:solidFill>
                  </a:tcPr>
                </a:tc>
              </a:tr>
              <a:tr h="832104">
                <a:tc>
                  <a:txBody>
                    <a:bodyPr wrap="square"/>
                    <a:lstStyle/>
                    <a:p>
                      <a:pPr algn="l"/>
                      <a:r>
                        <a:rPr sz="1250">
                          <a:solidFill>
                            <a:srgbClr val="162230"/>
                          </a:solidFill>
                          <a:latin typeface="Calibri"/>
                        </a:rPr>
                        <a:t>Tablas auxiliares que no siempre son enumeraciones cerradas</a:t>
                      </a:r>
                    </a:p>
                  </a:txBody>
                  <a:tcPr marL="82296" marR="82296" marT="41148" marB="41148" anchor="ctr">
                    <a:solidFill>
                      <a:srgbClr val="FFFFFF"/>
                    </a:solidFill>
                  </a:tcPr>
                </a:tc>
                <a:tc>
                  <a:txBody>
                    <a:bodyPr wrap="square"/>
                    <a:lstStyle/>
                    <a:p>
                      <a:pPr algn="l"/>
                      <a:r>
                        <a:rPr sz="1250">
                          <a:solidFill>
                            <a:srgbClr val="162230"/>
                          </a:solidFill>
                          <a:latin typeface="Calibri"/>
                        </a:rPr>
                        <a:t>Evaluar la elegibilidad de enumeración cerrada a partir de evidencia concreta de cada tabla</a:t>
                      </a:r>
                    </a:p>
                  </a:txBody>
                  <a:tcPr marL="82296" marR="82296" marT="41148" marB="41148" anchor="ctr">
                    <a:solidFill>
                      <a:srgbClr val="FFFFFF"/>
                    </a:solidFill>
                  </a:tcPr>
                </a:tc>
              </a:tr>
              <a:tr h="832104">
                <a:tc>
                  <a:txBody>
                    <a:bodyPr wrap="square"/>
                    <a:lstStyle/>
                    <a:p>
                      <a:pPr algn="l"/>
                      <a:r>
                        <a:rPr sz="1250">
                          <a:solidFill>
                            <a:srgbClr val="162230"/>
                          </a:solidFill>
                          <a:latin typeface="Calibri"/>
                        </a:rPr>
                        <a:t>Referencias sin tabla equivalente y deriva de empaquetado entre familias auxiliares</a:t>
                      </a:r>
                    </a:p>
                  </a:txBody>
                  <a:tcPr marL="82296" marR="82296" marT="41148" marB="41148" anchor="ctr">
                    <a:solidFill>
                      <a:srgbClr val="F0F4F8"/>
                    </a:solidFill>
                  </a:tcPr>
                </a:tc>
                <a:tc>
                  <a:txBody>
                    <a:bodyPr wrap="square"/>
                    <a:lstStyle/>
                    <a:p>
                      <a:pPr algn="l"/>
                      <a:r>
                        <a:rPr sz="1250">
                          <a:solidFill>
                            <a:srgbClr val="162230"/>
                          </a:solidFill>
                          <a:latin typeface="Calibri"/>
                        </a:rPr>
                        <a:t>Conservar como no resueltas o parcialmente trazables, sin forzar una conversión con pérdida de información</a:t>
                      </a:r>
                    </a:p>
                  </a:txBody>
                  <a:tcPr marL="82296" marR="82296" marT="41148" marB="41148" anchor="ctr">
                    <a:solidFill>
                      <a:srgbClr val="F0F4F8"/>
                    </a:solidFill>
                  </a:tcPr>
                </a:tc>
              </a:tr>
            </a:tbl>
          </a:graphicData>
        </a:graphic>
      </p:graphicFrame>
      <p:sp>
        <p:nvSpPr>
          <p:cNvPr id="6" name="TextBox 5"/>
          <p:cNvSpPr txBox="1"/>
          <p:nvPr/>
        </p:nvSpPr>
        <p:spPr>
          <a:xfrm>
            <a:off x="640080" y="6108192"/>
            <a:ext cx="10881360" cy="411480"/>
          </a:xfrm>
          <a:prstGeom prst="rect">
            <a:avLst/>
          </a:prstGeom>
          <a:noFill/>
        </p:spPr>
        <p:txBody>
          <a:bodyPr wrap="square" lIns="0" rIns="0" tIns="0" bIns="0" anchor="t">
            <a:spAutoFit/>
          </a:bodyPr>
          <a:lstStyle/>
          <a:p>
            <a:pPr algn="ctr"/>
            <a:r>
              <a:rPr sz="1150" b="0" i="1">
                <a:solidFill>
                  <a:srgbClr val="5B6B7A"/>
                </a:solidFill>
                <a:latin typeface="Calibri"/>
              </a:rPr>
              <a:t>Ninguna limitación invalida la norma CVN: condicionan su uso directo como modelo interno de una herramienta.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9144000" cy="320040"/>
          </a:xfrm>
          <a:prstGeom prst="rect">
            <a:avLst/>
          </a:prstGeom>
          <a:noFill/>
        </p:spPr>
        <p:txBody>
          <a:bodyPr wrap="square" lIns="0" rIns="0" tIns="0" bIns="0" anchor="t">
            <a:spAutoFit/>
          </a:bodyPr>
          <a:lstStyle/>
          <a:p>
            <a:pPr algn="l"/>
            <a:r>
              <a:rPr sz="1300" b="1" i="0">
                <a:solidFill>
                  <a:srgbClr val="1C7293"/>
                </a:solidFill>
                <a:latin typeface="Calibri"/>
              </a:rPr>
              <a:t>3 · EL ECOSISTEMA CVN</a:t>
            </a:r>
          </a:p>
        </p:txBody>
      </p:sp>
      <p:sp>
        <p:nvSpPr>
          <p:cNvPr id="4" name="TextBox 3"/>
          <p:cNvSpPr txBox="1"/>
          <p:nvPr/>
        </p:nvSpPr>
        <p:spPr>
          <a:xfrm>
            <a:off x="548640" y="658368"/>
            <a:ext cx="11064240" cy="822960"/>
          </a:xfrm>
          <a:prstGeom prst="rect">
            <a:avLst/>
          </a:prstGeom>
          <a:noFill/>
        </p:spPr>
        <p:txBody>
          <a:bodyPr wrap="square" lIns="0" rIns="0" tIns="0" bIns="0" anchor="t">
            <a:spAutoFit/>
          </a:bodyPr>
          <a:lstStyle/>
          <a:p>
            <a:pPr algn="l">
              <a:lnSpc>
                <a:spcPct val="102000"/>
              </a:lnSpc>
            </a:pPr>
            <a:r>
              <a:rPr sz="3000" b="1" i="0">
                <a:solidFill>
                  <a:srgbClr val="11243A"/>
                </a:solidFill>
                <a:latin typeface="Cambria"/>
              </a:rPr>
              <a:t>Open CVN: una capa trazable sobre el paquete oficial</a:t>
            </a:r>
          </a:p>
        </p:txBody>
      </p:sp>
      <p:pic>
        <p:nvPicPr>
          <p:cNvPr id="5" name="Picture 4" descr="open_cvn_source_separation.png"/>
          <p:cNvPicPr>
            <a:picLocks noChangeAspect="1"/>
          </p:cNvPicPr>
          <p:nvPr/>
        </p:nvPicPr>
        <p:blipFill>
          <a:blip r:embed="rId2"/>
          <a:stretch>
            <a:fillRect/>
          </a:stretch>
        </p:blipFill>
        <p:spPr>
          <a:xfrm>
            <a:off x="2390210" y="1645920"/>
            <a:ext cx="7381099" cy="2331720"/>
          </a:xfrm>
          <a:prstGeom prst="rect">
            <a:avLst/>
          </a:prstGeom>
        </p:spPr>
      </p:pic>
      <p:sp>
        <p:nvSpPr>
          <p:cNvPr id="6" name="Rounded Rectangle 5"/>
          <p:cNvSpPr/>
          <p:nvPr/>
        </p:nvSpPr>
        <p:spPr>
          <a:xfrm>
            <a:off x="640080" y="4160520"/>
            <a:ext cx="1308833" cy="60350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76656" y="4160520"/>
            <a:ext cx="1235681" cy="603504"/>
          </a:xfrm>
          <a:prstGeom prst="rect">
            <a:avLst/>
          </a:prstGeom>
          <a:noFill/>
        </p:spPr>
        <p:txBody>
          <a:bodyPr wrap="square" lIns="0" rIns="0" tIns="0" bIns="0" anchor="ctr">
            <a:spAutoFit/>
          </a:bodyPr>
          <a:lstStyle/>
          <a:p>
            <a:pPr algn="ctr">
              <a:lnSpc>
                <a:spcPct val="95000"/>
              </a:lnSpc>
            </a:pPr>
            <a:r>
              <a:rPr sz="1200" b="1" i="0">
                <a:solidFill>
                  <a:srgbClr val="FFFFFF"/>
                </a:solidFill>
                <a:latin typeface="Calibri"/>
              </a:rPr>
              <a:t>Paquete CVN</a:t>
            </a:r>
          </a:p>
        </p:txBody>
      </p:sp>
      <p:sp>
        <p:nvSpPr>
          <p:cNvPr id="8" name="TextBox 7"/>
          <p:cNvSpPr txBox="1"/>
          <p:nvPr/>
        </p:nvSpPr>
        <p:spPr>
          <a:xfrm>
            <a:off x="1948913" y="4160520"/>
            <a:ext cx="310896" cy="603504"/>
          </a:xfrm>
          <a:prstGeom prst="rect">
            <a:avLst/>
          </a:prstGeom>
          <a:noFill/>
        </p:spPr>
        <p:txBody>
          <a:bodyPr wrap="square" lIns="0" rIns="0" tIns="0" bIns="0" anchor="ctr">
            <a:spAutoFit/>
          </a:bodyPr>
          <a:lstStyle/>
          <a:p>
            <a:pPr algn="ctr"/>
            <a:r>
              <a:rPr sz="1600" b="1" i="0">
                <a:solidFill>
                  <a:srgbClr val="5B6B7A"/>
                </a:solidFill>
                <a:latin typeface="Calibri"/>
              </a:rPr>
              <a:t>→</a:t>
            </a:r>
          </a:p>
        </p:txBody>
      </p:sp>
      <p:sp>
        <p:nvSpPr>
          <p:cNvPr id="9" name="Rounded Rectangle 8"/>
          <p:cNvSpPr/>
          <p:nvPr/>
        </p:nvSpPr>
        <p:spPr>
          <a:xfrm>
            <a:off x="2259809" y="4160520"/>
            <a:ext cx="2617667" cy="60350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96385" y="4160520"/>
            <a:ext cx="2544515" cy="603504"/>
          </a:xfrm>
          <a:prstGeom prst="rect">
            <a:avLst/>
          </a:prstGeom>
          <a:noFill/>
        </p:spPr>
        <p:txBody>
          <a:bodyPr wrap="square" lIns="0" rIns="0" tIns="0" bIns="0" anchor="ctr">
            <a:spAutoFit/>
          </a:bodyPr>
          <a:lstStyle/>
          <a:p>
            <a:pPr algn="ctr">
              <a:lnSpc>
                <a:spcPct val="95000"/>
              </a:lnSpc>
            </a:pPr>
            <a:r>
              <a:rPr sz="1200" b="1" i="0">
                <a:solidFill>
                  <a:srgbClr val="FFFFFF"/>
                </a:solidFill>
                <a:latin typeface="Calibri"/>
              </a:rPr>
              <a:t>Metadatos normalizados</a:t>
            </a:r>
          </a:p>
        </p:txBody>
      </p:sp>
      <p:sp>
        <p:nvSpPr>
          <p:cNvPr id="11" name="TextBox 10"/>
          <p:cNvSpPr txBox="1"/>
          <p:nvPr/>
        </p:nvSpPr>
        <p:spPr>
          <a:xfrm>
            <a:off x="4877477" y="4160520"/>
            <a:ext cx="310896" cy="603504"/>
          </a:xfrm>
          <a:prstGeom prst="rect">
            <a:avLst/>
          </a:prstGeom>
          <a:noFill/>
        </p:spPr>
        <p:txBody>
          <a:bodyPr wrap="square" lIns="0" rIns="0" tIns="0" bIns="0" anchor="ctr">
            <a:spAutoFit/>
          </a:bodyPr>
          <a:lstStyle/>
          <a:p>
            <a:pPr algn="ctr"/>
            <a:r>
              <a:rPr sz="1600" b="1" i="0">
                <a:solidFill>
                  <a:srgbClr val="5B6B7A"/>
                </a:solidFill>
                <a:latin typeface="Calibri"/>
              </a:rPr>
              <a:t>→</a:t>
            </a:r>
          </a:p>
        </p:txBody>
      </p:sp>
      <p:sp>
        <p:nvSpPr>
          <p:cNvPr id="12" name="Rounded Rectangle 11"/>
          <p:cNvSpPr/>
          <p:nvPr/>
        </p:nvSpPr>
        <p:spPr>
          <a:xfrm>
            <a:off x="5188373" y="4160520"/>
            <a:ext cx="2141728" cy="60350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224949" y="4160520"/>
            <a:ext cx="2068576" cy="603504"/>
          </a:xfrm>
          <a:prstGeom prst="rect">
            <a:avLst/>
          </a:prstGeom>
          <a:noFill/>
        </p:spPr>
        <p:txBody>
          <a:bodyPr wrap="square" lIns="0" rIns="0" tIns="0" bIns="0" anchor="ctr">
            <a:spAutoFit/>
          </a:bodyPr>
          <a:lstStyle/>
          <a:p>
            <a:pPr algn="ctr">
              <a:lnSpc>
                <a:spcPct val="95000"/>
              </a:lnSpc>
            </a:pPr>
            <a:r>
              <a:rPr sz="1200" b="1" i="0">
                <a:solidFill>
                  <a:srgbClr val="FFFFFF"/>
                </a:solidFill>
                <a:latin typeface="Calibri"/>
              </a:rPr>
              <a:t>Política semántica</a:t>
            </a:r>
          </a:p>
        </p:txBody>
      </p:sp>
      <p:sp>
        <p:nvSpPr>
          <p:cNvPr id="14" name="TextBox 13"/>
          <p:cNvSpPr txBox="1"/>
          <p:nvPr/>
        </p:nvSpPr>
        <p:spPr>
          <a:xfrm>
            <a:off x="7330101" y="4160520"/>
            <a:ext cx="310896" cy="603504"/>
          </a:xfrm>
          <a:prstGeom prst="rect">
            <a:avLst/>
          </a:prstGeom>
          <a:noFill/>
        </p:spPr>
        <p:txBody>
          <a:bodyPr wrap="square" lIns="0" rIns="0" tIns="0" bIns="0" anchor="ctr">
            <a:spAutoFit/>
          </a:bodyPr>
          <a:lstStyle/>
          <a:p>
            <a:pPr algn="ctr"/>
            <a:r>
              <a:rPr sz="1600" b="1" i="0">
                <a:solidFill>
                  <a:srgbClr val="5B6B7A"/>
                </a:solidFill>
                <a:latin typeface="Calibri"/>
              </a:rPr>
              <a:t>→</a:t>
            </a:r>
          </a:p>
        </p:txBody>
      </p:sp>
      <p:sp>
        <p:nvSpPr>
          <p:cNvPr id="15" name="Rounded Rectangle 14"/>
          <p:cNvSpPr/>
          <p:nvPr/>
        </p:nvSpPr>
        <p:spPr>
          <a:xfrm>
            <a:off x="7640997" y="4160520"/>
            <a:ext cx="2022743" cy="60350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77573" y="4160520"/>
            <a:ext cx="1949591" cy="603504"/>
          </a:xfrm>
          <a:prstGeom prst="rect">
            <a:avLst/>
          </a:prstGeom>
          <a:noFill/>
        </p:spPr>
        <p:txBody>
          <a:bodyPr wrap="square" lIns="0" rIns="0" tIns="0" bIns="0" anchor="ctr">
            <a:spAutoFit/>
          </a:bodyPr>
          <a:lstStyle/>
          <a:p>
            <a:pPr algn="ctr">
              <a:lnSpc>
                <a:spcPct val="95000"/>
              </a:lnSpc>
            </a:pPr>
            <a:r>
              <a:rPr sz="1200" b="1" i="0">
                <a:solidFill>
                  <a:srgbClr val="FFFFFF"/>
                </a:solidFill>
                <a:latin typeface="Calibri"/>
              </a:rPr>
              <a:t>Modelo conceptual</a:t>
            </a:r>
          </a:p>
        </p:txBody>
      </p:sp>
      <p:sp>
        <p:nvSpPr>
          <p:cNvPr id="17" name="TextBox 16"/>
          <p:cNvSpPr txBox="1"/>
          <p:nvPr/>
        </p:nvSpPr>
        <p:spPr>
          <a:xfrm>
            <a:off x="9663740" y="4160520"/>
            <a:ext cx="310896" cy="603504"/>
          </a:xfrm>
          <a:prstGeom prst="rect">
            <a:avLst/>
          </a:prstGeom>
          <a:noFill/>
        </p:spPr>
        <p:txBody>
          <a:bodyPr wrap="square" lIns="0" rIns="0" tIns="0" bIns="0" anchor="ctr">
            <a:spAutoFit/>
          </a:bodyPr>
          <a:lstStyle/>
          <a:p>
            <a:pPr algn="ctr"/>
            <a:r>
              <a:rPr sz="1600" b="1" i="0">
                <a:solidFill>
                  <a:srgbClr val="5B6B7A"/>
                </a:solidFill>
                <a:latin typeface="Calibri"/>
              </a:rPr>
              <a:t>→</a:t>
            </a:r>
          </a:p>
        </p:txBody>
      </p:sp>
      <p:sp>
        <p:nvSpPr>
          <p:cNvPr id="18" name="Rounded Rectangle 17"/>
          <p:cNvSpPr/>
          <p:nvPr/>
        </p:nvSpPr>
        <p:spPr>
          <a:xfrm>
            <a:off x="9974636" y="4160520"/>
            <a:ext cx="1546803" cy="60350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11212" y="4160520"/>
            <a:ext cx="1473651" cy="603504"/>
          </a:xfrm>
          <a:prstGeom prst="rect">
            <a:avLst/>
          </a:prstGeom>
          <a:noFill/>
        </p:spPr>
        <p:txBody>
          <a:bodyPr wrap="square" lIns="0" rIns="0" tIns="0" bIns="0" anchor="ctr">
            <a:spAutoFit/>
          </a:bodyPr>
          <a:lstStyle/>
          <a:p>
            <a:pPr algn="ctr">
              <a:lnSpc>
                <a:spcPct val="95000"/>
              </a:lnSpc>
            </a:pPr>
            <a:r>
              <a:rPr sz="1200" b="1" i="0">
                <a:solidFill>
                  <a:srgbClr val="FFFFFF"/>
                </a:solidFill>
                <a:latin typeface="Calibri"/>
              </a:rPr>
              <a:t>Open CVN JSON</a:t>
            </a:r>
          </a:p>
        </p:txBody>
      </p:sp>
      <p:sp>
        <p:nvSpPr>
          <p:cNvPr id="20" name="TextBox 19"/>
          <p:cNvSpPr txBox="1"/>
          <p:nvPr/>
        </p:nvSpPr>
        <p:spPr>
          <a:xfrm>
            <a:off x="640080" y="5074920"/>
            <a:ext cx="10881360" cy="822960"/>
          </a:xfrm>
          <a:prstGeom prst="rect">
            <a:avLst/>
          </a:prstGeom>
          <a:noFill/>
        </p:spPr>
        <p:txBody>
          <a:bodyPr wrap="square" lIns="0" rIns="0" tIns="0" bIns="0" anchor="t">
            <a:spAutoFit/>
          </a:bodyPr>
          <a:lstStyle/>
          <a:p>
            <a:pPr algn="ctr">
              <a:lnSpc>
                <a:spcPct val="115000"/>
              </a:lnSpc>
            </a:pPr>
            <a:r>
              <a:rPr sz="1400" b="0" i="1">
                <a:solidFill>
                  <a:srgbClr val="5B6B7A"/>
                </a:solidFill>
                <a:latin typeface="Calibri"/>
              </a:rPr>
              <a:t>Cada capa añade una interpretación adicional sin descartar la relación con el paquete oficial: todo elemento del modelo final conserva evidencia verificable de la fuente CVN de la que procede.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9144000" cy="320040"/>
          </a:xfrm>
          <a:prstGeom prst="rect">
            <a:avLst/>
          </a:prstGeom>
          <a:noFill/>
        </p:spPr>
        <p:txBody>
          <a:bodyPr wrap="square" lIns="0" rIns="0" tIns="0" bIns="0" anchor="t">
            <a:spAutoFit/>
          </a:bodyPr>
          <a:lstStyle/>
          <a:p>
            <a:pPr algn="l"/>
            <a:r>
              <a:rPr sz="1300" b="1" i="0">
                <a:solidFill>
                  <a:srgbClr val="1C7293"/>
                </a:solidFill>
                <a:latin typeface="Calibri"/>
              </a:rPr>
              <a:t>4 · METODOLOGÍA Y ARQUITECTURA</a:t>
            </a:r>
          </a:p>
        </p:txBody>
      </p:sp>
      <p:sp>
        <p:nvSpPr>
          <p:cNvPr id="4" name="TextBox 3"/>
          <p:cNvSpPr txBox="1"/>
          <p:nvPr/>
        </p:nvSpPr>
        <p:spPr>
          <a:xfrm>
            <a:off x="548640" y="658368"/>
            <a:ext cx="11064240" cy="822960"/>
          </a:xfrm>
          <a:prstGeom prst="rect">
            <a:avLst/>
          </a:prstGeom>
          <a:noFill/>
        </p:spPr>
        <p:txBody>
          <a:bodyPr wrap="square" lIns="0" rIns="0" tIns="0" bIns="0" anchor="t">
            <a:spAutoFit/>
          </a:bodyPr>
          <a:lstStyle/>
          <a:p>
            <a:pPr algn="l">
              <a:lnSpc>
                <a:spcPct val="102000"/>
              </a:lnSpc>
            </a:pPr>
            <a:r>
              <a:rPr sz="3000" b="1" i="0">
                <a:solidFill>
                  <a:srgbClr val="11243A"/>
                </a:solidFill>
                <a:latin typeface="Cambria"/>
              </a:rPr>
              <a:t>Cinco fases, con documentación continua de decisiones</a:t>
            </a:r>
          </a:p>
        </p:txBody>
      </p:sp>
      <p:sp>
        <p:nvSpPr>
          <p:cNvPr id="5" name="Rectangle 4"/>
          <p:cNvSpPr/>
          <p:nvPr/>
        </p:nvSpPr>
        <p:spPr>
          <a:xfrm>
            <a:off x="1051560" y="2110435"/>
            <a:ext cx="10104119" cy="27432"/>
          </a:xfrm>
          <a:prstGeom prst="rect">
            <a:avLst/>
          </a:prstGeom>
          <a:solidFill>
            <a:srgbClr val="D8E2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95527" y="1865376"/>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0" bIns="0"/>
          <a:lstStyle/>
          <a:p>
            <a:pPr algn="ctr"/>
            <a:r>
              <a:rPr sz="1500" b="1">
                <a:solidFill>
                  <a:srgbClr val="FFFFFF"/>
                </a:solidFill>
                <a:latin typeface="Calibri"/>
              </a:rPr>
              <a:t>1</a:t>
            </a:r>
          </a:p>
        </p:txBody>
      </p:sp>
      <p:sp>
        <p:nvSpPr>
          <p:cNvPr id="7" name="TextBox 6"/>
          <p:cNvSpPr txBox="1"/>
          <p:nvPr/>
        </p:nvSpPr>
        <p:spPr>
          <a:xfrm>
            <a:off x="182879" y="2505456"/>
            <a:ext cx="1737360" cy="594360"/>
          </a:xfrm>
          <a:prstGeom prst="rect">
            <a:avLst/>
          </a:prstGeom>
          <a:noFill/>
        </p:spPr>
        <p:txBody>
          <a:bodyPr wrap="square" lIns="0" rIns="0" tIns="0" bIns="0" anchor="t">
            <a:spAutoFit/>
          </a:bodyPr>
          <a:lstStyle/>
          <a:p>
            <a:pPr algn="ctr">
              <a:lnSpc>
                <a:spcPct val="100000"/>
              </a:lnSpc>
            </a:pPr>
            <a:r>
              <a:rPr sz="1150" b="1" i="0">
                <a:solidFill>
                  <a:srgbClr val="162230"/>
                </a:solidFill>
                <a:latin typeface="Calibri"/>
              </a:rPr>
              <a:t>Análisis</a:t>
            </a:r>
          </a:p>
          <a:p>
            <a:pPr algn="ctr">
              <a:lnSpc>
                <a:spcPct val="100000"/>
              </a:lnSpc>
            </a:pPr>
            <a:r>
              <a:rPr sz="1150" b="1" i="0">
                <a:solidFill>
                  <a:srgbClr val="162230"/>
                </a:solidFill>
                <a:latin typeface="Calibri"/>
              </a:rPr>
              <a:t>inicial</a:t>
            </a:r>
          </a:p>
        </p:txBody>
      </p:sp>
      <p:sp>
        <p:nvSpPr>
          <p:cNvPr id="8" name="Oval 7"/>
          <p:cNvSpPr/>
          <p:nvPr/>
        </p:nvSpPr>
        <p:spPr>
          <a:xfrm>
            <a:off x="3321557" y="1865376"/>
            <a:ext cx="512064" cy="51206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0" bIns="0"/>
          <a:lstStyle/>
          <a:p>
            <a:pPr algn="ctr"/>
            <a:r>
              <a:rPr sz="1500" b="1">
                <a:solidFill>
                  <a:srgbClr val="FFFFFF"/>
                </a:solidFill>
                <a:latin typeface="Calibri"/>
              </a:rPr>
              <a:t>2</a:t>
            </a:r>
          </a:p>
        </p:txBody>
      </p:sp>
      <p:sp>
        <p:nvSpPr>
          <p:cNvPr id="9" name="TextBox 8"/>
          <p:cNvSpPr txBox="1"/>
          <p:nvPr/>
        </p:nvSpPr>
        <p:spPr>
          <a:xfrm>
            <a:off x="2708909" y="2505456"/>
            <a:ext cx="1737360" cy="594360"/>
          </a:xfrm>
          <a:prstGeom prst="rect">
            <a:avLst/>
          </a:prstGeom>
          <a:noFill/>
        </p:spPr>
        <p:txBody>
          <a:bodyPr wrap="square" lIns="0" rIns="0" tIns="0" bIns="0" anchor="t">
            <a:spAutoFit/>
          </a:bodyPr>
          <a:lstStyle/>
          <a:p>
            <a:pPr algn="ctr">
              <a:lnSpc>
                <a:spcPct val="100000"/>
              </a:lnSpc>
            </a:pPr>
            <a:r>
              <a:rPr sz="1150" b="1" i="0">
                <a:solidFill>
                  <a:srgbClr val="162230"/>
                </a:solidFill>
                <a:latin typeface="Calibri"/>
              </a:rPr>
              <a:t>Exploración de</a:t>
            </a:r>
          </a:p>
          <a:p>
            <a:pPr algn="ctr">
              <a:lnSpc>
                <a:spcPct val="100000"/>
              </a:lnSpc>
            </a:pPr>
            <a:r>
              <a:rPr sz="1150" b="1" i="0">
                <a:solidFill>
                  <a:srgbClr val="162230"/>
                </a:solidFill>
                <a:latin typeface="Calibri"/>
              </a:rPr>
              <a:t>artefactos</a:t>
            </a:r>
          </a:p>
        </p:txBody>
      </p:sp>
      <p:sp>
        <p:nvSpPr>
          <p:cNvPr id="10" name="Oval 9"/>
          <p:cNvSpPr/>
          <p:nvPr/>
        </p:nvSpPr>
        <p:spPr>
          <a:xfrm>
            <a:off x="5847587" y="1865376"/>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0" bIns="0"/>
          <a:lstStyle/>
          <a:p>
            <a:pPr algn="ctr"/>
            <a:r>
              <a:rPr sz="1500" b="1">
                <a:solidFill>
                  <a:srgbClr val="FFFFFF"/>
                </a:solidFill>
                <a:latin typeface="Calibri"/>
              </a:rPr>
              <a:t>3</a:t>
            </a:r>
          </a:p>
        </p:txBody>
      </p:sp>
      <p:sp>
        <p:nvSpPr>
          <p:cNvPr id="11" name="TextBox 10"/>
          <p:cNvSpPr txBox="1"/>
          <p:nvPr/>
        </p:nvSpPr>
        <p:spPr>
          <a:xfrm>
            <a:off x="5234939" y="2505456"/>
            <a:ext cx="1737360" cy="594360"/>
          </a:xfrm>
          <a:prstGeom prst="rect">
            <a:avLst/>
          </a:prstGeom>
          <a:noFill/>
        </p:spPr>
        <p:txBody>
          <a:bodyPr wrap="square" lIns="0" rIns="0" tIns="0" bIns="0" anchor="t">
            <a:spAutoFit/>
          </a:bodyPr>
          <a:lstStyle/>
          <a:p>
            <a:pPr algn="ctr">
              <a:lnSpc>
                <a:spcPct val="100000"/>
              </a:lnSpc>
            </a:pPr>
            <a:r>
              <a:rPr sz="1150" b="1" i="0">
                <a:solidFill>
                  <a:srgbClr val="162230"/>
                </a:solidFill>
                <a:latin typeface="Calibri"/>
              </a:rPr>
              <a:t>Diseño incremental</a:t>
            </a:r>
          </a:p>
          <a:p>
            <a:pPr algn="ctr">
              <a:lnSpc>
                <a:spcPct val="100000"/>
              </a:lnSpc>
            </a:pPr>
            <a:r>
              <a:rPr sz="1150" b="1" i="0">
                <a:solidFill>
                  <a:srgbClr val="162230"/>
                </a:solidFill>
                <a:latin typeface="Calibri"/>
              </a:rPr>
              <a:t>por capas</a:t>
            </a:r>
          </a:p>
        </p:txBody>
      </p:sp>
      <p:sp>
        <p:nvSpPr>
          <p:cNvPr id="12" name="Oval 11"/>
          <p:cNvSpPr/>
          <p:nvPr/>
        </p:nvSpPr>
        <p:spPr>
          <a:xfrm>
            <a:off x="8373618" y="1865376"/>
            <a:ext cx="512064" cy="51206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0" bIns="0"/>
          <a:lstStyle/>
          <a:p>
            <a:pPr algn="ctr"/>
            <a:r>
              <a:rPr sz="1500" b="1">
                <a:solidFill>
                  <a:srgbClr val="FFFFFF"/>
                </a:solidFill>
                <a:latin typeface="Calibri"/>
              </a:rPr>
              <a:t>4</a:t>
            </a:r>
          </a:p>
        </p:txBody>
      </p:sp>
      <p:sp>
        <p:nvSpPr>
          <p:cNvPr id="13" name="TextBox 12"/>
          <p:cNvSpPr txBox="1"/>
          <p:nvPr/>
        </p:nvSpPr>
        <p:spPr>
          <a:xfrm>
            <a:off x="7760970" y="2505456"/>
            <a:ext cx="1737360" cy="594360"/>
          </a:xfrm>
          <a:prstGeom prst="rect">
            <a:avLst/>
          </a:prstGeom>
          <a:noFill/>
        </p:spPr>
        <p:txBody>
          <a:bodyPr wrap="square" lIns="0" rIns="0" tIns="0" bIns="0" anchor="t">
            <a:spAutoFit/>
          </a:bodyPr>
          <a:lstStyle/>
          <a:p>
            <a:pPr algn="ctr">
              <a:lnSpc>
                <a:spcPct val="100000"/>
              </a:lnSpc>
            </a:pPr>
            <a:r>
              <a:rPr sz="1150" b="1" i="0">
                <a:solidFill>
                  <a:srgbClr val="162230"/>
                </a:solidFill>
                <a:latin typeface="Calibri"/>
              </a:rPr>
              <a:t>Implementación</a:t>
            </a:r>
          </a:p>
          <a:p>
            <a:pPr algn="ctr">
              <a:lnSpc>
                <a:spcPct val="100000"/>
              </a:lnSpc>
            </a:pPr>
            <a:r>
              <a:rPr sz="1150" b="1" i="0">
                <a:solidFill>
                  <a:srgbClr val="162230"/>
                </a:solidFill>
                <a:latin typeface="Calibri"/>
              </a:rPr>
              <a:t>reproducible</a:t>
            </a:r>
          </a:p>
        </p:txBody>
      </p:sp>
      <p:sp>
        <p:nvSpPr>
          <p:cNvPr id="14" name="Oval 13"/>
          <p:cNvSpPr/>
          <p:nvPr/>
        </p:nvSpPr>
        <p:spPr>
          <a:xfrm>
            <a:off x="10899648" y="1865376"/>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0" bIns="0"/>
          <a:lstStyle/>
          <a:p>
            <a:pPr algn="ctr"/>
            <a:r>
              <a:rPr sz="1500" b="1">
                <a:solidFill>
                  <a:srgbClr val="FFFFFF"/>
                </a:solidFill>
                <a:latin typeface="Calibri"/>
              </a:rPr>
              <a:t>5</a:t>
            </a:r>
          </a:p>
        </p:txBody>
      </p:sp>
      <p:sp>
        <p:nvSpPr>
          <p:cNvPr id="15" name="TextBox 14"/>
          <p:cNvSpPr txBox="1"/>
          <p:nvPr/>
        </p:nvSpPr>
        <p:spPr>
          <a:xfrm>
            <a:off x="10287000" y="2505456"/>
            <a:ext cx="1737360" cy="594360"/>
          </a:xfrm>
          <a:prstGeom prst="rect">
            <a:avLst/>
          </a:prstGeom>
          <a:noFill/>
        </p:spPr>
        <p:txBody>
          <a:bodyPr wrap="square" lIns="0" rIns="0" tIns="0" bIns="0" anchor="t">
            <a:spAutoFit/>
          </a:bodyPr>
          <a:lstStyle/>
          <a:p>
            <a:pPr algn="ctr">
              <a:lnSpc>
                <a:spcPct val="100000"/>
              </a:lnSpc>
            </a:pPr>
            <a:r>
              <a:rPr sz="1150" b="1" i="0">
                <a:solidFill>
                  <a:srgbClr val="162230"/>
                </a:solidFill>
                <a:latin typeface="Calibri"/>
              </a:rPr>
              <a:t>Verificación</a:t>
            </a:r>
          </a:p>
          <a:p>
            <a:pPr algn="ctr">
              <a:lnSpc>
                <a:spcPct val="100000"/>
              </a:lnSpc>
            </a:pPr>
            <a:r>
              <a:rPr sz="1150" b="1" i="0">
                <a:solidFill>
                  <a:srgbClr val="162230"/>
                </a:solidFill>
                <a:latin typeface="Calibri"/>
              </a:rPr>
              <a:t>automatizada</a:t>
            </a:r>
          </a:p>
        </p:txBody>
      </p:sp>
      <p:sp>
        <p:nvSpPr>
          <p:cNvPr id="16" name="TextBox 15"/>
          <p:cNvSpPr txBox="1"/>
          <p:nvPr/>
        </p:nvSpPr>
        <p:spPr>
          <a:xfrm>
            <a:off x="640080" y="3246120"/>
            <a:ext cx="10881360" cy="365760"/>
          </a:xfrm>
          <a:prstGeom prst="rect">
            <a:avLst/>
          </a:prstGeom>
          <a:noFill/>
        </p:spPr>
        <p:txBody>
          <a:bodyPr wrap="square" lIns="0" rIns="0" tIns="0" bIns="0" anchor="t">
            <a:spAutoFit/>
          </a:bodyPr>
          <a:lstStyle/>
          <a:p>
            <a:pPr algn="l"/>
            <a:r>
              <a:rPr sz="1350" b="1" i="0">
                <a:solidFill>
                  <a:srgbClr val="11243A"/>
                </a:solidFill>
                <a:latin typeface="Calibri"/>
              </a:rPr>
              <a:t>Herramientas: cada elección permite generar o validar artefactos de forma reproducible</a:t>
            </a:r>
          </a:p>
        </p:txBody>
      </p:sp>
      <p:sp>
        <p:nvSpPr>
          <p:cNvPr id="17" name="Oval 16"/>
          <p:cNvSpPr/>
          <p:nvPr/>
        </p:nvSpPr>
        <p:spPr>
          <a:xfrm>
            <a:off x="918971" y="3794760"/>
            <a:ext cx="658368" cy="658368"/>
          </a:xfrm>
          <a:prstGeom prst="ellipse">
            <a:avLst/>
          </a:prstGeom>
          <a:solidFill>
            <a:srgbClr val="E4EC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3794760"/>
            <a:ext cx="1216152" cy="658368"/>
          </a:xfrm>
          <a:prstGeom prst="rect">
            <a:avLst/>
          </a:prstGeom>
          <a:noFill/>
        </p:spPr>
        <p:txBody>
          <a:bodyPr wrap="square" lIns="0" rIns="0" tIns="0" bIns="0" anchor="ctr">
            <a:spAutoFit/>
          </a:bodyPr>
          <a:lstStyle/>
          <a:p>
            <a:pPr algn="ctr"/>
            <a:r>
              <a:rPr sz="1300" b="1" i="0">
                <a:solidFill>
                  <a:srgbClr val="065A82"/>
                </a:solidFill>
                <a:latin typeface="Cambria"/>
              </a:rPr>
              <a:t>PY</a:t>
            </a:r>
          </a:p>
        </p:txBody>
      </p:sp>
      <p:sp>
        <p:nvSpPr>
          <p:cNvPr id="19" name="TextBox 18"/>
          <p:cNvSpPr txBox="1"/>
          <p:nvPr/>
        </p:nvSpPr>
        <p:spPr>
          <a:xfrm>
            <a:off x="548640" y="4544568"/>
            <a:ext cx="1399032" cy="640080"/>
          </a:xfrm>
          <a:prstGeom prst="rect">
            <a:avLst/>
          </a:prstGeom>
          <a:noFill/>
        </p:spPr>
        <p:txBody>
          <a:bodyPr wrap="square" lIns="0" rIns="0" tIns="0" bIns="0" anchor="t">
            <a:spAutoFit/>
          </a:bodyPr>
          <a:lstStyle/>
          <a:p>
            <a:pPr algn="ctr">
              <a:lnSpc>
                <a:spcPct val="100000"/>
              </a:lnSpc>
            </a:pPr>
            <a:r>
              <a:rPr sz="1050" b="1" i="0">
                <a:solidFill>
                  <a:srgbClr val="162230"/>
                </a:solidFill>
                <a:latin typeface="Calibri"/>
              </a:rPr>
              <a:t>Python + uv</a:t>
            </a:r>
          </a:p>
        </p:txBody>
      </p:sp>
      <p:sp>
        <p:nvSpPr>
          <p:cNvPr id="20" name="Oval 19"/>
          <p:cNvSpPr/>
          <p:nvPr/>
        </p:nvSpPr>
        <p:spPr>
          <a:xfrm>
            <a:off x="2299716" y="3794760"/>
            <a:ext cx="658368" cy="658368"/>
          </a:xfrm>
          <a:prstGeom prst="ellipse">
            <a:avLst/>
          </a:prstGeom>
          <a:solidFill>
            <a:srgbClr val="E4EC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020824" y="3794760"/>
            <a:ext cx="1216152" cy="658368"/>
          </a:xfrm>
          <a:prstGeom prst="rect">
            <a:avLst/>
          </a:prstGeom>
          <a:noFill/>
        </p:spPr>
        <p:txBody>
          <a:bodyPr wrap="square" lIns="0" rIns="0" tIns="0" bIns="0" anchor="ctr">
            <a:spAutoFit/>
          </a:bodyPr>
          <a:lstStyle/>
          <a:p>
            <a:pPr algn="ctr"/>
            <a:r>
              <a:rPr sz="1300" b="1" i="0">
                <a:solidFill>
                  <a:srgbClr val="065A82"/>
                </a:solidFill>
                <a:latin typeface="Cambria"/>
              </a:rPr>
              <a:t>XSD</a:t>
            </a:r>
          </a:p>
        </p:txBody>
      </p:sp>
      <p:sp>
        <p:nvSpPr>
          <p:cNvPr id="22" name="TextBox 21"/>
          <p:cNvSpPr txBox="1"/>
          <p:nvPr/>
        </p:nvSpPr>
        <p:spPr>
          <a:xfrm>
            <a:off x="1929384" y="4544568"/>
            <a:ext cx="1399032" cy="640080"/>
          </a:xfrm>
          <a:prstGeom prst="rect">
            <a:avLst/>
          </a:prstGeom>
          <a:noFill/>
        </p:spPr>
        <p:txBody>
          <a:bodyPr wrap="square" lIns="0" rIns="0" tIns="0" bIns="0" anchor="t">
            <a:spAutoFit/>
          </a:bodyPr>
          <a:lstStyle/>
          <a:p>
            <a:pPr algn="ctr">
              <a:lnSpc>
                <a:spcPct val="100000"/>
              </a:lnSpc>
            </a:pPr>
            <a:r>
              <a:rPr sz="1050" b="1" i="0">
                <a:solidFill>
                  <a:srgbClr val="162230"/>
                </a:solidFill>
                <a:latin typeface="Calibri"/>
              </a:rPr>
              <a:t>xsdata</a:t>
            </a:r>
          </a:p>
        </p:txBody>
      </p:sp>
      <p:sp>
        <p:nvSpPr>
          <p:cNvPr id="23" name="Oval 22"/>
          <p:cNvSpPr/>
          <p:nvPr/>
        </p:nvSpPr>
        <p:spPr>
          <a:xfrm>
            <a:off x="3680459" y="3794760"/>
            <a:ext cx="658368" cy="658368"/>
          </a:xfrm>
          <a:prstGeom prst="ellipse">
            <a:avLst/>
          </a:prstGeom>
          <a:solidFill>
            <a:srgbClr val="E4EC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401568" y="3794760"/>
            <a:ext cx="1216152" cy="658368"/>
          </a:xfrm>
          <a:prstGeom prst="rect">
            <a:avLst/>
          </a:prstGeom>
          <a:noFill/>
        </p:spPr>
        <p:txBody>
          <a:bodyPr wrap="square" lIns="0" rIns="0" tIns="0" bIns="0" anchor="ctr">
            <a:spAutoFit/>
          </a:bodyPr>
          <a:lstStyle/>
          <a:p>
            <a:pPr algn="ctr"/>
            <a:r>
              <a:rPr sz="1300" b="1" i="0">
                <a:solidFill>
                  <a:srgbClr val="065A82"/>
                </a:solidFill>
                <a:latin typeface="Cambria"/>
              </a:rPr>
              <a:t>PYD</a:t>
            </a:r>
          </a:p>
        </p:txBody>
      </p:sp>
      <p:sp>
        <p:nvSpPr>
          <p:cNvPr id="25" name="TextBox 24"/>
          <p:cNvSpPr txBox="1"/>
          <p:nvPr/>
        </p:nvSpPr>
        <p:spPr>
          <a:xfrm>
            <a:off x="3310127" y="4544568"/>
            <a:ext cx="1399032" cy="640080"/>
          </a:xfrm>
          <a:prstGeom prst="rect">
            <a:avLst/>
          </a:prstGeom>
          <a:noFill/>
        </p:spPr>
        <p:txBody>
          <a:bodyPr wrap="square" lIns="0" rIns="0" tIns="0" bIns="0" anchor="t">
            <a:spAutoFit/>
          </a:bodyPr>
          <a:lstStyle/>
          <a:p>
            <a:pPr algn="ctr">
              <a:lnSpc>
                <a:spcPct val="100000"/>
              </a:lnSpc>
            </a:pPr>
            <a:r>
              <a:rPr sz="1050" b="1" i="0">
                <a:solidFill>
                  <a:srgbClr val="162230"/>
                </a:solidFill>
                <a:latin typeface="Calibri"/>
              </a:rPr>
              <a:t>Pydantic</a:t>
            </a:r>
          </a:p>
        </p:txBody>
      </p:sp>
      <p:sp>
        <p:nvSpPr>
          <p:cNvPr id="26" name="Oval 25"/>
          <p:cNvSpPr/>
          <p:nvPr/>
        </p:nvSpPr>
        <p:spPr>
          <a:xfrm>
            <a:off x="5061203" y="3794760"/>
            <a:ext cx="658368" cy="658368"/>
          </a:xfrm>
          <a:prstGeom prst="ellipse">
            <a:avLst/>
          </a:prstGeom>
          <a:solidFill>
            <a:srgbClr val="E4EC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82312" y="3794760"/>
            <a:ext cx="1216152" cy="658368"/>
          </a:xfrm>
          <a:prstGeom prst="rect">
            <a:avLst/>
          </a:prstGeom>
          <a:noFill/>
        </p:spPr>
        <p:txBody>
          <a:bodyPr wrap="square" lIns="0" rIns="0" tIns="0" bIns="0" anchor="ctr">
            <a:spAutoFit/>
          </a:bodyPr>
          <a:lstStyle/>
          <a:p>
            <a:pPr algn="ctr"/>
            <a:r>
              <a:rPr sz="1300" b="1" i="0">
                <a:solidFill>
                  <a:srgbClr val="065A82"/>
                </a:solidFill>
                <a:latin typeface="Cambria"/>
              </a:rPr>
              <a:t>JS</a:t>
            </a:r>
          </a:p>
        </p:txBody>
      </p:sp>
      <p:sp>
        <p:nvSpPr>
          <p:cNvPr id="28" name="TextBox 27"/>
          <p:cNvSpPr txBox="1"/>
          <p:nvPr/>
        </p:nvSpPr>
        <p:spPr>
          <a:xfrm>
            <a:off x="4690872" y="4544568"/>
            <a:ext cx="1399032" cy="640080"/>
          </a:xfrm>
          <a:prstGeom prst="rect">
            <a:avLst/>
          </a:prstGeom>
          <a:noFill/>
        </p:spPr>
        <p:txBody>
          <a:bodyPr wrap="square" lIns="0" rIns="0" tIns="0" bIns="0" anchor="t">
            <a:spAutoFit/>
          </a:bodyPr>
          <a:lstStyle/>
          <a:p>
            <a:pPr algn="ctr">
              <a:lnSpc>
                <a:spcPct val="100000"/>
              </a:lnSpc>
            </a:pPr>
            <a:r>
              <a:rPr sz="1050" b="1" i="0">
                <a:solidFill>
                  <a:srgbClr val="162230"/>
                </a:solidFill>
                <a:latin typeface="Calibri"/>
              </a:rPr>
              <a:t>JSON Schema</a:t>
            </a:r>
          </a:p>
        </p:txBody>
      </p:sp>
      <p:sp>
        <p:nvSpPr>
          <p:cNvPr id="29" name="Oval 28"/>
          <p:cNvSpPr/>
          <p:nvPr/>
        </p:nvSpPr>
        <p:spPr>
          <a:xfrm>
            <a:off x="6441947" y="3794760"/>
            <a:ext cx="658368" cy="658368"/>
          </a:xfrm>
          <a:prstGeom prst="ellipse">
            <a:avLst/>
          </a:prstGeom>
          <a:solidFill>
            <a:srgbClr val="E4EC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163055" y="3794760"/>
            <a:ext cx="1216152" cy="658368"/>
          </a:xfrm>
          <a:prstGeom prst="rect">
            <a:avLst/>
          </a:prstGeom>
          <a:noFill/>
        </p:spPr>
        <p:txBody>
          <a:bodyPr wrap="square" lIns="0" rIns="0" tIns="0" bIns="0" anchor="ctr">
            <a:spAutoFit/>
          </a:bodyPr>
          <a:lstStyle/>
          <a:p>
            <a:pPr algn="ctr"/>
            <a:r>
              <a:rPr sz="1300" b="1" i="0">
                <a:solidFill>
                  <a:srgbClr val="065A82"/>
                </a:solidFill>
                <a:latin typeface="Cambria"/>
              </a:rPr>
              <a:t>DB</a:t>
            </a:r>
          </a:p>
        </p:txBody>
      </p:sp>
      <p:sp>
        <p:nvSpPr>
          <p:cNvPr id="31" name="TextBox 30"/>
          <p:cNvSpPr txBox="1"/>
          <p:nvPr/>
        </p:nvSpPr>
        <p:spPr>
          <a:xfrm>
            <a:off x="6071616" y="4544568"/>
            <a:ext cx="1399032" cy="640080"/>
          </a:xfrm>
          <a:prstGeom prst="rect">
            <a:avLst/>
          </a:prstGeom>
          <a:noFill/>
        </p:spPr>
        <p:txBody>
          <a:bodyPr wrap="square" lIns="0" rIns="0" tIns="0" bIns="0" anchor="t">
            <a:spAutoFit/>
          </a:bodyPr>
          <a:lstStyle/>
          <a:p>
            <a:pPr algn="ctr">
              <a:lnSpc>
                <a:spcPct val="100000"/>
              </a:lnSpc>
            </a:pPr>
            <a:r>
              <a:rPr sz="1050" b="1" i="0">
                <a:solidFill>
                  <a:srgbClr val="162230"/>
                </a:solidFill>
                <a:latin typeface="Calibri"/>
              </a:rPr>
              <a:t>SQLite</a:t>
            </a:r>
          </a:p>
        </p:txBody>
      </p:sp>
      <p:sp>
        <p:nvSpPr>
          <p:cNvPr id="32" name="Oval 31"/>
          <p:cNvSpPr/>
          <p:nvPr/>
        </p:nvSpPr>
        <p:spPr>
          <a:xfrm>
            <a:off x="7822692" y="3794760"/>
            <a:ext cx="658368" cy="658368"/>
          </a:xfrm>
          <a:prstGeom prst="ellipse">
            <a:avLst/>
          </a:prstGeom>
          <a:solidFill>
            <a:srgbClr val="E4EC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543800" y="3794760"/>
            <a:ext cx="1216152" cy="658368"/>
          </a:xfrm>
          <a:prstGeom prst="rect">
            <a:avLst/>
          </a:prstGeom>
          <a:noFill/>
        </p:spPr>
        <p:txBody>
          <a:bodyPr wrap="square" lIns="0" rIns="0" tIns="0" bIns="0" anchor="ctr">
            <a:spAutoFit/>
          </a:bodyPr>
          <a:lstStyle/>
          <a:p>
            <a:pPr algn="ctr"/>
            <a:r>
              <a:rPr sz="1300" b="1" i="0">
                <a:solidFill>
                  <a:srgbClr val="065A82"/>
                </a:solidFill>
                <a:latin typeface="Cambria"/>
              </a:rPr>
              <a:t>J2</a:t>
            </a:r>
          </a:p>
        </p:txBody>
      </p:sp>
      <p:sp>
        <p:nvSpPr>
          <p:cNvPr id="34" name="TextBox 33"/>
          <p:cNvSpPr txBox="1"/>
          <p:nvPr/>
        </p:nvSpPr>
        <p:spPr>
          <a:xfrm>
            <a:off x="7452360" y="4544568"/>
            <a:ext cx="1399032" cy="640080"/>
          </a:xfrm>
          <a:prstGeom prst="rect">
            <a:avLst/>
          </a:prstGeom>
          <a:noFill/>
        </p:spPr>
        <p:txBody>
          <a:bodyPr wrap="square" lIns="0" rIns="0" tIns="0" bIns="0" anchor="t">
            <a:spAutoFit/>
          </a:bodyPr>
          <a:lstStyle/>
          <a:p>
            <a:pPr algn="ctr">
              <a:lnSpc>
                <a:spcPct val="100000"/>
              </a:lnSpc>
            </a:pPr>
            <a:r>
              <a:rPr sz="1050" b="1" i="0">
                <a:solidFill>
                  <a:srgbClr val="162230"/>
                </a:solidFill>
                <a:latin typeface="Calibri"/>
              </a:rPr>
              <a:t>Jinja + LaTeX</a:t>
            </a:r>
          </a:p>
        </p:txBody>
      </p:sp>
      <p:sp>
        <p:nvSpPr>
          <p:cNvPr id="35" name="Oval 34"/>
          <p:cNvSpPr/>
          <p:nvPr/>
        </p:nvSpPr>
        <p:spPr>
          <a:xfrm>
            <a:off x="9203436" y="3794760"/>
            <a:ext cx="658368" cy="658368"/>
          </a:xfrm>
          <a:prstGeom prst="ellipse">
            <a:avLst/>
          </a:prstGeom>
          <a:solidFill>
            <a:srgbClr val="E4EC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924544" y="3794760"/>
            <a:ext cx="1216152" cy="658368"/>
          </a:xfrm>
          <a:prstGeom prst="rect">
            <a:avLst/>
          </a:prstGeom>
          <a:noFill/>
        </p:spPr>
        <p:txBody>
          <a:bodyPr wrap="square" lIns="0" rIns="0" tIns="0" bIns="0" anchor="ctr">
            <a:spAutoFit/>
          </a:bodyPr>
          <a:lstStyle/>
          <a:p>
            <a:pPr algn="ctr"/>
            <a:r>
              <a:rPr sz="1300" b="1" i="0">
                <a:solidFill>
                  <a:srgbClr val="065A82"/>
                </a:solidFill>
                <a:latin typeface="Cambria"/>
              </a:rPr>
              <a:t>PT</a:t>
            </a:r>
          </a:p>
        </p:txBody>
      </p:sp>
      <p:sp>
        <p:nvSpPr>
          <p:cNvPr id="37" name="TextBox 36"/>
          <p:cNvSpPr txBox="1"/>
          <p:nvPr/>
        </p:nvSpPr>
        <p:spPr>
          <a:xfrm>
            <a:off x="8833104" y="4544568"/>
            <a:ext cx="1399032" cy="640080"/>
          </a:xfrm>
          <a:prstGeom prst="rect">
            <a:avLst/>
          </a:prstGeom>
          <a:noFill/>
        </p:spPr>
        <p:txBody>
          <a:bodyPr wrap="square" lIns="0" rIns="0" tIns="0" bIns="0" anchor="t">
            <a:spAutoFit/>
          </a:bodyPr>
          <a:lstStyle/>
          <a:p>
            <a:pPr algn="ctr">
              <a:lnSpc>
                <a:spcPct val="100000"/>
              </a:lnSpc>
            </a:pPr>
            <a:r>
              <a:rPr sz="1050" b="1" i="0">
                <a:solidFill>
                  <a:srgbClr val="162230"/>
                </a:solidFill>
                <a:latin typeface="Calibri"/>
              </a:rPr>
              <a:t>pytest + xdist</a:t>
            </a:r>
          </a:p>
        </p:txBody>
      </p:sp>
      <p:sp>
        <p:nvSpPr>
          <p:cNvPr id="38" name="Oval 37"/>
          <p:cNvSpPr/>
          <p:nvPr/>
        </p:nvSpPr>
        <p:spPr>
          <a:xfrm>
            <a:off x="10584180" y="3794760"/>
            <a:ext cx="658368" cy="658368"/>
          </a:xfrm>
          <a:prstGeom prst="ellipse">
            <a:avLst/>
          </a:prstGeom>
          <a:solidFill>
            <a:srgbClr val="E4EC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305288" y="3794760"/>
            <a:ext cx="1216152" cy="658368"/>
          </a:xfrm>
          <a:prstGeom prst="rect">
            <a:avLst/>
          </a:prstGeom>
          <a:noFill/>
        </p:spPr>
        <p:txBody>
          <a:bodyPr wrap="square" lIns="0" rIns="0" tIns="0" bIns="0" anchor="ctr">
            <a:spAutoFit/>
          </a:bodyPr>
          <a:lstStyle/>
          <a:p>
            <a:pPr algn="ctr"/>
            <a:r>
              <a:rPr sz="1300" b="1" i="0">
                <a:solidFill>
                  <a:srgbClr val="065A82"/>
                </a:solidFill>
                <a:latin typeface="Cambria"/>
              </a:rPr>
              <a:t>GH</a:t>
            </a:r>
          </a:p>
        </p:txBody>
      </p:sp>
      <p:sp>
        <p:nvSpPr>
          <p:cNvPr id="40" name="TextBox 39"/>
          <p:cNvSpPr txBox="1"/>
          <p:nvPr/>
        </p:nvSpPr>
        <p:spPr>
          <a:xfrm>
            <a:off x="10213848" y="4544568"/>
            <a:ext cx="1399032" cy="640080"/>
          </a:xfrm>
          <a:prstGeom prst="rect">
            <a:avLst/>
          </a:prstGeom>
          <a:noFill/>
        </p:spPr>
        <p:txBody>
          <a:bodyPr wrap="square" lIns="0" rIns="0" tIns="0" bIns="0" anchor="t">
            <a:spAutoFit/>
          </a:bodyPr>
          <a:lstStyle/>
          <a:p>
            <a:pPr algn="ctr">
              <a:lnSpc>
                <a:spcPct val="100000"/>
              </a:lnSpc>
            </a:pPr>
            <a:r>
              <a:rPr sz="1050" b="1" i="0">
                <a:solidFill>
                  <a:srgbClr val="162230"/>
                </a:solidFill>
                <a:latin typeface="Calibri"/>
              </a:rPr>
              <a:t>Git + Actions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9144000" cy="320040"/>
          </a:xfrm>
          <a:prstGeom prst="rect">
            <a:avLst/>
          </a:prstGeom>
          <a:noFill/>
        </p:spPr>
        <p:txBody>
          <a:bodyPr wrap="square" lIns="0" rIns="0" tIns="0" bIns="0" anchor="t">
            <a:spAutoFit/>
          </a:bodyPr>
          <a:lstStyle/>
          <a:p>
            <a:pPr algn="l"/>
            <a:r>
              <a:rPr sz="1300" b="1" i="0">
                <a:solidFill>
                  <a:srgbClr val="1C7293"/>
                </a:solidFill>
                <a:latin typeface="Calibri"/>
              </a:rPr>
              <a:t>4 · METODOLOGÍA Y ARQUITECTURA</a:t>
            </a:r>
          </a:p>
        </p:txBody>
      </p:sp>
      <p:sp>
        <p:nvSpPr>
          <p:cNvPr id="4" name="TextBox 3"/>
          <p:cNvSpPr txBox="1"/>
          <p:nvPr/>
        </p:nvSpPr>
        <p:spPr>
          <a:xfrm>
            <a:off x="548640" y="658368"/>
            <a:ext cx="11064240" cy="822960"/>
          </a:xfrm>
          <a:prstGeom prst="rect">
            <a:avLst/>
          </a:prstGeom>
          <a:noFill/>
        </p:spPr>
        <p:txBody>
          <a:bodyPr wrap="square" lIns="0" rIns="0" tIns="0" bIns="0" anchor="t">
            <a:spAutoFit/>
          </a:bodyPr>
          <a:lstStyle/>
          <a:p>
            <a:pPr algn="l">
              <a:lnSpc>
                <a:spcPct val="102000"/>
              </a:lnSpc>
            </a:pPr>
            <a:r>
              <a:rPr sz="3000" b="1" i="0">
                <a:solidFill>
                  <a:srgbClr val="11243A"/>
                </a:solidFill>
                <a:latin typeface="Cambria"/>
              </a:rPr>
              <a:t>Arquitectura general por capas</a:t>
            </a:r>
          </a:p>
        </p:txBody>
      </p:sp>
      <p:pic>
        <p:nvPicPr>
          <p:cNvPr id="5" name="Picture 4" descr="open_cvn_layered_architecture.png"/>
          <p:cNvPicPr>
            <a:picLocks noChangeAspect="1"/>
          </p:cNvPicPr>
          <p:nvPr/>
        </p:nvPicPr>
        <p:blipFill>
          <a:blip r:embed="rId2"/>
          <a:stretch>
            <a:fillRect/>
          </a:stretch>
        </p:blipFill>
        <p:spPr>
          <a:xfrm>
            <a:off x="640080" y="1761545"/>
            <a:ext cx="10881360" cy="1734709"/>
          </a:xfrm>
          <a:prstGeom prst="rect">
            <a:avLst/>
          </a:prstGeom>
        </p:spPr>
      </p:pic>
      <p:sp>
        <p:nvSpPr>
          <p:cNvPr id="6" name="Rounded Rectangle 5"/>
          <p:cNvSpPr/>
          <p:nvPr/>
        </p:nvSpPr>
        <p:spPr>
          <a:xfrm>
            <a:off x="640080" y="3977639"/>
            <a:ext cx="2610612" cy="1874519"/>
          </a:xfrm>
          <a:prstGeom prst="roundRect">
            <a:avLst>
              <a:gd name="adj" fmla="val 9000"/>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3977639"/>
            <a:ext cx="2610612" cy="91440"/>
          </a:xfrm>
          <a:prstGeom prst="roundRect">
            <a:avLst>
              <a:gd name="adj" fmla="val 50000"/>
            </a:avLst>
          </a:prstGeom>
          <a:solidFill>
            <a:srgbClr val="11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233672"/>
            <a:ext cx="2318004" cy="640080"/>
          </a:xfrm>
          <a:prstGeom prst="rect">
            <a:avLst/>
          </a:prstGeom>
          <a:noFill/>
        </p:spPr>
        <p:txBody>
          <a:bodyPr wrap="square" lIns="0" rIns="0" tIns="0" bIns="0" anchor="t">
            <a:spAutoFit/>
          </a:bodyPr>
          <a:lstStyle/>
          <a:p>
            <a:pPr algn="l">
              <a:lnSpc>
                <a:spcPct val="105000"/>
              </a:lnSpc>
            </a:pPr>
            <a:r>
              <a:rPr sz="1250" b="1" i="0">
                <a:solidFill>
                  <a:srgbClr val="11243A"/>
                </a:solidFill>
                <a:latin typeface="Calibri"/>
              </a:rPr>
              <a:t>Fuente oficial CVN</a:t>
            </a:r>
          </a:p>
        </p:txBody>
      </p:sp>
      <p:sp>
        <p:nvSpPr>
          <p:cNvPr id="9" name="TextBox 8"/>
          <p:cNvSpPr txBox="1"/>
          <p:nvPr/>
        </p:nvSpPr>
        <p:spPr>
          <a:xfrm>
            <a:off x="786384" y="4892040"/>
            <a:ext cx="2318004" cy="822959"/>
          </a:xfrm>
          <a:prstGeom prst="rect">
            <a:avLst/>
          </a:prstGeom>
          <a:noFill/>
        </p:spPr>
        <p:txBody>
          <a:bodyPr wrap="square" lIns="0" rIns="0" tIns="0" bIns="0" anchor="t">
            <a:spAutoFit/>
          </a:bodyPr>
          <a:lstStyle/>
          <a:p>
            <a:pPr algn="l">
              <a:lnSpc>
                <a:spcPct val="112000"/>
              </a:lnSpc>
            </a:pPr>
            <a:r>
              <a:rPr sz="1050" b="0" i="0">
                <a:solidFill>
                  <a:srgbClr val="5B6B7A"/>
                </a:solidFill>
                <a:latin typeface="Calibri"/>
              </a:rPr>
              <a:t>Frontera externa: única fuente formal del sistema</a:t>
            </a:r>
          </a:p>
        </p:txBody>
      </p:sp>
      <p:sp>
        <p:nvSpPr>
          <p:cNvPr id="10" name="Rounded Rectangle 9"/>
          <p:cNvSpPr/>
          <p:nvPr/>
        </p:nvSpPr>
        <p:spPr>
          <a:xfrm>
            <a:off x="3396996" y="3977639"/>
            <a:ext cx="2610612" cy="1874519"/>
          </a:xfrm>
          <a:prstGeom prst="roundRect">
            <a:avLst>
              <a:gd name="adj" fmla="val 9000"/>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396996" y="3977639"/>
            <a:ext cx="2610612" cy="914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43300" y="4233672"/>
            <a:ext cx="2318004" cy="640080"/>
          </a:xfrm>
          <a:prstGeom prst="rect">
            <a:avLst/>
          </a:prstGeom>
          <a:noFill/>
        </p:spPr>
        <p:txBody>
          <a:bodyPr wrap="square" lIns="0" rIns="0" tIns="0" bIns="0" anchor="t">
            <a:spAutoFit/>
          </a:bodyPr>
          <a:lstStyle/>
          <a:p>
            <a:pPr algn="l">
              <a:lnSpc>
                <a:spcPct val="105000"/>
              </a:lnSpc>
            </a:pPr>
            <a:r>
              <a:rPr sz="1250" b="1" i="0">
                <a:solidFill>
                  <a:srgbClr val="11243A"/>
                </a:solidFill>
                <a:latin typeface="Calibri"/>
              </a:rPr>
              <a:t>Generación y normalización</a:t>
            </a:r>
          </a:p>
        </p:txBody>
      </p:sp>
      <p:sp>
        <p:nvSpPr>
          <p:cNvPr id="13" name="TextBox 12"/>
          <p:cNvSpPr txBox="1"/>
          <p:nvPr/>
        </p:nvSpPr>
        <p:spPr>
          <a:xfrm>
            <a:off x="3543300" y="4892040"/>
            <a:ext cx="2318004" cy="822959"/>
          </a:xfrm>
          <a:prstGeom prst="rect">
            <a:avLst/>
          </a:prstGeom>
          <a:noFill/>
        </p:spPr>
        <p:txBody>
          <a:bodyPr wrap="square" lIns="0" rIns="0" tIns="0" bIns="0" anchor="t">
            <a:spAutoFit/>
          </a:bodyPr>
          <a:lstStyle/>
          <a:p>
            <a:pPr algn="l">
              <a:lnSpc>
                <a:spcPct val="112000"/>
              </a:lnSpc>
            </a:pPr>
            <a:r>
              <a:rPr sz="1050" b="0" i="0">
                <a:solidFill>
                  <a:srgbClr val="5B6B7A"/>
                </a:solidFill>
                <a:latin typeface="Calibri"/>
              </a:rPr>
              <a:t>Bindings estructurales, metadatos y política semántica</a:t>
            </a:r>
          </a:p>
        </p:txBody>
      </p:sp>
      <p:sp>
        <p:nvSpPr>
          <p:cNvPr id="14" name="Rounded Rectangle 13"/>
          <p:cNvSpPr/>
          <p:nvPr/>
        </p:nvSpPr>
        <p:spPr>
          <a:xfrm>
            <a:off x="6153912" y="3977639"/>
            <a:ext cx="2610612" cy="1874519"/>
          </a:xfrm>
          <a:prstGeom prst="roundRect">
            <a:avLst>
              <a:gd name="adj" fmla="val 9000"/>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153912" y="3977639"/>
            <a:ext cx="2610612" cy="9144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0216" y="4233672"/>
            <a:ext cx="2318004" cy="640080"/>
          </a:xfrm>
          <a:prstGeom prst="rect">
            <a:avLst/>
          </a:prstGeom>
          <a:noFill/>
        </p:spPr>
        <p:txBody>
          <a:bodyPr wrap="square" lIns="0" rIns="0" tIns="0" bIns="0" anchor="t">
            <a:spAutoFit/>
          </a:bodyPr>
          <a:lstStyle/>
          <a:p>
            <a:pPr algn="l">
              <a:lnSpc>
                <a:spcPct val="105000"/>
              </a:lnSpc>
            </a:pPr>
            <a:r>
              <a:rPr sz="1250" b="1" i="0">
                <a:solidFill>
                  <a:srgbClr val="11243A"/>
                </a:solidFill>
                <a:latin typeface="Calibri"/>
              </a:rPr>
              <a:t>Dominio, conceptual y formato</a:t>
            </a:r>
          </a:p>
        </p:txBody>
      </p:sp>
      <p:sp>
        <p:nvSpPr>
          <p:cNvPr id="17" name="TextBox 16"/>
          <p:cNvSpPr txBox="1"/>
          <p:nvPr/>
        </p:nvSpPr>
        <p:spPr>
          <a:xfrm>
            <a:off x="6300216" y="4892040"/>
            <a:ext cx="2318004" cy="822959"/>
          </a:xfrm>
          <a:prstGeom prst="rect">
            <a:avLst/>
          </a:prstGeom>
          <a:noFill/>
        </p:spPr>
        <p:txBody>
          <a:bodyPr wrap="square" lIns="0" rIns="0" tIns="0" bIns="0" anchor="t">
            <a:spAutoFit/>
          </a:bodyPr>
          <a:lstStyle/>
          <a:p>
            <a:pPr algn="l">
              <a:lnSpc>
                <a:spcPct val="112000"/>
              </a:lnSpc>
            </a:pPr>
            <a:r>
              <a:rPr sz="1050" b="0" i="0">
                <a:solidFill>
                  <a:srgbClr val="5B6B7A"/>
                </a:solidFill>
                <a:latin typeface="Calibri"/>
              </a:rPr>
              <a:t>Modelos de dominio, modelo conceptual y JSON Schema</a:t>
            </a:r>
          </a:p>
        </p:txBody>
      </p:sp>
      <p:sp>
        <p:nvSpPr>
          <p:cNvPr id="18" name="Rounded Rectangle 17"/>
          <p:cNvSpPr/>
          <p:nvPr/>
        </p:nvSpPr>
        <p:spPr>
          <a:xfrm>
            <a:off x="8910828" y="3977639"/>
            <a:ext cx="2610612" cy="1874519"/>
          </a:xfrm>
          <a:prstGeom prst="roundRect">
            <a:avLst>
              <a:gd name="adj" fmla="val 9000"/>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910828" y="3977639"/>
            <a:ext cx="2610612" cy="91440"/>
          </a:xfrm>
          <a:prstGeom prst="roundRect">
            <a:avLst>
              <a:gd name="adj" fmla="val 50000"/>
            </a:avLst>
          </a:prstGeom>
          <a:solidFill>
            <a:srgbClr val="E09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7132" y="4233672"/>
            <a:ext cx="2318004" cy="640080"/>
          </a:xfrm>
          <a:prstGeom prst="rect">
            <a:avLst/>
          </a:prstGeom>
          <a:noFill/>
        </p:spPr>
        <p:txBody>
          <a:bodyPr wrap="square" lIns="0" rIns="0" tIns="0" bIns="0" anchor="t">
            <a:spAutoFit/>
          </a:bodyPr>
          <a:lstStyle/>
          <a:p>
            <a:pPr algn="l">
              <a:lnSpc>
                <a:spcPct val="105000"/>
              </a:lnSpc>
            </a:pPr>
            <a:r>
              <a:rPr sz="1250" b="1" i="0">
                <a:solidFill>
                  <a:srgbClr val="11243A"/>
                </a:solidFill>
                <a:latin typeface="Calibri"/>
              </a:rPr>
              <a:t>Herramienta local</a:t>
            </a:r>
          </a:p>
        </p:txBody>
      </p:sp>
      <p:sp>
        <p:nvSpPr>
          <p:cNvPr id="21" name="TextBox 20"/>
          <p:cNvSpPr txBox="1"/>
          <p:nvPr/>
        </p:nvSpPr>
        <p:spPr>
          <a:xfrm>
            <a:off x="9057132" y="4892040"/>
            <a:ext cx="2318004" cy="822959"/>
          </a:xfrm>
          <a:prstGeom prst="rect">
            <a:avLst/>
          </a:prstGeom>
          <a:noFill/>
        </p:spPr>
        <p:txBody>
          <a:bodyPr wrap="square" lIns="0" rIns="0" tIns="0" bIns="0" anchor="t">
            <a:spAutoFit/>
          </a:bodyPr>
          <a:lstStyle/>
          <a:p>
            <a:pPr algn="l">
              <a:lnSpc>
                <a:spcPct val="112000"/>
              </a:lnSpc>
            </a:pPr>
            <a:r>
              <a:rPr sz="1050" b="0" i="0">
                <a:solidFill>
                  <a:srgbClr val="5B6B7A"/>
                </a:solidFill>
                <a:latin typeface="Calibri"/>
              </a:rPr>
              <a:t>Uso operativo: importación, versiones, exportación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9144000" cy="320040"/>
          </a:xfrm>
          <a:prstGeom prst="rect">
            <a:avLst/>
          </a:prstGeom>
          <a:noFill/>
        </p:spPr>
        <p:txBody>
          <a:bodyPr wrap="square" lIns="0" rIns="0" tIns="0" bIns="0" anchor="t">
            <a:spAutoFit/>
          </a:bodyPr>
          <a:lstStyle/>
          <a:p>
            <a:pPr algn="l"/>
            <a:r>
              <a:rPr sz="1300" b="1" i="0">
                <a:solidFill>
                  <a:srgbClr val="1C7293"/>
                </a:solidFill>
                <a:latin typeface="Calibri"/>
              </a:rPr>
              <a:t>5 · IMPLEMENTACIÓN DEL PIPELINE</a:t>
            </a:r>
          </a:p>
        </p:txBody>
      </p:sp>
      <p:sp>
        <p:nvSpPr>
          <p:cNvPr id="4" name="TextBox 3"/>
          <p:cNvSpPr txBox="1"/>
          <p:nvPr/>
        </p:nvSpPr>
        <p:spPr>
          <a:xfrm>
            <a:off x="548640" y="658368"/>
            <a:ext cx="11064240" cy="822960"/>
          </a:xfrm>
          <a:prstGeom prst="rect">
            <a:avLst/>
          </a:prstGeom>
          <a:noFill/>
        </p:spPr>
        <p:txBody>
          <a:bodyPr wrap="square" lIns="0" rIns="0" tIns="0" bIns="0" anchor="t">
            <a:spAutoFit/>
          </a:bodyPr>
          <a:lstStyle/>
          <a:p>
            <a:pPr algn="l">
              <a:lnSpc>
                <a:spcPct val="102000"/>
              </a:lnSpc>
            </a:pPr>
            <a:r>
              <a:rPr sz="3000" b="1" i="0">
                <a:solidFill>
                  <a:srgbClr val="11243A"/>
                </a:solidFill>
                <a:latin typeface="Cambria"/>
              </a:rPr>
              <a:t>De los XSD oficiales a una política semántica trazable</a:t>
            </a:r>
          </a:p>
        </p:txBody>
      </p:sp>
      <p:sp>
        <p:nvSpPr>
          <p:cNvPr id="5" name="Rounded Rectangle 4"/>
          <p:cNvSpPr/>
          <p:nvPr/>
        </p:nvSpPr>
        <p:spPr>
          <a:xfrm>
            <a:off x="640080" y="1874519"/>
            <a:ext cx="2610612" cy="3063240"/>
          </a:xfrm>
          <a:prstGeom prst="roundRect">
            <a:avLst>
              <a:gd name="adj" fmla="val 8000"/>
            </a:avLst>
          </a:prstGeom>
          <a:solidFill>
            <a:srgbClr val="FFFFFF"/>
          </a:solidFill>
          <a:ln w="13970">
            <a:solidFill>
              <a:srgbClr val="D8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41247" y="2093976"/>
            <a:ext cx="502920" cy="50292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0" bIns="0"/>
          <a:lstStyle/>
          <a:p>
            <a:pPr algn="ctr"/>
            <a:r>
              <a:rPr sz="1500" b="1">
                <a:solidFill>
                  <a:srgbClr val="FFFFFF"/>
                </a:solidFill>
                <a:latin typeface="Calibri"/>
              </a:rPr>
              <a:t>1</a:t>
            </a:r>
          </a:p>
        </p:txBody>
      </p:sp>
      <p:sp>
        <p:nvSpPr>
          <p:cNvPr id="7" name="TextBox 6"/>
          <p:cNvSpPr txBox="1"/>
          <p:nvPr/>
        </p:nvSpPr>
        <p:spPr>
          <a:xfrm>
            <a:off x="822959" y="2788920"/>
            <a:ext cx="2244852" cy="685800"/>
          </a:xfrm>
          <a:prstGeom prst="rect">
            <a:avLst/>
          </a:prstGeom>
          <a:noFill/>
        </p:spPr>
        <p:txBody>
          <a:bodyPr wrap="square" lIns="0" rIns="0" tIns="0" bIns="0" anchor="t">
            <a:spAutoFit/>
          </a:bodyPr>
          <a:lstStyle/>
          <a:p>
            <a:pPr algn="l">
              <a:lnSpc>
                <a:spcPct val="102000"/>
              </a:lnSpc>
            </a:pPr>
            <a:r>
              <a:rPr sz="1350" b="1" i="0">
                <a:solidFill>
                  <a:srgbClr val="11243A"/>
                </a:solidFill>
                <a:latin typeface="Calibri"/>
              </a:rPr>
              <a:t>Generación estructural</a:t>
            </a:r>
          </a:p>
        </p:txBody>
      </p:sp>
      <p:sp>
        <p:nvSpPr>
          <p:cNvPr id="8" name="TextBox 7"/>
          <p:cNvSpPr txBox="1"/>
          <p:nvPr/>
        </p:nvSpPr>
        <p:spPr>
          <a:xfrm>
            <a:off x="822959" y="3429000"/>
            <a:ext cx="2244852" cy="1371600"/>
          </a:xfrm>
          <a:prstGeom prst="rect">
            <a:avLst/>
          </a:prstGeom>
          <a:noFill/>
        </p:spPr>
        <p:txBody>
          <a:bodyPr wrap="square" lIns="0" rIns="0" tIns="0" bIns="0" anchor="t">
            <a:spAutoFit/>
          </a:bodyPr>
          <a:lstStyle/>
          <a:p>
            <a:pPr algn="l">
              <a:lnSpc>
                <a:spcPct val="115000"/>
              </a:lnSpc>
            </a:pPr>
            <a:r>
              <a:rPr sz="1080" b="0" i="0">
                <a:solidFill>
                  <a:srgbClr val="5B6B7A"/>
                </a:solidFill>
                <a:latin typeface="Calibri"/>
              </a:rPr>
              <a:t>xsdata genera bindings Pydantic fieles al XML de CVN, sin interpretación semántica todavía.</a:t>
            </a:r>
          </a:p>
        </p:txBody>
      </p:sp>
      <p:sp>
        <p:nvSpPr>
          <p:cNvPr id="9" name="Rounded Rectangle 8"/>
          <p:cNvSpPr/>
          <p:nvPr/>
        </p:nvSpPr>
        <p:spPr>
          <a:xfrm>
            <a:off x="3396996" y="1874519"/>
            <a:ext cx="2610612" cy="3063240"/>
          </a:xfrm>
          <a:prstGeom prst="roundRect">
            <a:avLst>
              <a:gd name="adj" fmla="val 8000"/>
            </a:avLst>
          </a:prstGeom>
          <a:solidFill>
            <a:srgbClr val="FFFFFF"/>
          </a:solidFill>
          <a:ln w="13970">
            <a:solidFill>
              <a:srgbClr val="D8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3598164" y="2093976"/>
            <a:ext cx="502920" cy="50292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0" bIns="0"/>
          <a:lstStyle/>
          <a:p>
            <a:pPr algn="ctr"/>
            <a:r>
              <a:rPr sz="1500" b="1">
                <a:solidFill>
                  <a:srgbClr val="FFFFFF"/>
                </a:solidFill>
                <a:latin typeface="Calibri"/>
              </a:rPr>
              <a:t>2</a:t>
            </a:r>
          </a:p>
        </p:txBody>
      </p:sp>
      <p:sp>
        <p:nvSpPr>
          <p:cNvPr id="11" name="TextBox 10"/>
          <p:cNvSpPr txBox="1"/>
          <p:nvPr/>
        </p:nvSpPr>
        <p:spPr>
          <a:xfrm>
            <a:off x="3579876" y="2788920"/>
            <a:ext cx="2244852" cy="685800"/>
          </a:xfrm>
          <a:prstGeom prst="rect">
            <a:avLst/>
          </a:prstGeom>
          <a:noFill/>
        </p:spPr>
        <p:txBody>
          <a:bodyPr wrap="square" lIns="0" rIns="0" tIns="0" bIns="0" anchor="t">
            <a:spAutoFit/>
          </a:bodyPr>
          <a:lstStyle/>
          <a:p>
            <a:pPr algn="l">
              <a:lnSpc>
                <a:spcPct val="102000"/>
              </a:lnSpc>
            </a:pPr>
            <a:r>
              <a:rPr sz="1350" b="1" i="0">
                <a:solidFill>
                  <a:srgbClr val="11243A"/>
                </a:solidFill>
                <a:latin typeface="Calibri"/>
              </a:rPr>
              <a:t>Normalización</a:t>
            </a:r>
          </a:p>
        </p:txBody>
      </p:sp>
      <p:sp>
        <p:nvSpPr>
          <p:cNvPr id="12" name="TextBox 11"/>
          <p:cNvSpPr txBox="1"/>
          <p:nvPr/>
        </p:nvSpPr>
        <p:spPr>
          <a:xfrm>
            <a:off x="3579876" y="3429000"/>
            <a:ext cx="2244852" cy="1371600"/>
          </a:xfrm>
          <a:prstGeom prst="rect">
            <a:avLst/>
          </a:prstGeom>
          <a:noFill/>
        </p:spPr>
        <p:txBody>
          <a:bodyPr wrap="square" lIns="0" rIns="0" tIns="0" bIns="0" anchor="t">
            <a:spAutoFit/>
          </a:bodyPr>
          <a:lstStyle/>
          <a:p>
            <a:pPr algn="l">
              <a:lnSpc>
                <a:spcPct val="115000"/>
              </a:lnSpc>
            </a:pPr>
            <a:r>
              <a:rPr sz="1080" b="0" i="0">
                <a:solidFill>
                  <a:srgbClr val="5B6B7A"/>
                </a:solidFill>
                <a:latin typeface="Calibri"/>
              </a:rPr>
              <a:t>Unifica manual funcional y modelo en árbol en una única estructura, indexada por código CVN.</a:t>
            </a:r>
          </a:p>
        </p:txBody>
      </p:sp>
      <p:sp>
        <p:nvSpPr>
          <p:cNvPr id="13" name="Rounded Rectangle 12"/>
          <p:cNvSpPr/>
          <p:nvPr/>
        </p:nvSpPr>
        <p:spPr>
          <a:xfrm>
            <a:off x="6153912" y="1874519"/>
            <a:ext cx="2610612" cy="3063240"/>
          </a:xfrm>
          <a:prstGeom prst="roundRect">
            <a:avLst>
              <a:gd name="adj" fmla="val 8000"/>
            </a:avLst>
          </a:prstGeom>
          <a:solidFill>
            <a:srgbClr val="FFFFFF"/>
          </a:solidFill>
          <a:ln w="13970">
            <a:solidFill>
              <a:srgbClr val="D8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5080" y="2093976"/>
            <a:ext cx="502920" cy="50292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0" bIns="0"/>
          <a:lstStyle/>
          <a:p>
            <a:pPr algn="ctr"/>
            <a:r>
              <a:rPr sz="1500" b="1">
                <a:solidFill>
                  <a:srgbClr val="FFFFFF"/>
                </a:solidFill>
                <a:latin typeface="Calibri"/>
              </a:rPr>
              <a:t>3</a:t>
            </a:r>
          </a:p>
        </p:txBody>
      </p:sp>
      <p:sp>
        <p:nvSpPr>
          <p:cNvPr id="15" name="TextBox 14"/>
          <p:cNvSpPr txBox="1"/>
          <p:nvPr/>
        </p:nvSpPr>
        <p:spPr>
          <a:xfrm>
            <a:off x="6336792" y="2788920"/>
            <a:ext cx="2244852" cy="685800"/>
          </a:xfrm>
          <a:prstGeom prst="rect">
            <a:avLst/>
          </a:prstGeom>
          <a:noFill/>
        </p:spPr>
        <p:txBody>
          <a:bodyPr wrap="square" lIns="0" rIns="0" tIns="0" bIns="0" anchor="t">
            <a:spAutoFit/>
          </a:bodyPr>
          <a:lstStyle/>
          <a:p>
            <a:pPr algn="l">
              <a:lnSpc>
                <a:spcPct val="102000"/>
              </a:lnSpc>
            </a:pPr>
            <a:r>
              <a:rPr sz="1350" b="1" i="0">
                <a:solidFill>
                  <a:srgbClr val="11243A"/>
                </a:solidFill>
                <a:latin typeface="Calibri"/>
              </a:rPr>
              <a:t>Resolución auxiliar</a:t>
            </a:r>
          </a:p>
        </p:txBody>
      </p:sp>
      <p:sp>
        <p:nvSpPr>
          <p:cNvPr id="16" name="TextBox 15"/>
          <p:cNvSpPr txBox="1"/>
          <p:nvPr/>
        </p:nvSpPr>
        <p:spPr>
          <a:xfrm>
            <a:off x="6336792" y="3429000"/>
            <a:ext cx="2244852" cy="1371600"/>
          </a:xfrm>
          <a:prstGeom prst="rect">
            <a:avLst/>
          </a:prstGeom>
          <a:noFill/>
        </p:spPr>
        <p:txBody>
          <a:bodyPr wrap="square" lIns="0" rIns="0" tIns="0" bIns="0" anchor="t">
            <a:spAutoFit/>
          </a:bodyPr>
          <a:lstStyle/>
          <a:p>
            <a:pPr algn="l">
              <a:lnSpc>
                <a:spcPct val="115000"/>
              </a:lnSpc>
            </a:pPr>
            <a:r>
              <a:rPr sz="1080" b="0" i="0">
                <a:solidFill>
                  <a:srgbClr val="5B6B7A"/>
                </a:solidFill>
                <a:latin typeface="Calibri"/>
              </a:rPr>
              <a:t>Resuelve las referencias del manual hacia entidades, tablas y tesauro, con evidencia registrada.</a:t>
            </a:r>
          </a:p>
        </p:txBody>
      </p:sp>
      <p:sp>
        <p:nvSpPr>
          <p:cNvPr id="17" name="Rounded Rectangle 16"/>
          <p:cNvSpPr/>
          <p:nvPr/>
        </p:nvSpPr>
        <p:spPr>
          <a:xfrm>
            <a:off x="8910828" y="1874519"/>
            <a:ext cx="2610612" cy="3063240"/>
          </a:xfrm>
          <a:prstGeom prst="roundRect">
            <a:avLst>
              <a:gd name="adj" fmla="val 8000"/>
            </a:avLst>
          </a:prstGeom>
          <a:solidFill>
            <a:srgbClr val="FFFFFF"/>
          </a:solidFill>
          <a:ln w="13970">
            <a:solidFill>
              <a:srgbClr val="D8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111996" y="2093976"/>
            <a:ext cx="502920" cy="50292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0" bIns="0"/>
          <a:lstStyle/>
          <a:p>
            <a:pPr algn="ctr"/>
            <a:r>
              <a:rPr sz="1500" b="1">
                <a:solidFill>
                  <a:srgbClr val="FFFFFF"/>
                </a:solidFill>
                <a:latin typeface="Calibri"/>
              </a:rPr>
              <a:t>4</a:t>
            </a:r>
          </a:p>
        </p:txBody>
      </p:sp>
      <p:sp>
        <p:nvSpPr>
          <p:cNvPr id="19" name="TextBox 18"/>
          <p:cNvSpPr txBox="1"/>
          <p:nvPr/>
        </p:nvSpPr>
        <p:spPr>
          <a:xfrm>
            <a:off x="9093708" y="2788920"/>
            <a:ext cx="2244852" cy="685800"/>
          </a:xfrm>
          <a:prstGeom prst="rect">
            <a:avLst/>
          </a:prstGeom>
          <a:noFill/>
        </p:spPr>
        <p:txBody>
          <a:bodyPr wrap="square" lIns="0" rIns="0" tIns="0" bIns="0" anchor="t">
            <a:spAutoFit/>
          </a:bodyPr>
          <a:lstStyle/>
          <a:p>
            <a:pPr algn="l">
              <a:lnSpc>
                <a:spcPct val="102000"/>
              </a:lnSpc>
            </a:pPr>
            <a:r>
              <a:rPr sz="1350" b="1" i="0">
                <a:solidFill>
                  <a:srgbClr val="11243A"/>
                </a:solidFill>
                <a:latin typeface="Calibri"/>
              </a:rPr>
              <a:t>Política semántica</a:t>
            </a:r>
          </a:p>
        </p:txBody>
      </p:sp>
      <p:sp>
        <p:nvSpPr>
          <p:cNvPr id="20" name="TextBox 19"/>
          <p:cNvSpPr txBox="1"/>
          <p:nvPr/>
        </p:nvSpPr>
        <p:spPr>
          <a:xfrm>
            <a:off x="9093708" y="3429000"/>
            <a:ext cx="2244852" cy="1371600"/>
          </a:xfrm>
          <a:prstGeom prst="rect">
            <a:avLst/>
          </a:prstGeom>
          <a:noFill/>
        </p:spPr>
        <p:txBody>
          <a:bodyPr wrap="square" lIns="0" rIns="0" tIns="0" bIns="0" anchor="t">
            <a:spAutoFit/>
          </a:bodyPr>
          <a:lstStyle/>
          <a:p>
            <a:pPr algn="l">
              <a:lnSpc>
                <a:spcPct val="115000"/>
              </a:lnSpc>
            </a:pPr>
            <a:r>
              <a:rPr sz="1080" b="0" i="0">
                <a:solidFill>
                  <a:srgbClr val="5B6B7A"/>
                </a:solidFill>
                <a:latin typeface="Calibri"/>
              </a:rPr>
              <a:t>Decide, campo a campo, su forma semántica: texto, fecha, enum cerrado, catálogo abierto, referencia…</a:t>
            </a:r>
          </a:p>
        </p:txBody>
      </p:sp>
      <p:sp>
        <p:nvSpPr>
          <p:cNvPr id="21" name="TextBox 20"/>
          <p:cNvSpPr txBox="1"/>
          <p:nvPr/>
        </p:nvSpPr>
        <p:spPr>
          <a:xfrm>
            <a:off x="640080" y="5166360"/>
            <a:ext cx="10881360" cy="457200"/>
          </a:xfrm>
          <a:prstGeom prst="rect">
            <a:avLst/>
          </a:prstGeom>
          <a:noFill/>
        </p:spPr>
        <p:txBody>
          <a:bodyPr wrap="square" lIns="0" rIns="0" tIns="0" bIns="0" anchor="t">
            <a:spAutoFit/>
          </a:bodyPr>
          <a:lstStyle/>
          <a:p>
            <a:pPr algn="ctr"/>
            <a:r>
              <a:rPr sz="1150" b="0" i="1">
                <a:solidFill>
                  <a:srgbClr val="5B6B7A"/>
                </a:solidFill>
                <a:latin typeface="Calibri"/>
              </a:rPr>
              <a:t>Etapas mantenidas a mano en src/cvn_codegen/, separadas de los bindings generados automáticamente en src/generated/.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9144000" cy="320040"/>
          </a:xfrm>
          <a:prstGeom prst="rect">
            <a:avLst/>
          </a:prstGeom>
          <a:noFill/>
        </p:spPr>
        <p:txBody>
          <a:bodyPr wrap="square" lIns="0" rIns="0" tIns="0" bIns="0" anchor="t">
            <a:spAutoFit/>
          </a:bodyPr>
          <a:lstStyle/>
          <a:p>
            <a:pPr algn="l"/>
            <a:r>
              <a:rPr sz="1300" b="1" i="0">
                <a:solidFill>
                  <a:srgbClr val="1C7293"/>
                </a:solidFill>
                <a:latin typeface="Calibri"/>
              </a:rPr>
              <a:t>5 · IMPLEMENTACIÓN DEL PIPELINE</a:t>
            </a:r>
          </a:p>
        </p:txBody>
      </p:sp>
      <p:sp>
        <p:nvSpPr>
          <p:cNvPr id="4" name="TextBox 3"/>
          <p:cNvSpPr txBox="1"/>
          <p:nvPr/>
        </p:nvSpPr>
        <p:spPr>
          <a:xfrm>
            <a:off x="548640" y="658368"/>
            <a:ext cx="11064240" cy="822960"/>
          </a:xfrm>
          <a:prstGeom prst="rect">
            <a:avLst/>
          </a:prstGeom>
          <a:noFill/>
        </p:spPr>
        <p:txBody>
          <a:bodyPr wrap="square" lIns="0" rIns="0" tIns="0" bIns="0" anchor="t">
            <a:spAutoFit/>
          </a:bodyPr>
          <a:lstStyle/>
          <a:p>
            <a:pPr algn="l">
              <a:lnSpc>
                <a:spcPct val="102000"/>
              </a:lnSpc>
            </a:pPr>
            <a:r>
              <a:rPr sz="3000" b="1" i="0">
                <a:solidFill>
                  <a:srgbClr val="11243A"/>
                </a:solidFill>
                <a:latin typeface="Cambria"/>
              </a:rPr>
              <a:t>Normalización y resolución auxiliar, con evidencia</a:t>
            </a:r>
          </a:p>
        </p:txBody>
      </p:sp>
      <p:sp>
        <p:nvSpPr>
          <p:cNvPr id="5" name="Rounded Rectangle 4"/>
          <p:cNvSpPr/>
          <p:nvPr/>
        </p:nvSpPr>
        <p:spPr>
          <a:xfrm>
            <a:off x="640080" y="1920240"/>
            <a:ext cx="2044598" cy="1965960"/>
          </a:xfrm>
          <a:prstGeom prst="roundRect">
            <a:avLst>
              <a:gd name="adj" fmla="val 10000"/>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1" y="2011680"/>
            <a:ext cx="1898294" cy="1399031"/>
          </a:xfrm>
          <a:prstGeom prst="rect">
            <a:avLst/>
          </a:prstGeom>
          <a:noFill/>
        </p:spPr>
        <p:txBody>
          <a:bodyPr wrap="square" lIns="0" rIns="0" tIns="0" bIns="0" anchor="b">
            <a:spAutoFit/>
          </a:bodyPr>
          <a:lstStyle/>
          <a:p>
            <a:pPr algn="ctr"/>
            <a:r>
              <a:rPr sz="3000" b="1" i="0">
                <a:solidFill>
                  <a:srgbClr val="065A82"/>
                </a:solidFill>
                <a:latin typeface="Cambria"/>
              </a:rPr>
              <a:t>1457</a:t>
            </a:r>
          </a:p>
        </p:txBody>
      </p:sp>
      <p:sp>
        <p:nvSpPr>
          <p:cNvPr id="7" name="TextBox 6"/>
          <p:cNvSpPr txBox="1"/>
          <p:nvPr/>
        </p:nvSpPr>
        <p:spPr>
          <a:xfrm>
            <a:off x="713231" y="3429000"/>
            <a:ext cx="1898294" cy="420624"/>
          </a:xfrm>
          <a:prstGeom prst="rect">
            <a:avLst/>
          </a:prstGeom>
          <a:noFill/>
        </p:spPr>
        <p:txBody>
          <a:bodyPr wrap="square" lIns="0" rIns="0" tIns="0" bIns="0" anchor="t">
            <a:spAutoFit/>
          </a:bodyPr>
          <a:lstStyle/>
          <a:p>
            <a:pPr algn="ctr">
              <a:lnSpc>
                <a:spcPct val="100000"/>
              </a:lnSpc>
            </a:pPr>
            <a:r>
              <a:rPr sz="1050" b="0" i="0">
                <a:solidFill>
                  <a:srgbClr val="5B6B7A"/>
                </a:solidFill>
                <a:latin typeface="Calibri"/>
              </a:rPr>
              <a:t>entradas normalizadas totales</a:t>
            </a:r>
          </a:p>
        </p:txBody>
      </p:sp>
      <p:sp>
        <p:nvSpPr>
          <p:cNvPr id="8" name="Rounded Rectangle 7"/>
          <p:cNvSpPr/>
          <p:nvPr/>
        </p:nvSpPr>
        <p:spPr>
          <a:xfrm>
            <a:off x="2849270" y="1920240"/>
            <a:ext cx="2044598" cy="1965960"/>
          </a:xfrm>
          <a:prstGeom prst="roundRect">
            <a:avLst>
              <a:gd name="adj" fmla="val 10000"/>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22422" y="2011680"/>
            <a:ext cx="1898294" cy="1399031"/>
          </a:xfrm>
          <a:prstGeom prst="rect">
            <a:avLst/>
          </a:prstGeom>
          <a:noFill/>
        </p:spPr>
        <p:txBody>
          <a:bodyPr wrap="square" lIns="0" rIns="0" tIns="0" bIns="0" anchor="b">
            <a:spAutoFit/>
          </a:bodyPr>
          <a:lstStyle/>
          <a:p>
            <a:pPr algn="ctr"/>
            <a:r>
              <a:rPr sz="3000" b="1" i="0">
                <a:solidFill>
                  <a:srgbClr val="065A82"/>
                </a:solidFill>
                <a:latin typeface="Cambria"/>
              </a:rPr>
              <a:t>1429</a:t>
            </a:r>
          </a:p>
        </p:txBody>
      </p:sp>
      <p:sp>
        <p:nvSpPr>
          <p:cNvPr id="10" name="TextBox 9"/>
          <p:cNvSpPr txBox="1"/>
          <p:nvPr/>
        </p:nvSpPr>
        <p:spPr>
          <a:xfrm>
            <a:off x="2922422" y="3429000"/>
            <a:ext cx="1898294" cy="420624"/>
          </a:xfrm>
          <a:prstGeom prst="rect">
            <a:avLst/>
          </a:prstGeom>
          <a:noFill/>
        </p:spPr>
        <p:txBody>
          <a:bodyPr wrap="square" lIns="0" rIns="0" tIns="0" bIns="0" anchor="t">
            <a:spAutoFit/>
          </a:bodyPr>
          <a:lstStyle/>
          <a:p>
            <a:pPr algn="ctr">
              <a:lnSpc>
                <a:spcPct val="100000"/>
              </a:lnSpc>
            </a:pPr>
            <a:r>
              <a:rPr sz="1050" b="0" i="0">
                <a:solidFill>
                  <a:srgbClr val="5B6B7A"/>
                </a:solidFill>
                <a:latin typeface="Calibri"/>
              </a:rPr>
              <a:t>presentes en manual y en el modelo en árbol</a:t>
            </a:r>
          </a:p>
        </p:txBody>
      </p:sp>
      <p:sp>
        <p:nvSpPr>
          <p:cNvPr id="11" name="Rounded Rectangle 10"/>
          <p:cNvSpPr/>
          <p:nvPr/>
        </p:nvSpPr>
        <p:spPr>
          <a:xfrm>
            <a:off x="5058460" y="1920240"/>
            <a:ext cx="2044598" cy="1965960"/>
          </a:xfrm>
          <a:prstGeom prst="roundRect">
            <a:avLst>
              <a:gd name="adj" fmla="val 10000"/>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31612" y="2011680"/>
            <a:ext cx="1898294" cy="1399031"/>
          </a:xfrm>
          <a:prstGeom prst="rect">
            <a:avLst/>
          </a:prstGeom>
          <a:noFill/>
        </p:spPr>
        <p:txBody>
          <a:bodyPr wrap="square" lIns="0" rIns="0" tIns="0" bIns="0" anchor="b">
            <a:spAutoFit/>
          </a:bodyPr>
          <a:lstStyle/>
          <a:p>
            <a:pPr algn="ctr"/>
            <a:r>
              <a:rPr sz="3000" b="1" i="0">
                <a:solidFill>
                  <a:srgbClr val="065A82"/>
                </a:solidFill>
                <a:latin typeface="Cambria"/>
              </a:rPr>
              <a:t>557</a:t>
            </a:r>
          </a:p>
        </p:txBody>
      </p:sp>
      <p:sp>
        <p:nvSpPr>
          <p:cNvPr id="13" name="TextBox 12"/>
          <p:cNvSpPr txBox="1"/>
          <p:nvPr/>
        </p:nvSpPr>
        <p:spPr>
          <a:xfrm>
            <a:off x="5131612" y="3429000"/>
            <a:ext cx="1898294" cy="420624"/>
          </a:xfrm>
          <a:prstGeom prst="rect">
            <a:avLst/>
          </a:prstGeom>
          <a:noFill/>
        </p:spPr>
        <p:txBody>
          <a:bodyPr wrap="square" lIns="0" rIns="0" tIns="0" bIns="0" anchor="t">
            <a:spAutoFit/>
          </a:bodyPr>
          <a:lstStyle/>
          <a:p>
            <a:pPr algn="ctr">
              <a:lnSpc>
                <a:spcPct val="100000"/>
              </a:lnSpc>
            </a:pPr>
            <a:r>
              <a:rPr sz="1050" b="0" i="0">
                <a:solidFill>
                  <a:srgbClr val="5B6B7A"/>
                </a:solidFill>
                <a:latin typeface="Calibri"/>
              </a:rPr>
              <a:t>declaran tabla de referencia en el manual</a:t>
            </a:r>
          </a:p>
        </p:txBody>
      </p:sp>
      <p:sp>
        <p:nvSpPr>
          <p:cNvPr id="14" name="Rounded Rectangle 13"/>
          <p:cNvSpPr/>
          <p:nvPr/>
        </p:nvSpPr>
        <p:spPr>
          <a:xfrm>
            <a:off x="7267651" y="1920240"/>
            <a:ext cx="2044598" cy="1965960"/>
          </a:xfrm>
          <a:prstGeom prst="roundRect">
            <a:avLst>
              <a:gd name="adj" fmla="val 10000"/>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40803" y="2011680"/>
            <a:ext cx="1898294" cy="1399031"/>
          </a:xfrm>
          <a:prstGeom prst="rect">
            <a:avLst/>
          </a:prstGeom>
          <a:noFill/>
        </p:spPr>
        <p:txBody>
          <a:bodyPr wrap="square" lIns="0" rIns="0" tIns="0" bIns="0" anchor="b">
            <a:spAutoFit/>
          </a:bodyPr>
          <a:lstStyle/>
          <a:p>
            <a:pPr algn="ctr"/>
            <a:r>
              <a:rPr sz="3000" b="1" i="0">
                <a:solidFill>
                  <a:srgbClr val="065A82"/>
                </a:solidFill>
                <a:latin typeface="Cambria"/>
              </a:rPr>
              <a:t>33</a:t>
            </a:r>
          </a:p>
        </p:txBody>
      </p:sp>
      <p:sp>
        <p:nvSpPr>
          <p:cNvPr id="16" name="TextBox 15"/>
          <p:cNvSpPr txBox="1"/>
          <p:nvPr/>
        </p:nvSpPr>
        <p:spPr>
          <a:xfrm>
            <a:off x="7340803" y="3429000"/>
            <a:ext cx="1898294" cy="420624"/>
          </a:xfrm>
          <a:prstGeom prst="rect">
            <a:avLst/>
          </a:prstGeom>
          <a:noFill/>
        </p:spPr>
        <p:txBody>
          <a:bodyPr wrap="square" lIns="0" rIns="0" tIns="0" bIns="0" anchor="t">
            <a:spAutoFit/>
          </a:bodyPr>
          <a:lstStyle/>
          <a:p>
            <a:pPr algn="ctr">
              <a:lnSpc>
                <a:spcPct val="100000"/>
              </a:lnSpc>
            </a:pPr>
            <a:r>
              <a:rPr sz="1050" b="0" i="0">
                <a:solidFill>
                  <a:srgbClr val="5B6B7A"/>
                </a:solidFill>
                <a:latin typeface="Calibri"/>
              </a:rPr>
              <a:t>discrepancias manual / árbol registradas</a:t>
            </a:r>
          </a:p>
        </p:txBody>
      </p:sp>
      <p:sp>
        <p:nvSpPr>
          <p:cNvPr id="17" name="Rounded Rectangle 16"/>
          <p:cNvSpPr/>
          <p:nvPr/>
        </p:nvSpPr>
        <p:spPr>
          <a:xfrm>
            <a:off x="9476841" y="1920240"/>
            <a:ext cx="2044598" cy="1965960"/>
          </a:xfrm>
          <a:prstGeom prst="roundRect">
            <a:avLst>
              <a:gd name="adj" fmla="val 10000"/>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549993" y="2011680"/>
            <a:ext cx="1898294" cy="1399031"/>
          </a:xfrm>
          <a:prstGeom prst="rect">
            <a:avLst/>
          </a:prstGeom>
          <a:noFill/>
        </p:spPr>
        <p:txBody>
          <a:bodyPr wrap="square" lIns="0" rIns="0" tIns="0" bIns="0" anchor="b">
            <a:spAutoFit/>
          </a:bodyPr>
          <a:lstStyle/>
          <a:p>
            <a:pPr algn="ctr"/>
            <a:r>
              <a:rPr sz="3000" b="1" i="0">
                <a:solidFill>
                  <a:srgbClr val="E09A3E"/>
                </a:solidFill>
                <a:latin typeface="Cambria"/>
              </a:rPr>
              <a:t>1</a:t>
            </a:r>
          </a:p>
        </p:txBody>
      </p:sp>
      <p:sp>
        <p:nvSpPr>
          <p:cNvPr id="19" name="TextBox 18"/>
          <p:cNvSpPr txBox="1"/>
          <p:nvPr/>
        </p:nvSpPr>
        <p:spPr>
          <a:xfrm>
            <a:off x="9549993" y="3429000"/>
            <a:ext cx="1898294" cy="420624"/>
          </a:xfrm>
          <a:prstGeom prst="rect">
            <a:avLst/>
          </a:prstGeom>
          <a:noFill/>
        </p:spPr>
        <p:txBody>
          <a:bodyPr wrap="square" lIns="0" rIns="0" tIns="0" bIns="0" anchor="t">
            <a:spAutoFit/>
          </a:bodyPr>
          <a:lstStyle/>
          <a:p>
            <a:pPr algn="ctr">
              <a:lnSpc>
                <a:spcPct val="100000"/>
              </a:lnSpc>
            </a:pPr>
            <a:r>
              <a:rPr sz="1050" b="0" i="0">
                <a:solidFill>
                  <a:srgbClr val="5B6B7A"/>
                </a:solidFill>
                <a:latin typeface="Calibri"/>
              </a:rPr>
              <a:t>referencia sin resolver (CVN_AGENCY_C)</a:t>
            </a:r>
          </a:p>
        </p:txBody>
      </p:sp>
      <p:sp>
        <p:nvSpPr>
          <p:cNvPr id="20" name="Rounded Rectangle 19"/>
          <p:cNvSpPr/>
          <p:nvPr/>
        </p:nvSpPr>
        <p:spPr>
          <a:xfrm>
            <a:off x="640080" y="4160520"/>
            <a:ext cx="10881360" cy="1737360"/>
          </a:xfrm>
          <a:prstGeom prst="roundRect">
            <a:avLst>
              <a:gd name="adj" fmla="val 9000"/>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8680" y="4343400"/>
            <a:ext cx="10424160" cy="1417320"/>
          </a:xfrm>
          <a:prstGeom prst="rect">
            <a:avLst/>
          </a:prstGeom>
          <a:noFill/>
        </p:spPr>
        <p:txBody>
          <a:bodyPr wrap="square" anchor="t" lIns="0" rIns="0" tIns="0" bIns="0">
            <a:spAutoFit/>
          </a:bodyPr>
          <a:lstStyle/>
          <a:p>
            <a:pPr algn="l" marL="256032" indent="-256032">
              <a:lnSpc>
                <a:spcPct val="105000"/>
              </a:lnSpc>
              <a:spcAft>
                <a:spcPts val="800"/>
              </a:spcAft>
              <a:buClr>
                <a:srgbClr val="065A82"/>
              </a:buClr>
              <a:buSzPct val="55000"/>
              <a:buFont typeface="Arial"/>
              <a:buChar char="●"/>
            </a:pPr>
            <a:r>
              <a:rPr b="1" sz="1250">
                <a:solidFill>
                  <a:srgbClr val="162230"/>
                </a:solidFill>
                <a:latin typeface="Calibri"/>
              </a:rPr>
              <a:t>Evidencia, no suposición. </a:t>
            </a:r>
            <a:r>
              <a:rPr sz="1250">
                <a:solidFill>
                  <a:srgbClr val="162230"/>
                </a:solidFill>
                <a:latin typeface="Calibri"/>
              </a:rPr>
              <a:t>De las 557 entradas con tabla declarada, la resolución auxiliar se apoya en evidencia concreta del paquete; solo una queda sin resolver.</a:t>
            </a:r>
          </a:p>
          <a:p>
            <a:pPr algn="l" marL="256032" indent="-256032">
              <a:lnSpc>
                <a:spcPct val="105000"/>
              </a:lnSpc>
              <a:spcAft>
                <a:spcPts val="800"/>
              </a:spcAft>
              <a:buClr>
                <a:srgbClr val="065A82"/>
              </a:buClr>
              <a:buSzPct val="55000"/>
              <a:buFont typeface="Arial"/>
              <a:buChar char="●"/>
            </a:pPr>
            <a:r>
              <a:rPr b="1" sz="1250">
                <a:solidFill>
                  <a:srgbClr val="162230"/>
                </a:solidFill>
                <a:latin typeface="Calibri"/>
              </a:rPr>
              <a:t>El caso CVN_AGENCY_C. </a:t>
            </a:r>
            <a:r>
              <a:rPr sz="1250">
                <a:solidFill>
                  <a:srgbClr val="162230"/>
                </a:solidFill>
                <a:latin typeface="Calibri"/>
              </a:rPr>
              <a:t>El manual cita una tabla que no tiene equivalente localizable en el resto del paquete: se conserva como referencia no resuelta, en lugar de forzar una interpretación.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9144000" cy="320040"/>
          </a:xfrm>
          <a:prstGeom prst="rect">
            <a:avLst/>
          </a:prstGeom>
          <a:noFill/>
        </p:spPr>
        <p:txBody>
          <a:bodyPr wrap="square" lIns="0" rIns="0" tIns="0" bIns="0" anchor="t">
            <a:spAutoFit/>
          </a:bodyPr>
          <a:lstStyle/>
          <a:p>
            <a:pPr algn="l"/>
            <a:r>
              <a:rPr sz="1300" b="1" i="0">
                <a:solidFill>
                  <a:srgbClr val="1C7293"/>
                </a:solidFill>
                <a:latin typeface="Calibri"/>
              </a:rPr>
              <a:t>5 · IMPLEMENTACIÓN DEL PIPELINE</a:t>
            </a:r>
          </a:p>
        </p:txBody>
      </p:sp>
      <p:sp>
        <p:nvSpPr>
          <p:cNvPr id="4" name="TextBox 3"/>
          <p:cNvSpPr txBox="1"/>
          <p:nvPr/>
        </p:nvSpPr>
        <p:spPr>
          <a:xfrm>
            <a:off x="548640" y="658368"/>
            <a:ext cx="11064240" cy="822960"/>
          </a:xfrm>
          <a:prstGeom prst="rect">
            <a:avLst/>
          </a:prstGeom>
          <a:noFill/>
        </p:spPr>
        <p:txBody>
          <a:bodyPr wrap="square" lIns="0" rIns="0" tIns="0" bIns="0" anchor="t">
            <a:spAutoFit/>
          </a:bodyPr>
          <a:lstStyle/>
          <a:p>
            <a:pPr algn="l">
              <a:lnSpc>
                <a:spcPct val="102000"/>
              </a:lnSpc>
            </a:pPr>
            <a:r>
              <a:rPr sz="3000" b="1" i="0">
                <a:solidFill>
                  <a:srgbClr val="11243A"/>
                </a:solidFill>
                <a:latin typeface="Cambria"/>
              </a:rPr>
              <a:t>Política semántica: nueve formas, con trazabilidad</a:t>
            </a:r>
          </a:p>
        </p:txBody>
      </p:sp>
      <p:sp>
        <p:nvSpPr>
          <p:cNvPr id="5" name="Rounded Rectangle 4"/>
          <p:cNvSpPr/>
          <p:nvPr/>
        </p:nvSpPr>
        <p:spPr>
          <a:xfrm>
            <a:off x="640080" y="1783080"/>
            <a:ext cx="3541776" cy="566928"/>
          </a:xfrm>
          <a:prstGeom prst="roundRect">
            <a:avLst>
              <a:gd name="adj" fmla="val 20000"/>
            </a:avLst>
          </a:prstGeom>
          <a:solidFill>
            <a:srgbClr val="E4EC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19" y="1783080"/>
            <a:ext cx="3358896" cy="566928"/>
          </a:xfrm>
          <a:prstGeom prst="rect">
            <a:avLst/>
          </a:prstGeom>
          <a:noFill/>
        </p:spPr>
        <p:txBody>
          <a:bodyPr wrap="square" lIns="0" rIns="0" tIns="0" bIns="0" anchor="ctr">
            <a:spAutoFit/>
          </a:bodyPr>
          <a:lstStyle/>
          <a:p>
            <a:pPr algn="ctr"/>
            <a:r>
              <a:rPr sz="1300" b="1" i="0">
                <a:solidFill>
                  <a:srgbClr val="065A82"/>
                </a:solidFill>
                <a:latin typeface="Calibri"/>
              </a:rPr>
              <a:t>Texto</a:t>
            </a:r>
          </a:p>
        </p:txBody>
      </p:sp>
      <p:sp>
        <p:nvSpPr>
          <p:cNvPr id="7" name="Rounded Rectangle 6"/>
          <p:cNvSpPr/>
          <p:nvPr/>
        </p:nvSpPr>
        <p:spPr>
          <a:xfrm>
            <a:off x="4309872" y="1783080"/>
            <a:ext cx="3541776" cy="566928"/>
          </a:xfrm>
          <a:prstGeom prst="roundRect">
            <a:avLst>
              <a:gd name="adj" fmla="val 20000"/>
            </a:avLst>
          </a:prstGeom>
          <a:solidFill>
            <a:srgbClr val="E4EC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01312" y="1783080"/>
            <a:ext cx="3358896" cy="566928"/>
          </a:xfrm>
          <a:prstGeom prst="rect">
            <a:avLst/>
          </a:prstGeom>
          <a:noFill/>
        </p:spPr>
        <p:txBody>
          <a:bodyPr wrap="square" lIns="0" rIns="0" tIns="0" bIns="0" anchor="ctr">
            <a:spAutoFit/>
          </a:bodyPr>
          <a:lstStyle/>
          <a:p>
            <a:pPr algn="ctr"/>
            <a:r>
              <a:rPr sz="1300" b="1" i="0">
                <a:solidFill>
                  <a:srgbClr val="065A82"/>
                </a:solidFill>
                <a:latin typeface="Calibri"/>
              </a:rPr>
              <a:t>Fecha</a:t>
            </a:r>
          </a:p>
        </p:txBody>
      </p:sp>
      <p:sp>
        <p:nvSpPr>
          <p:cNvPr id="9" name="Rounded Rectangle 8"/>
          <p:cNvSpPr/>
          <p:nvPr/>
        </p:nvSpPr>
        <p:spPr>
          <a:xfrm>
            <a:off x="7979664" y="1783080"/>
            <a:ext cx="3541776" cy="566928"/>
          </a:xfrm>
          <a:prstGeom prst="roundRect">
            <a:avLst>
              <a:gd name="adj" fmla="val 20000"/>
            </a:avLst>
          </a:prstGeom>
          <a:solidFill>
            <a:srgbClr val="E4EC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71104" y="1783080"/>
            <a:ext cx="3358896" cy="566928"/>
          </a:xfrm>
          <a:prstGeom prst="rect">
            <a:avLst/>
          </a:prstGeom>
          <a:noFill/>
        </p:spPr>
        <p:txBody>
          <a:bodyPr wrap="square" lIns="0" rIns="0" tIns="0" bIns="0" anchor="ctr">
            <a:spAutoFit/>
          </a:bodyPr>
          <a:lstStyle/>
          <a:p>
            <a:pPr algn="ctr"/>
            <a:r>
              <a:rPr sz="1300" b="1" i="0">
                <a:solidFill>
                  <a:srgbClr val="065A82"/>
                </a:solidFill>
                <a:latin typeface="Calibri"/>
              </a:rPr>
              <a:t>Número</a:t>
            </a:r>
          </a:p>
        </p:txBody>
      </p:sp>
      <p:sp>
        <p:nvSpPr>
          <p:cNvPr id="11" name="Rounded Rectangle 10"/>
          <p:cNvSpPr/>
          <p:nvPr/>
        </p:nvSpPr>
        <p:spPr>
          <a:xfrm>
            <a:off x="640080" y="2478024"/>
            <a:ext cx="3541776" cy="566928"/>
          </a:xfrm>
          <a:prstGeom prst="roundRect">
            <a:avLst>
              <a:gd name="adj" fmla="val 20000"/>
            </a:avLst>
          </a:prstGeom>
          <a:solidFill>
            <a:srgbClr val="E4EC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19" y="2478024"/>
            <a:ext cx="3358896" cy="566928"/>
          </a:xfrm>
          <a:prstGeom prst="rect">
            <a:avLst/>
          </a:prstGeom>
          <a:noFill/>
        </p:spPr>
        <p:txBody>
          <a:bodyPr wrap="square" lIns="0" rIns="0" tIns="0" bIns="0" anchor="ctr">
            <a:spAutoFit/>
          </a:bodyPr>
          <a:lstStyle/>
          <a:p>
            <a:pPr algn="ctr"/>
            <a:r>
              <a:rPr sz="1300" b="1" i="0">
                <a:solidFill>
                  <a:srgbClr val="065A82"/>
                </a:solidFill>
                <a:latin typeface="Calibri"/>
              </a:rPr>
              <a:t>Enum. cerrada</a:t>
            </a:r>
          </a:p>
        </p:txBody>
      </p:sp>
      <p:sp>
        <p:nvSpPr>
          <p:cNvPr id="13" name="Rounded Rectangle 12"/>
          <p:cNvSpPr/>
          <p:nvPr/>
        </p:nvSpPr>
        <p:spPr>
          <a:xfrm>
            <a:off x="4309872" y="2478024"/>
            <a:ext cx="3541776" cy="566928"/>
          </a:xfrm>
          <a:prstGeom prst="roundRect">
            <a:avLst>
              <a:gd name="adj" fmla="val 20000"/>
            </a:avLst>
          </a:prstGeom>
          <a:solidFill>
            <a:srgbClr val="E4EC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01312" y="2478024"/>
            <a:ext cx="3358896" cy="566928"/>
          </a:xfrm>
          <a:prstGeom prst="rect">
            <a:avLst/>
          </a:prstGeom>
          <a:noFill/>
        </p:spPr>
        <p:txBody>
          <a:bodyPr wrap="square" lIns="0" rIns="0" tIns="0" bIns="0" anchor="ctr">
            <a:spAutoFit/>
          </a:bodyPr>
          <a:lstStyle/>
          <a:p>
            <a:pPr algn="ctr"/>
            <a:r>
              <a:rPr sz="1300" b="1" i="0">
                <a:solidFill>
                  <a:srgbClr val="065A82"/>
                </a:solidFill>
                <a:latin typeface="Calibri"/>
              </a:rPr>
              <a:t>Catálogo abierto</a:t>
            </a:r>
          </a:p>
        </p:txBody>
      </p:sp>
      <p:sp>
        <p:nvSpPr>
          <p:cNvPr id="15" name="Rounded Rectangle 14"/>
          <p:cNvSpPr/>
          <p:nvPr/>
        </p:nvSpPr>
        <p:spPr>
          <a:xfrm>
            <a:off x="7979664" y="2478024"/>
            <a:ext cx="3541776" cy="566928"/>
          </a:xfrm>
          <a:prstGeom prst="roundRect">
            <a:avLst>
              <a:gd name="adj" fmla="val 20000"/>
            </a:avLst>
          </a:prstGeom>
          <a:solidFill>
            <a:srgbClr val="E4EC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71104" y="2478024"/>
            <a:ext cx="3358896" cy="566928"/>
          </a:xfrm>
          <a:prstGeom prst="rect">
            <a:avLst/>
          </a:prstGeom>
          <a:noFill/>
        </p:spPr>
        <p:txBody>
          <a:bodyPr wrap="square" lIns="0" rIns="0" tIns="0" bIns="0" anchor="ctr">
            <a:spAutoFit/>
          </a:bodyPr>
          <a:lstStyle/>
          <a:p>
            <a:pPr algn="ctr"/>
            <a:r>
              <a:rPr sz="1300" b="1" i="0">
                <a:solidFill>
                  <a:srgbClr val="065A82"/>
                </a:solidFill>
                <a:latin typeface="Calibri"/>
              </a:rPr>
              <a:t>Referencia a entidad</a:t>
            </a:r>
          </a:p>
        </p:txBody>
      </p:sp>
      <p:sp>
        <p:nvSpPr>
          <p:cNvPr id="17" name="Rounded Rectangle 16"/>
          <p:cNvSpPr/>
          <p:nvPr/>
        </p:nvSpPr>
        <p:spPr>
          <a:xfrm>
            <a:off x="640080" y="3172968"/>
            <a:ext cx="3541776" cy="566928"/>
          </a:xfrm>
          <a:prstGeom prst="roundRect">
            <a:avLst>
              <a:gd name="adj" fmla="val 20000"/>
            </a:avLst>
          </a:prstGeom>
          <a:solidFill>
            <a:srgbClr val="E4EC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19" y="3172968"/>
            <a:ext cx="3358896" cy="566928"/>
          </a:xfrm>
          <a:prstGeom prst="rect">
            <a:avLst/>
          </a:prstGeom>
          <a:noFill/>
        </p:spPr>
        <p:txBody>
          <a:bodyPr wrap="square" lIns="0" rIns="0" tIns="0" bIns="0" anchor="ctr">
            <a:spAutoFit/>
          </a:bodyPr>
          <a:lstStyle/>
          <a:p>
            <a:pPr algn="ctr"/>
            <a:r>
              <a:rPr sz="1300" b="1" i="0">
                <a:solidFill>
                  <a:srgbClr val="065A82"/>
                </a:solidFill>
                <a:latin typeface="Calibri"/>
              </a:rPr>
              <a:t>Término de tesauro</a:t>
            </a:r>
          </a:p>
        </p:txBody>
      </p:sp>
      <p:sp>
        <p:nvSpPr>
          <p:cNvPr id="19" name="Rounded Rectangle 18"/>
          <p:cNvSpPr/>
          <p:nvPr/>
        </p:nvSpPr>
        <p:spPr>
          <a:xfrm>
            <a:off x="4309872" y="3172968"/>
            <a:ext cx="3541776" cy="566928"/>
          </a:xfrm>
          <a:prstGeom prst="roundRect">
            <a:avLst>
              <a:gd name="adj" fmla="val 20000"/>
            </a:avLst>
          </a:prstGeom>
          <a:solidFill>
            <a:srgbClr val="E4EC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01312" y="3172968"/>
            <a:ext cx="3358896" cy="566928"/>
          </a:xfrm>
          <a:prstGeom prst="rect">
            <a:avLst/>
          </a:prstGeom>
          <a:noFill/>
        </p:spPr>
        <p:txBody>
          <a:bodyPr wrap="square" lIns="0" rIns="0" tIns="0" bIns="0" anchor="ctr">
            <a:spAutoFit/>
          </a:bodyPr>
          <a:lstStyle/>
          <a:p>
            <a:pPr algn="ctr"/>
            <a:r>
              <a:rPr sz="1300" b="1" i="0">
                <a:solidFill>
                  <a:srgbClr val="065A82"/>
                </a:solidFill>
                <a:latin typeface="Calibri"/>
              </a:rPr>
              <a:t>Subtipo</a:t>
            </a:r>
          </a:p>
        </p:txBody>
      </p:sp>
      <p:sp>
        <p:nvSpPr>
          <p:cNvPr id="21" name="Rounded Rectangle 20"/>
          <p:cNvSpPr/>
          <p:nvPr/>
        </p:nvSpPr>
        <p:spPr>
          <a:xfrm>
            <a:off x="7979664" y="3172968"/>
            <a:ext cx="3541776" cy="566928"/>
          </a:xfrm>
          <a:prstGeom prst="roundRect">
            <a:avLst>
              <a:gd name="adj" fmla="val 20000"/>
            </a:avLst>
          </a:prstGeom>
          <a:solidFill>
            <a:srgbClr val="E4EC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71104" y="3172968"/>
            <a:ext cx="3358896" cy="566928"/>
          </a:xfrm>
          <a:prstGeom prst="rect">
            <a:avLst/>
          </a:prstGeom>
          <a:noFill/>
        </p:spPr>
        <p:txBody>
          <a:bodyPr wrap="square" lIns="0" rIns="0" tIns="0" bIns="0" anchor="ctr">
            <a:spAutoFit/>
          </a:bodyPr>
          <a:lstStyle/>
          <a:p>
            <a:pPr algn="ctr"/>
            <a:r>
              <a:rPr sz="1300" b="1" i="0">
                <a:solidFill>
                  <a:srgbClr val="065A82"/>
                </a:solidFill>
                <a:latin typeface="Calibri"/>
              </a:rPr>
              <a:t>Referencia no resuelta</a:t>
            </a:r>
          </a:p>
        </p:txBody>
      </p:sp>
      <p:sp>
        <p:nvSpPr>
          <p:cNvPr id="23" name="TextBox 22"/>
          <p:cNvSpPr txBox="1"/>
          <p:nvPr/>
        </p:nvSpPr>
        <p:spPr>
          <a:xfrm>
            <a:off x="640080" y="3959352"/>
            <a:ext cx="10881360" cy="320040"/>
          </a:xfrm>
          <a:prstGeom prst="rect">
            <a:avLst/>
          </a:prstGeom>
          <a:noFill/>
        </p:spPr>
        <p:txBody>
          <a:bodyPr wrap="square" lIns="0" rIns="0" tIns="0" bIns="0" anchor="t">
            <a:spAutoFit/>
          </a:bodyPr>
          <a:lstStyle/>
          <a:p>
            <a:pPr algn="l"/>
            <a:r>
              <a:rPr sz="1250" b="1" i="0">
                <a:solidFill>
                  <a:srgbClr val="11243A"/>
                </a:solidFill>
                <a:latin typeface="Calibri"/>
              </a:rPr>
              <a:t>Ejemplo: campo de sexo (código 000.010.000.030, tabla CVN_SEX_A)</a:t>
            </a:r>
          </a:p>
        </p:txBody>
      </p:sp>
      <p:sp>
        <p:nvSpPr>
          <p:cNvPr id="24" name="Rounded Rectangle 23"/>
          <p:cNvSpPr/>
          <p:nvPr/>
        </p:nvSpPr>
        <p:spPr>
          <a:xfrm>
            <a:off x="640080" y="4343400"/>
            <a:ext cx="10881360" cy="1188720"/>
          </a:xfrm>
          <a:prstGeom prst="roundRect">
            <a:avLst>
              <a:gd name="adj" fmla="val 8000"/>
            </a:avLst>
          </a:prstGeom>
          <a:solidFill>
            <a:srgbClr val="11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4462272"/>
            <a:ext cx="5943600" cy="960120"/>
          </a:xfrm>
          <a:prstGeom prst="rect">
            <a:avLst/>
          </a:prstGeom>
          <a:noFill/>
        </p:spPr>
        <p:txBody>
          <a:bodyPr wrap="square" lIns="0" rIns="0" tIns="0" bIns="0" anchor="t">
            <a:spAutoFit/>
          </a:bodyPr>
          <a:lstStyle/>
          <a:p>
            <a:pPr algn="l">
              <a:lnSpc>
                <a:spcPct val="115000"/>
              </a:lnSpc>
            </a:pPr>
            <a:r>
              <a:rPr sz="1300" b="0" i="0">
                <a:solidFill>
                  <a:srgbClr val="E9F1F7"/>
                </a:solidFill>
                <a:latin typeface="Courier New"/>
              </a:rPr>
              <a:t>{</a:t>
            </a:r>
          </a:p>
          <a:p>
            <a:pPr algn="l">
              <a:lnSpc>
                <a:spcPct val="115000"/>
              </a:lnSpc>
            </a:pPr>
            <a:r>
              <a:rPr sz="1300" b="0" i="0">
                <a:solidFill>
                  <a:srgbClr val="E9F1F7"/>
                </a:solidFill>
                <a:latin typeface="Courier New"/>
              </a:rPr>
              <a:t>  "code": "000", "label": "Mujer",</a:t>
            </a:r>
          </a:p>
          <a:p>
            <a:pPr algn="l">
              <a:lnSpc>
                <a:spcPct val="115000"/>
              </a:lnSpc>
            </a:pPr>
            <a:r>
              <a:rPr sz="1300" b="0" i="0">
                <a:solidFill>
                  <a:srgbClr val="E9F1F7"/>
                </a:solidFill>
                <a:latin typeface="Courier New"/>
              </a:rPr>
              <a:t>  "source": "CVN_SEX_A"</a:t>
            </a:r>
          </a:p>
          <a:p>
            <a:pPr algn="l">
              <a:lnSpc>
                <a:spcPct val="115000"/>
              </a:lnSpc>
            </a:pPr>
            <a:r>
              <a:rPr sz="1300" b="0" i="0">
                <a:solidFill>
                  <a:srgbClr val="E9F1F7"/>
                </a:solidFill>
                <a:latin typeface="Courier New"/>
              </a:rPr>
              <a:t>}</a:t>
            </a:r>
          </a:p>
        </p:txBody>
      </p:sp>
      <p:sp>
        <p:nvSpPr>
          <p:cNvPr id="26" name="TextBox 25"/>
          <p:cNvSpPr txBox="1"/>
          <p:nvPr/>
        </p:nvSpPr>
        <p:spPr>
          <a:xfrm>
            <a:off x="7040880" y="4462272"/>
            <a:ext cx="4206240" cy="960120"/>
          </a:xfrm>
          <a:prstGeom prst="rect">
            <a:avLst/>
          </a:prstGeom>
          <a:noFill/>
        </p:spPr>
        <p:txBody>
          <a:bodyPr wrap="square" lIns="0" rIns="0" tIns="0" bIns="0" anchor="t">
            <a:spAutoFit/>
          </a:bodyPr>
          <a:lstStyle/>
          <a:p>
            <a:pPr algn="l">
              <a:lnSpc>
                <a:spcPct val="115000"/>
              </a:lnSpc>
            </a:pPr>
            <a:r>
              <a:rPr sz="1100" b="0" i="0">
                <a:solidFill>
                  <a:srgbClr val="A9BFD1"/>
                </a:solidFill>
                <a:latin typeface="Calibri"/>
              </a:rPr>
              <a:t>Enumeración cerrada con solo dos valores posibles: forma semántica más simple, usada como ejemplo guía en toda la memoria.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9144000" cy="320040"/>
          </a:xfrm>
          <a:prstGeom prst="rect">
            <a:avLst/>
          </a:prstGeom>
          <a:noFill/>
        </p:spPr>
        <p:txBody>
          <a:bodyPr wrap="square" lIns="0" rIns="0" tIns="0" bIns="0" anchor="t">
            <a:spAutoFit/>
          </a:bodyPr>
          <a:lstStyle/>
          <a:p>
            <a:pPr algn="l"/>
            <a:r>
              <a:rPr sz="1300" b="1" i="0">
                <a:solidFill>
                  <a:srgbClr val="1C7293"/>
                </a:solidFill>
                <a:latin typeface="Calibri"/>
              </a:rPr>
              <a:t>5 · IMPLEMENTACIÓN DEL PIPELINE</a:t>
            </a:r>
          </a:p>
        </p:txBody>
      </p:sp>
      <p:sp>
        <p:nvSpPr>
          <p:cNvPr id="4" name="TextBox 3"/>
          <p:cNvSpPr txBox="1"/>
          <p:nvPr/>
        </p:nvSpPr>
        <p:spPr>
          <a:xfrm>
            <a:off x="548640" y="658368"/>
            <a:ext cx="11064240" cy="822960"/>
          </a:xfrm>
          <a:prstGeom prst="rect">
            <a:avLst/>
          </a:prstGeom>
          <a:noFill/>
        </p:spPr>
        <p:txBody>
          <a:bodyPr wrap="square" lIns="0" rIns="0" tIns="0" bIns="0" anchor="t">
            <a:spAutoFit/>
          </a:bodyPr>
          <a:lstStyle/>
          <a:p>
            <a:pPr algn="l">
              <a:lnSpc>
                <a:spcPct val="102000"/>
              </a:lnSpc>
            </a:pPr>
            <a:r>
              <a:rPr sz="3000" b="1" i="0">
                <a:solidFill>
                  <a:srgbClr val="11243A"/>
                </a:solidFill>
                <a:latin typeface="Cambria"/>
              </a:rPr>
              <a:t>Del modelo de dominio al modelo conceptual agnóstico</a:t>
            </a:r>
          </a:p>
        </p:txBody>
      </p:sp>
      <p:sp>
        <p:nvSpPr>
          <p:cNvPr id="5" name="Rounded Rectangle 4"/>
          <p:cNvSpPr/>
          <p:nvPr/>
        </p:nvSpPr>
        <p:spPr>
          <a:xfrm>
            <a:off x="640080" y="1828800"/>
            <a:ext cx="3429000" cy="1207008"/>
          </a:xfrm>
          <a:prstGeom prst="roundRect">
            <a:avLst>
              <a:gd name="adj" fmla="val 10000"/>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1" y="1920240"/>
            <a:ext cx="3282696" cy="640080"/>
          </a:xfrm>
          <a:prstGeom prst="rect">
            <a:avLst/>
          </a:prstGeom>
          <a:noFill/>
        </p:spPr>
        <p:txBody>
          <a:bodyPr wrap="square" lIns="0" rIns="0" tIns="0" bIns="0" anchor="b">
            <a:spAutoFit/>
          </a:bodyPr>
          <a:lstStyle/>
          <a:p>
            <a:pPr algn="ctr"/>
            <a:r>
              <a:rPr sz="3000" b="1" i="0">
                <a:solidFill>
                  <a:srgbClr val="065A82"/>
                </a:solidFill>
                <a:latin typeface="Cambria"/>
              </a:rPr>
              <a:t>105</a:t>
            </a:r>
          </a:p>
        </p:txBody>
      </p:sp>
      <p:sp>
        <p:nvSpPr>
          <p:cNvPr id="7" name="TextBox 6"/>
          <p:cNvSpPr txBox="1"/>
          <p:nvPr/>
        </p:nvSpPr>
        <p:spPr>
          <a:xfrm>
            <a:off x="713231" y="2578608"/>
            <a:ext cx="3282696" cy="420624"/>
          </a:xfrm>
          <a:prstGeom prst="rect">
            <a:avLst/>
          </a:prstGeom>
          <a:noFill/>
        </p:spPr>
        <p:txBody>
          <a:bodyPr wrap="square" lIns="0" rIns="0" tIns="0" bIns="0" anchor="t">
            <a:spAutoFit/>
          </a:bodyPr>
          <a:lstStyle/>
          <a:p>
            <a:pPr algn="ctr">
              <a:lnSpc>
                <a:spcPct val="100000"/>
              </a:lnSpc>
            </a:pPr>
            <a:r>
              <a:rPr sz="1050" b="0" i="0">
                <a:solidFill>
                  <a:srgbClr val="5B6B7A"/>
                </a:solidFill>
                <a:latin typeface="Calibri"/>
              </a:rPr>
              <a:t>archivos de modelos de dominio generados</a:t>
            </a:r>
          </a:p>
        </p:txBody>
      </p:sp>
      <p:sp>
        <p:nvSpPr>
          <p:cNvPr id="8" name="Rounded Rectangle 7"/>
          <p:cNvSpPr/>
          <p:nvPr/>
        </p:nvSpPr>
        <p:spPr>
          <a:xfrm>
            <a:off x="640080" y="3182112"/>
            <a:ext cx="3429000" cy="1207008"/>
          </a:xfrm>
          <a:prstGeom prst="roundRect">
            <a:avLst>
              <a:gd name="adj" fmla="val 10000"/>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1" y="3273552"/>
            <a:ext cx="3282696" cy="640080"/>
          </a:xfrm>
          <a:prstGeom prst="rect">
            <a:avLst/>
          </a:prstGeom>
          <a:noFill/>
        </p:spPr>
        <p:txBody>
          <a:bodyPr wrap="square" lIns="0" rIns="0" tIns="0" bIns="0" anchor="b">
            <a:spAutoFit/>
          </a:bodyPr>
          <a:lstStyle/>
          <a:p>
            <a:pPr algn="ctr"/>
            <a:r>
              <a:rPr sz="3000" b="1" i="0">
                <a:solidFill>
                  <a:srgbClr val="065A82"/>
                </a:solidFill>
                <a:latin typeface="Cambria"/>
              </a:rPr>
              <a:t>182</a:t>
            </a:r>
          </a:p>
        </p:txBody>
      </p:sp>
      <p:sp>
        <p:nvSpPr>
          <p:cNvPr id="10" name="TextBox 9"/>
          <p:cNvSpPr txBox="1"/>
          <p:nvPr/>
        </p:nvSpPr>
        <p:spPr>
          <a:xfrm>
            <a:off x="713231" y="3931920"/>
            <a:ext cx="3282696" cy="420624"/>
          </a:xfrm>
          <a:prstGeom prst="rect">
            <a:avLst/>
          </a:prstGeom>
          <a:noFill/>
        </p:spPr>
        <p:txBody>
          <a:bodyPr wrap="square" lIns="0" rIns="0" tIns="0" bIns="0" anchor="t">
            <a:spAutoFit/>
          </a:bodyPr>
          <a:lstStyle/>
          <a:p>
            <a:pPr algn="ctr">
              <a:lnSpc>
                <a:spcPct val="100000"/>
              </a:lnSpc>
            </a:pPr>
            <a:r>
              <a:rPr sz="1050" b="0" i="0">
                <a:solidFill>
                  <a:srgbClr val="5B6B7A"/>
                </a:solidFill>
                <a:latin typeface="Calibri"/>
              </a:rPr>
              <a:t>definiciones en el JSON Schema resultante</a:t>
            </a:r>
          </a:p>
        </p:txBody>
      </p:sp>
      <p:sp>
        <p:nvSpPr>
          <p:cNvPr id="11" name="Rounded Rectangle 10"/>
          <p:cNvSpPr/>
          <p:nvPr/>
        </p:nvSpPr>
        <p:spPr>
          <a:xfrm>
            <a:off x="640080" y="4535424"/>
            <a:ext cx="3429000" cy="1207008"/>
          </a:xfrm>
          <a:prstGeom prst="roundRect">
            <a:avLst>
              <a:gd name="adj" fmla="val 10000"/>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1" y="4626864"/>
            <a:ext cx="3282696" cy="640080"/>
          </a:xfrm>
          <a:prstGeom prst="rect">
            <a:avLst/>
          </a:prstGeom>
          <a:noFill/>
        </p:spPr>
        <p:txBody>
          <a:bodyPr wrap="square" lIns="0" rIns="0" tIns="0" bIns="0" anchor="b">
            <a:spAutoFit/>
          </a:bodyPr>
          <a:lstStyle/>
          <a:p>
            <a:pPr algn="ctr"/>
            <a:r>
              <a:rPr sz="3000" b="1" i="0">
                <a:solidFill>
                  <a:srgbClr val="065A82"/>
                </a:solidFill>
                <a:latin typeface="Cambria"/>
              </a:rPr>
              <a:t>74</a:t>
            </a:r>
          </a:p>
        </p:txBody>
      </p:sp>
      <p:sp>
        <p:nvSpPr>
          <p:cNvPr id="13" name="TextBox 12"/>
          <p:cNvSpPr txBox="1"/>
          <p:nvPr/>
        </p:nvSpPr>
        <p:spPr>
          <a:xfrm>
            <a:off x="713231" y="5285232"/>
            <a:ext cx="3282696" cy="420624"/>
          </a:xfrm>
          <a:prstGeom prst="rect">
            <a:avLst/>
          </a:prstGeom>
          <a:noFill/>
        </p:spPr>
        <p:txBody>
          <a:bodyPr wrap="square" lIns="0" rIns="0" tIns="0" bIns="0" anchor="t">
            <a:spAutoFit/>
          </a:bodyPr>
          <a:lstStyle/>
          <a:p>
            <a:pPr algn="ctr">
              <a:lnSpc>
                <a:spcPct val="100000"/>
              </a:lnSpc>
            </a:pPr>
            <a:r>
              <a:rPr sz="1050" b="0" i="0">
                <a:solidFill>
                  <a:srgbClr val="5B6B7A"/>
                </a:solidFill>
                <a:latin typeface="Calibri"/>
              </a:rPr>
              <a:t>de esas definiciones son vocabularios controlados</a:t>
            </a:r>
          </a:p>
        </p:txBody>
      </p:sp>
      <p:sp>
        <p:nvSpPr>
          <p:cNvPr id="14" name="TextBox 13"/>
          <p:cNvSpPr txBox="1"/>
          <p:nvPr/>
        </p:nvSpPr>
        <p:spPr>
          <a:xfrm>
            <a:off x="640080" y="5907023"/>
            <a:ext cx="3429000" cy="777240"/>
          </a:xfrm>
          <a:prstGeom prst="rect">
            <a:avLst/>
          </a:prstGeom>
          <a:noFill/>
        </p:spPr>
        <p:txBody>
          <a:bodyPr wrap="square" lIns="0" rIns="0" tIns="0" bIns="0" anchor="t">
            <a:spAutoFit/>
          </a:bodyPr>
          <a:lstStyle/>
          <a:p>
            <a:pPr algn="l">
              <a:lnSpc>
                <a:spcPct val="115000"/>
              </a:lnSpc>
            </a:pPr>
            <a:r>
              <a:rPr sz="1050" b="0" i="1">
                <a:solidFill>
                  <a:srgbClr val="5B6B7A"/>
                </a:solidFill>
                <a:latin typeface="Calibri"/>
              </a:rPr>
              <a:t>105 = 101 módulos por concepto curricular + 1 módulo solo-manual + 1 módulo de nodos de árbol + 1 módulo de 13 enumeraciones.</a:t>
            </a:r>
          </a:p>
        </p:txBody>
      </p:sp>
      <p:pic>
        <p:nvPicPr>
          <p:cNvPr id="15" name="Picture 14" descr="open_cvn_presentation_overview.png"/>
          <p:cNvPicPr>
            <a:picLocks noChangeAspect="1"/>
          </p:cNvPicPr>
          <p:nvPr/>
        </p:nvPicPr>
        <p:blipFill>
          <a:blip r:embed="rId2"/>
          <a:stretch>
            <a:fillRect/>
          </a:stretch>
        </p:blipFill>
        <p:spPr>
          <a:xfrm>
            <a:off x="4343400" y="2400924"/>
            <a:ext cx="7178040" cy="3107711"/>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9144000" cy="320040"/>
          </a:xfrm>
          <a:prstGeom prst="rect">
            <a:avLst/>
          </a:prstGeom>
          <a:noFill/>
        </p:spPr>
        <p:txBody>
          <a:bodyPr wrap="square" lIns="0" rIns="0" tIns="0" bIns="0" anchor="t">
            <a:spAutoFit/>
          </a:bodyPr>
          <a:lstStyle/>
          <a:p>
            <a:pPr algn="l"/>
            <a:r>
              <a:rPr sz="1300" b="1" i="0">
                <a:solidFill>
                  <a:srgbClr val="1C7293"/>
                </a:solidFill>
                <a:latin typeface="Calibri"/>
              </a:rPr>
              <a:t>6 · FORMATO OPEN CVN Y HERRAMIENTA</a:t>
            </a:r>
          </a:p>
        </p:txBody>
      </p:sp>
      <p:sp>
        <p:nvSpPr>
          <p:cNvPr id="4" name="TextBox 3"/>
          <p:cNvSpPr txBox="1"/>
          <p:nvPr/>
        </p:nvSpPr>
        <p:spPr>
          <a:xfrm>
            <a:off x="548640" y="658368"/>
            <a:ext cx="11064240" cy="822960"/>
          </a:xfrm>
          <a:prstGeom prst="rect">
            <a:avLst/>
          </a:prstGeom>
          <a:noFill/>
        </p:spPr>
        <p:txBody>
          <a:bodyPr wrap="square" lIns="0" rIns="0" tIns="0" bIns="0" anchor="t">
            <a:spAutoFit/>
          </a:bodyPr>
          <a:lstStyle/>
          <a:p>
            <a:pPr algn="l">
              <a:lnSpc>
                <a:spcPct val="102000"/>
              </a:lnSpc>
            </a:pPr>
            <a:r>
              <a:rPr sz="3000" b="1" i="0">
                <a:solidFill>
                  <a:srgbClr val="11243A"/>
                </a:solidFill>
                <a:latin typeface="Cambria"/>
              </a:rPr>
              <a:t>El formato Open CVN JSON</a:t>
            </a:r>
          </a:p>
        </p:txBody>
      </p:sp>
      <p:sp>
        <p:nvSpPr>
          <p:cNvPr id="5" name="Rounded Rectangle 4"/>
          <p:cNvSpPr/>
          <p:nvPr/>
        </p:nvSpPr>
        <p:spPr>
          <a:xfrm>
            <a:off x="640080" y="1783080"/>
            <a:ext cx="5486400" cy="4160520"/>
          </a:xfrm>
          <a:prstGeom prst="roundRect">
            <a:avLst>
              <a:gd name="adj" fmla="val 6000"/>
            </a:avLst>
          </a:prstGeom>
          <a:solidFill>
            <a:srgbClr val="11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011680"/>
            <a:ext cx="4937760" cy="3749039"/>
          </a:xfrm>
          <a:prstGeom prst="rect">
            <a:avLst/>
          </a:prstGeom>
          <a:noFill/>
        </p:spPr>
        <p:txBody>
          <a:bodyPr wrap="square" lIns="0" rIns="0" tIns="0" bIns="0" anchor="t">
            <a:spAutoFit/>
          </a:bodyPr>
          <a:lstStyle/>
          <a:p>
            <a:pPr algn="l">
              <a:lnSpc>
                <a:spcPct val="128000"/>
              </a:lnSpc>
            </a:pPr>
            <a:r>
              <a:rPr sz="1400" b="0" i="0">
                <a:solidFill>
                  <a:srgbClr val="E9F1F7"/>
                </a:solidFill>
                <a:latin typeface="Courier New"/>
              </a:rPr>
              <a:t>{</a:t>
            </a:r>
          </a:p>
          <a:p>
            <a:pPr algn="l">
              <a:lnSpc>
                <a:spcPct val="128000"/>
              </a:lnSpc>
            </a:pPr>
            <a:r>
              <a:rPr sz="1400" b="0" i="0">
                <a:solidFill>
                  <a:srgbClr val="E9F1F7"/>
                </a:solidFill>
                <a:latin typeface="Courier New"/>
              </a:rPr>
              <a:t>  "schema_version": "0.1.0",</a:t>
            </a:r>
          </a:p>
          <a:p>
            <a:pPr algn="l">
              <a:lnSpc>
                <a:spcPct val="128000"/>
              </a:lnSpc>
            </a:pPr>
            <a:r>
              <a:rPr sz="1400" b="0" i="0">
                <a:solidFill>
                  <a:srgbClr val="E9F1F7"/>
                </a:solidFill>
                <a:latin typeface="Courier New"/>
              </a:rPr>
              <a:t>  "metadata": { "language": "es" },</a:t>
            </a:r>
          </a:p>
          <a:p>
            <a:pPr algn="l">
              <a:lnSpc>
                <a:spcPct val="128000"/>
              </a:lnSpc>
            </a:pPr>
            <a:r>
              <a:rPr sz="1400" b="0" i="0">
                <a:solidFill>
                  <a:srgbClr val="E9F1F7"/>
                </a:solidFill>
                <a:latin typeface="Courier New"/>
              </a:rPr>
              <a:t>  "curriculum": {</a:t>
            </a:r>
          </a:p>
          <a:p>
            <a:pPr algn="l">
              <a:lnSpc>
                <a:spcPct val="128000"/>
              </a:lnSpc>
            </a:pPr>
            <a:r>
              <a:rPr sz="1400" b="0" i="0">
                <a:solidFill>
                  <a:srgbClr val="E9F1F7"/>
                </a:solidFill>
                <a:latin typeface="Courier New"/>
              </a:rPr>
              <a:t>    "identity": {},</a:t>
            </a:r>
          </a:p>
          <a:p>
            <a:pPr algn="l">
              <a:lnSpc>
                <a:spcPct val="128000"/>
              </a:lnSpc>
            </a:pPr>
            <a:r>
              <a:rPr sz="1400" b="0" i="0">
                <a:solidFill>
                  <a:srgbClr val="E9F1F7"/>
                </a:solidFill>
                <a:latin typeface="Courier New"/>
              </a:rPr>
              <a:t>    "education": [],</a:t>
            </a:r>
          </a:p>
          <a:p>
            <a:pPr algn="l">
              <a:lnSpc>
                <a:spcPct val="128000"/>
              </a:lnSpc>
            </a:pPr>
            <a:r>
              <a:rPr sz="1400" b="0" i="0">
                <a:solidFill>
                  <a:srgbClr val="E9F1F7"/>
                </a:solidFill>
                <a:latin typeface="Courier New"/>
              </a:rPr>
              <a:t>    "research": [],</a:t>
            </a:r>
          </a:p>
          <a:p>
            <a:pPr algn="l">
              <a:lnSpc>
                <a:spcPct val="128000"/>
              </a:lnSpc>
            </a:pPr>
            <a:r>
              <a:rPr sz="1400" b="0" i="0">
                <a:solidFill>
                  <a:srgbClr val="E9F1F7"/>
                </a:solidFill>
                <a:latin typeface="Courier New"/>
              </a:rPr>
              <a:t>    "professional_experience": [],</a:t>
            </a:r>
          </a:p>
          <a:p>
            <a:pPr algn="l">
              <a:lnSpc>
                <a:spcPct val="128000"/>
              </a:lnSpc>
            </a:pPr>
            <a:r>
              <a:rPr sz="1400" b="0" i="0">
                <a:solidFill>
                  <a:srgbClr val="E9F1F7"/>
                </a:solidFill>
                <a:latin typeface="Courier New"/>
              </a:rPr>
              <a:t>    "achievements": [],</a:t>
            </a:r>
          </a:p>
          <a:p>
            <a:pPr algn="l">
              <a:lnSpc>
                <a:spcPct val="128000"/>
              </a:lnSpc>
            </a:pPr>
            <a:r>
              <a:rPr sz="1400" b="0" i="0">
                <a:solidFill>
                  <a:srgbClr val="E9F1F7"/>
                </a:solidFill>
                <a:latin typeface="Courier New"/>
              </a:rPr>
              <a:t>    "other": []</a:t>
            </a:r>
          </a:p>
          <a:p>
            <a:pPr algn="l">
              <a:lnSpc>
                <a:spcPct val="128000"/>
              </a:lnSpc>
            </a:pPr>
            <a:r>
              <a:rPr sz="1400" b="0" i="0">
                <a:solidFill>
                  <a:srgbClr val="E9F1F7"/>
                </a:solidFill>
                <a:latin typeface="Courier New"/>
              </a:rPr>
              <a:t>  },</a:t>
            </a:r>
          </a:p>
          <a:p>
            <a:pPr algn="l">
              <a:lnSpc>
                <a:spcPct val="128000"/>
              </a:lnSpc>
            </a:pPr>
            <a:r>
              <a:rPr sz="1400" b="0" i="0">
                <a:solidFill>
                  <a:srgbClr val="E9F1F7"/>
                </a:solidFill>
                <a:latin typeface="Courier New"/>
              </a:rPr>
              <a:t>  "extensions": {}</a:t>
            </a:r>
          </a:p>
          <a:p>
            <a:pPr algn="l">
              <a:lnSpc>
                <a:spcPct val="128000"/>
              </a:lnSpc>
            </a:pPr>
            <a:r>
              <a:rPr sz="1400" b="0" i="0">
                <a:solidFill>
                  <a:srgbClr val="E9F1F7"/>
                </a:solidFill>
                <a:latin typeface="Courier New"/>
              </a:rPr>
              <a:t>}</a:t>
            </a:r>
          </a:p>
        </p:txBody>
      </p:sp>
      <p:sp>
        <p:nvSpPr>
          <p:cNvPr id="7" name="TextBox 6"/>
          <p:cNvSpPr txBox="1"/>
          <p:nvPr/>
        </p:nvSpPr>
        <p:spPr>
          <a:xfrm>
            <a:off x="6400800" y="1783080"/>
            <a:ext cx="5120640" cy="4206240"/>
          </a:xfrm>
          <a:prstGeom prst="rect">
            <a:avLst/>
          </a:prstGeom>
          <a:noFill/>
        </p:spPr>
        <p:txBody>
          <a:bodyPr wrap="square" anchor="t" lIns="0" rIns="0" tIns="0" bIns="0">
            <a:spAutoFit/>
          </a:bodyPr>
          <a:lstStyle/>
          <a:p>
            <a:pPr algn="l" marL="256032" indent="-256032">
              <a:lnSpc>
                <a:spcPct val="110000"/>
              </a:lnSpc>
              <a:spcAft>
                <a:spcPts val="1400"/>
              </a:spcAft>
              <a:buClr>
                <a:srgbClr val="065A82"/>
              </a:buClr>
              <a:buSzPct val="55000"/>
              <a:buFont typeface="Arial"/>
              <a:buChar char="●"/>
            </a:pPr>
            <a:r>
              <a:rPr b="1" sz="1450">
                <a:solidFill>
                  <a:srgbClr val="162230"/>
                </a:solidFill>
                <a:latin typeface="Calibri"/>
              </a:rPr>
              <a:t>schema_version. </a:t>
            </a:r>
            <a:r>
              <a:rPr sz="1450">
                <a:solidFill>
                  <a:srgbClr val="162230"/>
                </a:solidFill>
                <a:latin typeface="Calibri"/>
              </a:rPr>
              <a:t>identifica la versión del formato, no la del JSON Schema.</a:t>
            </a:r>
          </a:p>
          <a:p>
            <a:pPr algn="l" marL="256032" indent="-256032">
              <a:lnSpc>
                <a:spcPct val="110000"/>
              </a:lnSpc>
              <a:spcAft>
                <a:spcPts val="1400"/>
              </a:spcAft>
              <a:buClr>
                <a:srgbClr val="065A82"/>
              </a:buClr>
              <a:buSzPct val="55000"/>
              <a:buFont typeface="Arial"/>
              <a:buChar char="●"/>
            </a:pPr>
            <a:r>
              <a:rPr b="1" sz="1450">
                <a:solidFill>
                  <a:srgbClr val="162230"/>
                </a:solidFill>
                <a:latin typeface="Calibri"/>
              </a:rPr>
              <a:t>metadata. </a:t>
            </a:r>
            <a:r>
              <a:rPr sz="1450">
                <a:solidFill>
                  <a:srgbClr val="162230"/>
                </a:solidFill>
                <a:latin typeface="Calibri"/>
              </a:rPr>
              <a:t>describe el documento, no su contenido curricular.</a:t>
            </a:r>
          </a:p>
          <a:p>
            <a:pPr algn="l" marL="256032" indent="-256032">
              <a:lnSpc>
                <a:spcPct val="110000"/>
              </a:lnSpc>
              <a:spcAft>
                <a:spcPts val="1400"/>
              </a:spcAft>
              <a:buClr>
                <a:srgbClr val="065A82"/>
              </a:buClr>
              <a:buSzPct val="55000"/>
              <a:buFont typeface="Arial"/>
              <a:buChar char="●"/>
            </a:pPr>
            <a:r>
              <a:rPr b="1" sz="1450">
                <a:solidFill>
                  <a:srgbClr val="162230"/>
                </a:solidFill>
                <a:latin typeface="Calibri"/>
              </a:rPr>
              <a:t>curriculum. </a:t>
            </a:r>
            <a:r>
              <a:rPr sz="1450">
                <a:solidFill>
                  <a:srgbClr val="162230"/>
                </a:solidFill>
                <a:latin typeface="Calibri"/>
              </a:rPr>
              <a:t>la información propiamente dicha, organizada por área conceptual del dominio académico.</a:t>
            </a:r>
          </a:p>
          <a:p>
            <a:pPr algn="l" marL="256032" indent="-256032">
              <a:lnSpc>
                <a:spcPct val="110000"/>
              </a:lnSpc>
              <a:spcAft>
                <a:spcPts val="1400"/>
              </a:spcAft>
              <a:buClr>
                <a:srgbClr val="065A82"/>
              </a:buClr>
              <a:buSzPct val="55000"/>
              <a:buFont typeface="Arial"/>
              <a:buChar char="●"/>
            </a:pPr>
            <a:r>
              <a:rPr b="1" sz="1450">
                <a:solidFill>
                  <a:srgbClr val="162230"/>
                </a:solidFill>
                <a:latin typeface="Calibri"/>
              </a:rPr>
              <a:t>extensions. </a:t>
            </a:r>
            <a:r>
              <a:rPr sz="1450">
                <a:solidFill>
                  <a:srgbClr val="162230"/>
                </a:solidFill>
                <a:latin typeface="Calibri"/>
              </a:rPr>
              <a:t>opcional, reservado para metadatos de una herramienta concreta.</a:t>
            </a:r>
          </a:p>
        </p:txBody>
      </p:sp>
      <p:sp>
        <p:nvSpPr>
          <p:cNvPr id="8" name="TextBox 7"/>
          <p:cNvSpPr txBox="1"/>
          <p:nvPr/>
        </p:nvSpPr>
        <p:spPr>
          <a:xfrm>
            <a:off x="6400800" y="5349240"/>
            <a:ext cx="5120640" cy="685800"/>
          </a:xfrm>
          <a:prstGeom prst="rect">
            <a:avLst/>
          </a:prstGeom>
          <a:noFill/>
        </p:spPr>
        <p:txBody>
          <a:bodyPr wrap="square" lIns="0" rIns="0" tIns="0" bIns="0" anchor="t">
            <a:spAutoFit/>
          </a:bodyPr>
          <a:lstStyle/>
          <a:p>
            <a:pPr algn="l">
              <a:lnSpc>
                <a:spcPct val="115000"/>
              </a:lnSpc>
            </a:pPr>
            <a:r>
              <a:rPr sz="1150" b="0" i="1">
                <a:solidFill>
                  <a:srgbClr val="5B6B7A"/>
                </a:solidFill>
                <a:latin typeface="Calibri"/>
              </a:rPr>
              <a:t>Los valores controlados comparten una misma forma: code, label, source y, opcionalmente, raw_value o uri.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9144000" cy="320040"/>
          </a:xfrm>
          <a:prstGeom prst="rect">
            <a:avLst/>
          </a:prstGeom>
          <a:noFill/>
        </p:spPr>
        <p:txBody>
          <a:bodyPr wrap="square" lIns="0" rIns="0" tIns="0" bIns="0" anchor="t">
            <a:spAutoFit/>
          </a:bodyPr>
          <a:lstStyle/>
          <a:p>
            <a:pPr algn="l"/>
            <a:r>
              <a:rPr sz="1300" b="1" i="0">
                <a:solidFill>
                  <a:srgbClr val="1C7293"/>
                </a:solidFill>
                <a:latin typeface="Calibri"/>
              </a:rPr>
              <a:t>6 · FORMATO OPEN CVN Y HERRAMIENTA</a:t>
            </a:r>
          </a:p>
        </p:txBody>
      </p:sp>
      <p:sp>
        <p:nvSpPr>
          <p:cNvPr id="4" name="TextBox 3"/>
          <p:cNvSpPr txBox="1"/>
          <p:nvPr/>
        </p:nvSpPr>
        <p:spPr>
          <a:xfrm>
            <a:off x="548640" y="658368"/>
            <a:ext cx="11064240" cy="822960"/>
          </a:xfrm>
          <a:prstGeom prst="rect">
            <a:avLst/>
          </a:prstGeom>
          <a:noFill/>
        </p:spPr>
        <p:txBody>
          <a:bodyPr wrap="square" lIns="0" rIns="0" tIns="0" bIns="0" anchor="t">
            <a:spAutoFit/>
          </a:bodyPr>
          <a:lstStyle/>
          <a:p>
            <a:pPr algn="l">
              <a:lnSpc>
                <a:spcPct val="102000"/>
              </a:lnSpc>
            </a:pPr>
            <a:r>
              <a:rPr sz="3000" b="1" i="0">
                <a:solidFill>
                  <a:srgbClr val="11243A"/>
                </a:solidFill>
                <a:latin typeface="Cambria"/>
              </a:rPr>
              <a:t>Parser y validador: un contrato con cinco estados</a:t>
            </a:r>
          </a:p>
        </p:txBody>
      </p:sp>
      <p:sp>
        <p:nvSpPr>
          <p:cNvPr id="5" name="Rounded Rectangle 4"/>
          <p:cNvSpPr/>
          <p:nvPr/>
        </p:nvSpPr>
        <p:spPr>
          <a:xfrm>
            <a:off x="640080" y="1828800"/>
            <a:ext cx="5074920" cy="566928"/>
          </a:xfrm>
          <a:prstGeom prst="roundRect">
            <a:avLst>
              <a:gd name="adj" fmla="val 50000"/>
            </a:avLst>
          </a:prstGeom>
          <a:solidFill>
            <a:srgbClr val="E4EC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1828800"/>
            <a:ext cx="4709159" cy="566928"/>
          </a:xfrm>
          <a:prstGeom prst="rect">
            <a:avLst/>
          </a:prstGeom>
          <a:noFill/>
        </p:spPr>
        <p:txBody>
          <a:bodyPr wrap="square" lIns="0" rIns="0" tIns="0" bIns="0" anchor="ctr">
            <a:spAutoFit/>
          </a:bodyPr>
          <a:lstStyle/>
          <a:p>
            <a:pPr algn="l"/>
            <a:r>
              <a:rPr sz="1350" b="1" i="0">
                <a:solidFill>
                  <a:srgbClr val="162230"/>
                </a:solidFill>
                <a:latin typeface="Calibri"/>
              </a:rPr>
              <a:t>Sin ejecutar</a:t>
            </a:r>
          </a:p>
        </p:txBody>
      </p:sp>
      <p:sp>
        <p:nvSpPr>
          <p:cNvPr id="7" name="Rounded Rectangle 6"/>
          <p:cNvSpPr/>
          <p:nvPr/>
        </p:nvSpPr>
        <p:spPr>
          <a:xfrm>
            <a:off x="640080" y="2523744"/>
            <a:ext cx="5074920" cy="566928"/>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2523744"/>
            <a:ext cx="4709159" cy="566928"/>
          </a:xfrm>
          <a:prstGeom prst="rect">
            <a:avLst/>
          </a:prstGeom>
          <a:noFill/>
        </p:spPr>
        <p:txBody>
          <a:bodyPr wrap="square" lIns="0" rIns="0" tIns="0" bIns="0" anchor="ctr">
            <a:spAutoFit/>
          </a:bodyPr>
          <a:lstStyle/>
          <a:p>
            <a:pPr algn="l"/>
            <a:r>
              <a:rPr sz="1350" b="1" i="0">
                <a:solidFill>
                  <a:srgbClr val="FFFFFF"/>
                </a:solidFill>
                <a:latin typeface="Calibri"/>
              </a:rPr>
              <a:t>Válido</a:t>
            </a:r>
          </a:p>
        </p:txBody>
      </p:sp>
      <p:sp>
        <p:nvSpPr>
          <p:cNvPr id="9" name="Rounded Rectangle 8"/>
          <p:cNvSpPr/>
          <p:nvPr/>
        </p:nvSpPr>
        <p:spPr>
          <a:xfrm>
            <a:off x="640080" y="3218687"/>
            <a:ext cx="5074920" cy="566928"/>
          </a:xfrm>
          <a:prstGeom prst="roundRect">
            <a:avLst>
              <a:gd name="adj" fmla="val 50000"/>
            </a:avLst>
          </a:prstGeom>
          <a:solidFill>
            <a:srgbClr val="E09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3218687"/>
            <a:ext cx="4709159" cy="566928"/>
          </a:xfrm>
          <a:prstGeom prst="rect">
            <a:avLst/>
          </a:prstGeom>
          <a:noFill/>
        </p:spPr>
        <p:txBody>
          <a:bodyPr wrap="square" lIns="0" rIns="0" tIns="0" bIns="0" anchor="ctr">
            <a:spAutoFit/>
          </a:bodyPr>
          <a:lstStyle/>
          <a:p>
            <a:pPr algn="l"/>
            <a:r>
              <a:rPr sz="1350" b="1" i="0">
                <a:solidFill>
                  <a:srgbClr val="FFFFFF"/>
                </a:solidFill>
                <a:latin typeface="Calibri"/>
              </a:rPr>
              <a:t>Válido con avisos</a:t>
            </a:r>
          </a:p>
        </p:txBody>
      </p:sp>
      <p:sp>
        <p:nvSpPr>
          <p:cNvPr id="11" name="Rounded Rectangle 10"/>
          <p:cNvSpPr/>
          <p:nvPr/>
        </p:nvSpPr>
        <p:spPr>
          <a:xfrm>
            <a:off x="640080" y="3913631"/>
            <a:ext cx="5074920" cy="566928"/>
          </a:xfrm>
          <a:prstGeom prst="roundRect">
            <a:avLst>
              <a:gd name="adj" fmla="val 50000"/>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59" y="3913631"/>
            <a:ext cx="4709159" cy="566928"/>
          </a:xfrm>
          <a:prstGeom prst="rect">
            <a:avLst/>
          </a:prstGeom>
          <a:noFill/>
        </p:spPr>
        <p:txBody>
          <a:bodyPr wrap="square" lIns="0" rIns="0" tIns="0" bIns="0" anchor="ctr">
            <a:spAutoFit/>
          </a:bodyPr>
          <a:lstStyle/>
          <a:p>
            <a:pPr algn="l"/>
            <a:r>
              <a:rPr sz="1350" b="1" i="0">
                <a:solidFill>
                  <a:srgbClr val="FFFFFF"/>
                </a:solidFill>
                <a:latin typeface="Calibri"/>
              </a:rPr>
              <a:t>Inválido</a:t>
            </a:r>
          </a:p>
        </p:txBody>
      </p:sp>
      <p:sp>
        <p:nvSpPr>
          <p:cNvPr id="13" name="Rounded Rectangle 12"/>
          <p:cNvSpPr/>
          <p:nvPr/>
        </p:nvSpPr>
        <p:spPr>
          <a:xfrm>
            <a:off x="640080" y="4608575"/>
            <a:ext cx="5074920" cy="566928"/>
          </a:xfrm>
          <a:prstGeom prst="roundRect">
            <a:avLst>
              <a:gd name="adj" fmla="val 50000"/>
            </a:avLst>
          </a:prstGeom>
          <a:solidFill>
            <a:srgbClr val="11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4608575"/>
            <a:ext cx="4709159" cy="566928"/>
          </a:xfrm>
          <a:prstGeom prst="rect">
            <a:avLst/>
          </a:prstGeom>
          <a:noFill/>
        </p:spPr>
        <p:txBody>
          <a:bodyPr wrap="square" lIns="0" rIns="0" tIns="0" bIns="0" anchor="ctr">
            <a:spAutoFit/>
          </a:bodyPr>
          <a:lstStyle/>
          <a:p>
            <a:pPr algn="l"/>
            <a:r>
              <a:rPr sz="1350" b="1" i="0">
                <a:solidFill>
                  <a:srgbClr val="FFFFFF"/>
                </a:solidFill>
                <a:latin typeface="Calibri"/>
              </a:rPr>
              <a:t>Fallido</a:t>
            </a:r>
          </a:p>
        </p:txBody>
      </p:sp>
      <p:sp>
        <p:nvSpPr>
          <p:cNvPr id="15" name="TextBox 14"/>
          <p:cNvSpPr txBox="1"/>
          <p:nvPr/>
        </p:nvSpPr>
        <p:spPr>
          <a:xfrm>
            <a:off x="640080" y="5358383"/>
            <a:ext cx="5074920" cy="914400"/>
          </a:xfrm>
          <a:prstGeom prst="rect">
            <a:avLst/>
          </a:prstGeom>
          <a:noFill/>
        </p:spPr>
        <p:txBody>
          <a:bodyPr wrap="square" lIns="0" rIns="0" tIns="0" bIns="0" anchor="t">
            <a:spAutoFit/>
          </a:bodyPr>
          <a:lstStyle/>
          <a:p>
            <a:pPr algn="l">
              <a:lnSpc>
                <a:spcPct val="115000"/>
              </a:lnSpc>
            </a:pPr>
            <a:r>
              <a:rPr sz="1150" b="0" i="1">
                <a:solidFill>
                  <a:srgbClr val="5B6B7A"/>
                </a:solidFill>
                <a:latin typeface="Calibri"/>
              </a:rPr>
              <a:t>Un aviso nunca convierte un documento válido en inválido: señala un caso semánticamente atípico (tipo inconsistente con la sección, referencia sin code ni label) para que pueda revisarse.</a:t>
            </a:r>
          </a:p>
        </p:txBody>
      </p:sp>
      <p:pic>
        <p:nvPicPr>
          <p:cNvPr id="16" name="Picture 15" descr="open_cvn_import_validation_flow.png"/>
          <p:cNvPicPr>
            <a:picLocks noChangeAspect="1"/>
          </p:cNvPicPr>
          <p:nvPr/>
        </p:nvPicPr>
        <p:blipFill>
          <a:blip r:embed="rId2"/>
          <a:stretch>
            <a:fillRect/>
          </a:stretch>
        </p:blipFill>
        <p:spPr>
          <a:xfrm>
            <a:off x="5996593" y="1737360"/>
            <a:ext cx="5517572" cy="43434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9144000" cy="320040"/>
          </a:xfrm>
          <a:prstGeom prst="rect">
            <a:avLst/>
          </a:prstGeom>
          <a:noFill/>
        </p:spPr>
        <p:txBody>
          <a:bodyPr wrap="square" lIns="0" rIns="0" tIns="0" bIns="0" anchor="t">
            <a:spAutoFit/>
          </a:bodyPr>
          <a:lstStyle/>
          <a:p>
            <a:pPr algn="l"/>
            <a:r>
              <a:rPr sz="1300" b="1" i="0">
                <a:solidFill>
                  <a:srgbClr val="1C7293"/>
                </a:solidFill>
                <a:latin typeface="Calibri"/>
              </a:rPr>
              <a:t>6 · FORMATO OPEN CVN Y HERRAMIENTA</a:t>
            </a:r>
          </a:p>
        </p:txBody>
      </p:sp>
      <p:sp>
        <p:nvSpPr>
          <p:cNvPr id="4" name="TextBox 3"/>
          <p:cNvSpPr txBox="1"/>
          <p:nvPr/>
        </p:nvSpPr>
        <p:spPr>
          <a:xfrm>
            <a:off x="548640" y="658368"/>
            <a:ext cx="11064240" cy="822960"/>
          </a:xfrm>
          <a:prstGeom prst="rect">
            <a:avLst/>
          </a:prstGeom>
          <a:noFill/>
        </p:spPr>
        <p:txBody>
          <a:bodyPr wrap="square" lIns="0" rIns="0" tIns="0" bIns="0" anchor="t">
            <a:spAutoFit/>
          </a:bodyPr>
          <a:lstStyle/>
          <a:p>
            <a:pPr algn="l">
              <a:lnSpc>
                <a:spcPct val="102000"/>
              </a:lnSpc>
            </a:pPr>
            <a:r>
              <a:rPr sz="3000" b="1" i="0">
                <a:solidFill>
                  <a:srgbClr val="11243A"/>
                </a:solidFill>
                <a:latin typeface="Cambria"/>
              </a:rPr>
              <a:t>Importación determinista y herramienta local</a:t>
            </a:r>
          </a:p>
        </p:txBody>
      </p:sp>
      <p:sp>
        <p:nvSpPr>
          <p:cNvPr id="5" name="Rounded Rectangle 4"/>
          <p:cNvSpPr/>
          <p:nvPr/>
        </p:nvSpPr>
        <p:spPr>
          <a:xfrm>
            <a:off x="640080" y="1783080"/>
            <a:ext cx="5074920" cy="1170432"/>
          </a:xfrm>
          <a:prstGeom prst="roundRect">
            <a:avLst>
              <a:gd name="adj" fmla="val 10000"/>
            </a:avLst>
          </a:prstGeom>
          <a:solidFill>
            <a:srgbClr val="FFFFFF"/>
          </a:solidFill>
          <a:ln w="13970">
            <a:solidFill>
              <a:srgbClr val="D8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04671" y="1947672"/>
            <a:ext cx="457200" cy="45720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0" bIns="0"/>
          <a:lstStyle/>
          <a:p>
            <a:pPr algn="ctr"/>
            <a:r>
              <a:rPr sz="1500" b="1">
                <a:solidFill>
                  <a:srgbClr val="FFFFFF"/>
                </a:solidFill>
                <a:latin typeface="Calibri"/>
              </a:rPr>
              <a:t>1</a:t>
            </a:r>
          </a:p>
        </p:txBody>
      </p:sp>
      <p:sp>
        <p:nvSpPr>
          <p:cNvPr id="7" name="TextBox 6"/>
          <p:cNvSpPr txBox="1"/>
          <p:nvPr/>
        </p:nvSpPr>
        <p:spPr>
          <a:xfrm>
            <a:off x="1426464" y="1911095"/>
            <a:ext cx="4160520" cy="320040"/>
          </a:xfrm>
          <a:prstGeom prst="rect">
            <a:avLst/>
          </a:prstGeom>
          <a:noFill/>
        </p:spPr>
        <p:txBody>
          <a:bodyPr wrap="square" lIns="0" rIns="0" tIns="0" bIns="0" anchor="t">
            <a:spAutoFit/>
          </a:bodyPr>
          <a:lstStyle/>
          <a:p>
            <a:pPr algn="l"/>
            <a:r>
              <a:rPr sz="1400" b="1" i="0">
                <a:solidFill>
                  <a:srgbClr val="11243A"/>
                </a:solidFill>
                <a:latin typeface="Calibri"/>
              </a:rPr>
              <a:t>Open CVN JSON</a:t>
            </a:r>
          </a:p>
        </p:txBody>
      </p:sp>
      <p:sp>
        <p:nvSpPr>
          <p:cNvPr id="8" name="TextBox 7"/>
          <p:cNvSpPr txBox="1"/>
          <p:nvPr/>
        </p:nvSpPr>
        <p:spPr>
          <a:xfrm>
            <a:off x="1426464" y="2240280"/>
            <a:ext cx="4160520" cy="667512"/>
          </a:xfrm>
          <a:prstGeom prst="rect">
            <a:avLst/>
          </a:prstGeom>
          <a:noFill/>
        </p:spPr>
        <p:txBody>
          <a:bodyPr wrap="square" lIns="0" rIns="0" tIns="0" bIns="0" anchor="t">
            <a:spAutoFit/>
          </a:bodyPr>
          <a:lstStyle/>
          <a:p>
            <a:pPr algn="l">
              <a:lnSpc>
                <a:spcPct val="110000"/>
              </a:lnSpc>
            </a:pPr>
            <a:r>
              <a:rPr sz="1080" b="0" i="0">
                <a:solidFill>
                  <a:srgbClr val="5B6B7A"/>
                </a:solidFill>
                <a:latin typeface="Calibri"/>
              </a:rPr>
              <a:t>Caso directo: se analiza y valida sin transformación adicional.</a:t>
            </a:r>
          </a:p>
        </p:txBody>
      </p:sp>
      <p:sp>
        <p:nvSpPr>
          <p:cNvPr id="9" name="Rounded Rectangle 8"/>
          <p:cNvSpPr/>
          <p:nvPr/>
        </p:nvSpPr>
        <p:spPr>
          <a:xfrm>
            <a:off x="640080" y="3099815"/>
            <a:ext cx="5074920" cy="1170432"/>
          </a:xfrm>
          <a:prstGeom prst="roundRect">
            <a:avLst>
              <a:gd name="adj" fmla="val 10000"/>
            </a:avLst>
          </a:prstGeom>
          <a:solidFill>
            <a:srgbClr val="FFFFFF"/>
          </a:solidFill>
          <a:ln w="13970">
            <a:solidFill>
              <a:srgbClr val="D8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04671" y="3264408"/>
            <a:ext cx="457200" cy="45720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0" bIns="0"/>
          <a:lstStyle/>
          <a:p>
            <a:pPr algn="ctr"/>
            <a:r>
              <a:rPr sz="1500" b="1">
                <a:solidFill>
                  <a:srgbClr val="FFFFFF"/>
                </a:solidFill>
                <a:latin typeface="Calibri"/>
              </a:rPr>
              <a:t>2</a:t>
            </a:r>
          </a:p>
        </p:txBody>
      </p:sp>
      <p:sp>
        <p:nvSpPr>
          <p:cNvPr id="11" name="TextBox 10"/>
          <p:cNvSpPr txBox="1"/>
          <p:nvPr/>
        </p:nvSpPr>
        <p:spPr>
          <a:xfrm>
            <a:off x="1426464" y="3227832"/>
            <a:ext cx="4160520" cy="320040"/>
          </a:xfrm>
          <a:prstGeom prst="rect">
            <a:avLst/>
          </a:prstGeom>
          <a:noFill/>
        </p:spPr>
        <p:txBody>
          <a:bodyPr wrap="square" lIns="0" rIns="0" tIns="0" bIns="0" anchor="t">
            <a:spAutoFit/>
          </a:bodyPr>
          <a:lstStyle/>
          <a:p>
            <a:pPr algn="l"/>
            <a:r>
              <a:rPr sz="1400" b="1" i="0">
                <a:solidFill>
                  <a:srgbClr val="11243A"/>
                </a:solidFill>
                <a:latin typeface="Calibri"/>
              </a:rPr>
              <a:t>CVN XML</a:t>
            </a:r>
          </a:p>
        </p:txBody>
      </p:sp>
      <p:sp>
        <p:nvSpPr>
          <p:cNvPr id="12" name="TextBox 11"/>
          <p:cNvSpPr txBox="1"/>
          <p:nvPr/>
        </p:nvSpPr>
        <p:spPr>
          <a:xfrm>
            <a:off x="1426464" y="3557015"/>
            <a:ext cx="4160520" cy="667512"/>
          </a:xfrm>
          <a:prstGeom prst="rect">
            <a:avLst/>
          </a:prstGeom>
          <a:noFill/>
        </p:spPr>
        <p:txBody>
          <a:bodyPr wrap="square" lIns="0" rIns="0" tIns="0" bIns="0" anchor="t">
            <a:spAutoFit/>
          </a:bodyPr>
          <a:lstStyle/>
          <a:p>
            <a:pPr algn="l">
              <a:lnSpc>
                <a:spcPct val="110000"/>
              </a:lnSpc>
            </a:pPr>
            <a:r>
              <a:rPr sz="1080" b="0" i="0">
                <a:solidFill>
                  <a:srgbClr val="5B6B7A"/>
                </a:solidFill>
                <a:latin typeface="Calibri"/>
              </a:rPr>
              <a:t>Mapeo semántico parcial y creciente; lo no reconocido se preserva como diagnóstico.</a:t>
            </a:r>
          </a:p>
        </p:txBody>
      </p:sp>
      <p:sp>
        <p:nvSpPr>
          <p:cNvPr id="13" name="Rounded Rectangle 12"/>
          <p:cNvSpPr/>
          <p:nvPr/>
        </p:nvSpPr>
        <p:spPr>
          <a:xfrm>
            <a:off x="640080" y="4416552"/>
            <a:ext cx="5074920" cy="1170432"/>
          </a:xfrm>
          <a:prstGeom prst="roundRect">
            <a:avLst>
              <a:gd name="adj" fmla="val 10000"/>
            </a:avLst>
          </a:prstGeom>
          <a:solidFill>
            <a:srgbClr val="FFFFFF"/>
          </a:solidFill>
          <a:ln w="13970">
            <a:solidFill>
              <a:srgbClr val="D8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804671" y="4581144"/>
            <a:ext cx="457200" cy="45720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0" bIns="0"/>
          <a:lstStyle/>
          <a:p>
            <a:pPr algn="ctr"/>
            <a:r>
              <a:rPr sz="1500" b="1">
                <a:solidFill>
                  <a:srgbClr val="FFFFFF"/>
                </a:solidFill>
                <a:latin typeface="Calibri"/>
              </a:rPr>
              <a:t>3</a:t>
            </a:r>
          </a:p>
        </p:txBody>
      </p:sp>
      <p:sp>
        <p:nvSpPr>
          <p:cNvPr id="15" name="TextBox 14"/>
          <p:cNvSpPr txBox="1"/>
          <p:nvPr/>
        </p:nvSpPr>
        <p:spPr>
          <a:xfrm>
            <a:off x="1426464" y="4544568"/>
            <a:ext cx="4160520" cy="320040"/>
          </a:xfrm>
          <a:prstGeom prst="rect">
            <a:avLst/>
          </a:prstGeom>
          <a:noFill/>
        </p:spPr>
        <p:txBody>
          <a:bodyPr wrap="square" lIns="0" rIns="0" tIns="0" bIns="0" anchor="t">
            <a:spAutoFit/>
          </a:bodyPr>
          <a:lstStyle/>
          <a:p>
            <a:pPr algn="l"/>
            <a:r>
              <a:rPr sz="1400" b="1" i="0">
                <a:solidFill>
                  <a:srgbClr val="11243A"/>
                </a:solidFill>
                <a:latin typeface="Calibri"/>
              </a:rPr>
              <a:t>CVN PDF</a:t>
            </a:r>
          </a:p>
        </p:txBody>
      </p:sp>
      <p:sp>
        <p:nvSpPr>
          <p:cNvPr id="16" name="TextBox 15"/>
          <p:cNvSpPr txBox="1"/>
          <p:nvPr/>
        </p:nvSpPr>
        <p:spPr>
          <a:xfrm>
            <a:off x="1426464" y="4873752"/>
            <a:ext cx="4160520" cy="667512"/>
          </a:xfrm>
          <a:prstGeom prst="rect">
            <a:avLst/>
          </a:prstGeom>
          <a:noFill/>
        </p:spPr>
        <p:txBody>
          <a:bodyPr wrap="square" lIns="0" rIns="0" tIns="0" bIns="0" anchor="t">
            <a:spAutoFit/>
          </a:bodyPr>
          <a:lstStyle/>
          <a:p>
            <a:pPr algn="l">
              <a:lnSpc>
                <a:spcPct val="110000"/>
              </a:lnSpc>
            </a:pPr>
            <a:r>
              <a:rPr sz="1080" b="0" i="0">
                <a:solidFill>
                  <a:srgbClr val="5B6B7A"/>
                </a:solidFill>
                <a:latin typeface="Calibri"/>
              </a:rPr>
              <a:t>Prioriza el XML embebido; solo si falla, y con autorización explícita, recurre a un LLM opcional y trazable.</a:t>
            </a:r>
          </a:p>
        </p:txBody>
      </p:sp>
      <p:graphicFrame>
        <p:nvGraphicFramePr>
          <p:cNvPr id="17" name="Table 16"/>
          <p:cNvGraphicFramePr>
            <a:graphicFrameLocks noGrp="1"/>
          </p:cNvGraphicFramePr>
          <p:nvPr/>
        </p:nvGraphicFramePr>
        <p:xfrm>
          <a:off x="5989320" y="1783080"/>
          <a:ext cx="5532120" cy="4343400"/>
        </p:xfrm>
        <a:graphic>
          <a:graphicData uri="http://schemas.openxmlformats.org/drawingml/2006/table">
            <a:tbl>
              <a:tblPr>
                <a:tableStyleId>{5C22544A-7EE6-4342-B048-85BDC9FD1C3A}</a:tableStyleId>
              </a:tblPr>
              <a:tblGrid>
                <a:gridCol w="2331720"/>
                <a:gridCol w="3200400"/>
              </a:tblGrid>
              <a:tr h="723900">
                <a:tc>
                  <a:txBody>
                    <a:bodyPr wrap="square"/>
                    <a:lstStyle/>
                    <a:p>
                      <a:pPr algn="l"/>
                      <a:r>
                        <a:rPr b="1" sz="1250">
                          <a:solidFill>
                            <a:srgbClr val="FFFFFF"/>
                          </a:solidFill>
                          <a:latin typeface="Calibri"/>
                        </a:rPr>
                        <a:t>Comando</a:t>
                      </a:r>
                    </a:p>
                  </a:txBody>
                  <a:tcPr marL="82296" marR="82296" marT="41148" marB="41148" anchor="ctr">
                    <a:solidFill>
                      <a:srgbClr val="065A82"/>
                    </a:solidFill>
                  </a:tcPr>
                </a:tc>
                <a:tc>
                  <a:txBody>
                    <a:bodyPr wrap="square"/>
                    <a:lstStyle/>
                    <a:p>
                      <a:pPr algn="l"/>
                      <a:r>
                        <a:rPr b="1" sz="1250">
                          <a:solidFill>
                            <a:srgbClr val="FFFFFF"/>
                          </a:solidFill>
                          <a:latin typeface="Calibri"/>
                        </a:rPr>
                        <a:t>Función</a:t>
                      </a:r>
                    </a:p>
                  </a:txBody>
                  <a:tcPr marL="82296" marR="82296" marT="41148" marB="41148" anchor="ctr">
                    <a:solidFill>
                      <a:srgbClr val="065A82"/>
                    </a:solidFill>
                  </a:tcPr>
                </a:tc>
              </a:tr>
              <a:tr h="723900">
                <a:tc>
                  <a:txBody>
                    <a:bodyPr wrap="square"/>
                    <a:lstStyle/>
                    <a:p>
                      <a:pPr algn="l"/>
                      <a:r>
                        <a:rPr sz="1150">
                          <a:solidFill>
                            <a:srgbClr val="162230"/>
                          </a:solidFill>
                          <a:latin typeface="Calibri"/>
                        </a:rPr>
                        <a:t>store init</a:t>
                      </a:r>
                    </a:p>
                  </a:txBody>
                  <a:tcPr marL="82296" marR="82296" marT="41148" marB="41148" anchor="ctr">
                    <a:solidFill>
                      <a:srgbClr val="FFFFFF"/>
                    </a:solidFill>
                  </a:tcPr>
                </a:tc>
                <a:tc>
                  <a:txBody>
                    <a:bodyPr wrap="square"/>
                    <a:lstStyle/>
                    <a:p>
                      <a:pPr algn="l"/>
                      <a:r>
                        <a:rPr sz="1150">
                          <a:solidFill>
                            <a:srgbClr val="162230"/>
                          </a:solidFill>
                          <a:latin typeface="Calibri"/>
                        </a:rPr>
                        <a:t>Inicializa el almacenamiento SQLite local</a:t>
                      </a:r>
                    </a:p>
                  </a:txBody>
                  <a:tcPr marL="82296" marR="82296" marT="41148" marB="41148" anchor="ctr">
                    <a:solidFill>
                      <a:srgbClr val="FFFFFF"/>
                    </a:solidFill>
                  </a:tcPr>
                </a:tc>
              </a:tr>
              <a:tr h="723900">
                <a:tc>
                  <a:txBody>
                    <a:bodyPr wrap="square"/>
                    <a:lstStyle/>
                    <a:p>
                      <a:pPr algn="l"/>
                      <a:r>
                        <a:rPr sz="1150">
                          <a:solidFill>
                            <a:srgbClr val="162230"/>
                          </a:solidFill>
                          <a:latin typeface="Calibri"/>
                        </a:rPr>
                        <a:t>json import / pdf import</a:t>
                      </a:r>
                    </a:p>
                  </a:txBody>
                  <a:tcPr marL="82296" marR="82296" marT="41148" marB="41148" anchor="ctr">
                    <a:solidFill>
                      <a:srgbClr val="F0F4F8"/>
                    </a:solidFill>
                  </a:tcPr>
                </a:tc>
                <a:tc>
                  <a:txBody>
                    <a:bodyPr wrap="square"/>
                    <a:lstStyle/>
                    <a:p>
                      <a:pPr algn="l"/>
                      <a:r>
                        <a:rPr sz="1150">
                          <a:solidFill>
                            <a:srgbClr val="162230"/>
                          </a:solidFill>
                          <a:latin typeface="Calibri"/>
                        </a:rPr>
                        <a:t>Importa Open CVN JSON o un CVN PDF (LLM opcional)</a:t>
                      </a:r>
                    </a:p>
                  </a:txBody>
                  <a:tcPr marL="82296" marR="82296" marT="41148" marB="41148" anchor="ctr">
                    <a:solidFill>
                      <a:srgbClr val="F0F4F8"/>
                    </a:solidFill>
                  </a:tcPr>
                </a:tc>
              </a:tr>
              <a:tr h="723900">
                <a:tc>
                  <a:txBody>
                    <a:bodyPr wrap="square"/>
                    <a:lstStyle/>
                    <a:p>
                      <a:pPr algn="l"/>
                      <a:r>
                        <a:rPr sz="1150">
                          <a:solidFill>
                            <a:srgbClr val="162230"/>
                          </a:solidFill>
                          <a:latin typeface="Calibri"/>
                        </a:rPr>
                        <a:t>versions derive</a:t>
                      </a:r>
                    </a:p>
                  </a:txBody>
                  <a:tcPr marL="82296" marR="82296" marT="41148" marB="41148" anchor="ctr">
                    <a:solidFill>
                      <a:srgbClr val="FFFFFF"/>
                    </a:solidFill>
                  </a:tcPr>
                </a:tc>
                <a:tc>
                  <a:txBody>
                    <a:bodyPr wrap="square"/>
                    <a:lstStyle/>
                    <a:p>
                      <a:pPr algn="l"/>
                      <a:r>
                        <a:rPr sz="1150">
                          <a:solidFill>
                            <a:srgbClr val="162230"/>
                          </a:solidFill>
                          <a:latin typeface="Calibri"/>
                        </a:rPr>
                        <a:t>Crea una versión derivada a partir del maestro</a:t>
                      </a:r>
                    </a:p>
                  </a:txBody>
                  <a:tcPr marL="82296" marR="82296" marT="41148" marB="41148" anchor="ctr">
                    <a:solidFill>
                      <a:srgbClr val="FFFFFF"/>
                    </a:solidFill>
                  </a:tcPr>
                </a:tc>
              </a:tr>
              <a:tr h="723900">
                <a:tc>
                  <a:txBody>
                    <a:bodyPr wrap="square"/>
                    <a:lstStyle/>
                    <a:p>
                      <a:pPr algn="l"/>
                      <a:r>
                        <a:rPr sz="1150">
                          <a:solidFill>
                            <a:srgbClr val="162230"/>
                          </a:solidFill>
                          <a:latin typeface="Calibri"/>
                        </a:rPr>
                        <a:t>versions include / exclude</a:t>
                      </a:r>
                    </a:p>
                  </a:txBody>
                  <a:tcPr marL="82296" marR="82296" marT="41148" marB="41148" anchor="ctr">
                    <a:solidFill>
                      <a:srgbClr val="F0F4F8"/>
                    </a:solidFill>
                  </a:tcPr>
                </a:tc>
                <a:tc>
                  <a:txBody>
                    <a:bodyPr wrap="square"/>
                    <a:lstStyle/>
                    <a:p>
                      <a:pPr algn="l"/>
                      <a:r>
                        <a:rPr sz="1150">
                          <a:solidFill>
                            <a:srgbClr val="162230"/>
                          </a:solidFill>
                          <a:latin typeface="Calibri"/>
                        </a:rPr>
                        <a:t>Selecciona o excluye secciones y entradas</a:t>
                      </a:r>
                    </a:p>
                  </a:txBody>
                  <a:tcPr marL="82296" marR="82296" marT="41148" marB="41148" anchor="ctr">
                    <a:solidFill>
                      <a:srgbClr val="F0F4F8"/>
                    </a:solidFill>
                  </a:tcPr>
                </a:tc>
              </a:tr>
              <a:tr h="723900">
                <a:tc>
                  <a:txBody>
                    <a:bodyPr wrap="square"/>
                    <a:lstStyle/>
                    <a:p>
                      <a:pPr algn="l"/>
                      <a:r>
                        <a:rPr sz="1150">
                          <a:solidFill>
                            <a:srgbClr val="162230"/>
                          </a:solidFill>
                          <a:latin typeface="Calibri"/>
                        </a:rPr>
                        <a:t>latex export / pdf generate</a:t>
                      </a:r>
                    </a:p>
                  </a:txBody>
                  <a:tcPr marL="82296" marR="82296" marT="41148" marB="41148" anchor="ctr">
                    <a:solidFill>
                      <a:srgbClr val="FFFFFF"/>
                    </a:solidFill>
                  </a:tcPr>
                </a:tc>
                <a:tc>
                  <a:txBody>
                    <a:bodyPr wrap="square"/>
                    <a:lstStyle/>
                    <a:p>
                      <a:pPr algn="l"/>
                      <a:r>
                        <a:rPr sz="1150">
                          <a:solidFill>
                            <a:srgbClr val="162230"/>
                          </a:solidFill>
                          <a:latin typeface="Calibri"/>
                        </a:rPr>
                        <a:t>Exporta a LaTeX y compila a PDF</a:t>
                      </a:r>
                    </a:p>
                  </a:txBody>
                  <a:tcPr marL="82296" marR="82296" marT="41148" marB="41148" anchor="ctr">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9144000" cy="320040"/>
          </a:xfrm>
          <a:prstGeom prst="rect">
            <a:avLst/>
          </a:prstGeom>
          <a:noFill/>
        </p:spPr>
        <p:txBody>
          <a:bodyPr wrap="square" lIns="0" rIns="0" tIns="0" bIns="0" anchor="t">
            <a:spAutoFit/>
          </a:bodyPr>
          <a:lstStyle/>
          <a:p>
            <a:pPr algn="l"/>
            <a:r>
              <a:rPr sz="1300" b="1" i="0">
                <a:solidFill>
                  <a:srgbClr val="1C7293"/>
                </a:solidFill>
                <a:latin typeface="Calibri"/>
              </a:rPr>
              <a:t>7 · EVALUACIÓN Y RESULTADOS</a:t>
            </a:r>
          </a:p>
        </p:txBody>
      </p:sp>
      <p:sp>
        <p:nvSpPr>
          <p:cNvPr id="4" name="TextBox 3"/>
          <p:cNvSpPr txBox="1"/>
          <p:nvPr/>
        </p:nvSpPr>
        <p:spPr>
          <a:xfrm>
            <a:off x="548640" y="658368"/>
            <a:ext cx="11064240" cy="822960"/>
          </a:xfrm>
          <a:prstGeom prst="rect">
            <a:avLst/>
          </a:prstGeom>
          <a:noFill/>
        </p:spPr>
        <p:txBody>
          <a:bodyPr wrap="square" lIns="0" rIns="0" tIns="0" bIns="0" anchor="t">
            <a:spAutoFit/>
          </a:bodyPr>
          <a:lstStyle/>
          <a:p>
            <a:pPr algn="l">
              <a:lnSpc>
                <a:spcPct val="102000"/>
              </a:lnSpc>
            </a:pPr>
            <a:r>
              <a:rPr sz="3000" b="1" i="0">
                <a:solidFill>
                  <a:srgbClr val="11243A"/>
                </a:solidFill>
                <a:latin typeface="Cambria"/>
              </a:rPr>
              <a:t>488 pruebas automatizadas, sin ningún fallo</a:t>
            </a:r>
          </a:p>
        </p:txBody>
      </p:sp>
      <p:sp>
        <p:nvSpPr>
          <p:cNvPr id="5" name="Rounded Rectangle 4"/>
          <p:cNvSpPr/>
          <p:nvPr/>
        </p:nvSpPr>
        <p:spPr>
          <a:xfrm>
            <a:off x="640080" y="1691640"/>
            <a:ext cx="2596896" cy="1234440"/>
          </a:xfrm>
          <a:prstGeom prst="roundRect">
            <a:avLst>
              <a:gd name="adj" fmla="val 10000"/>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1" y="1783080"/>
            <a:ext cx="2450591" cy="667512"/>
          </a:xfrm>
          <a:prstGeom prst="rect">
            <a:avLst/>
          </a:prstGeom>
          <a:noFill/>
        </p:spPr>
        <p:txBody>
          <a:bodyPr wrap="square" lIns="0" rIns="0" tIns="0" bIns="0" anchor="b">
            <a:spAutoFit/>
          </a:bodyPr>
          <a:lstStyle/>
          <a:p>
            <a:pPr algn="ctr"/>
            <a:r>
              <a:rPr sz="3000" b="1" i="0">
                <a:solidFill>
                  <a:srgbClr val="065A82"/>
                </a:solidFill>
                <a:latin typeface="Cambria"/>
              </a:rPr>
              <a:t>488</a:t>
            </a:r>
          </a:p>
        </p:txBody>
      </p:sp>
      <p:sp>
        <p:nvSpPr>
          <p:cNvPr id="7" name="TextBox 6"/>
          <p:cNvSpPr txBox="1"/>
          <p:nvPr/>
        </p:nvSpPr>
        <p:spPr>
          <a:xfrm>
            <a:off x="713231" y="2468880"/>
            <a:ext cx="2450591" cy="420624"/>
          </a:xfrm>
          <a:prstGeom prst="rect">
            <a:avLst/>
          </a:prstGeom>
          <a:noFill/>
        </p:spPr>
        <p:txBody>
          <a:bodyPr wrap="square" lIns="0" rIns="0" tIns="0" bIns="0" anchor="t">
            <a:spAutoFit/>
          </a:bodyPr>
          <a:lstStyle/>
          <a:p>
            <a:pPr algn="ctr">
              <a:lnSpc>
                <a:spcPct val="100000"/>
              </a:lnSpc>
            </a:pPr>
            <a:r>
              <a:rPr sz="1050" b="0" i="0">
                <a:solidFill>
                  <a:srgbClr val="5B6B7A"/>
                </a:solidFill>
                <a:latin typeface="Calibri"/>
              </a:rPr>
              <a:t>pruebas ejecutadas</a:t>
            </a:r>
          </a:p>
        </p:txBody>
      </p:sp>
      <p:sp>
        <p:nvSpPr>
          <p:cNvPr id="8" name="Rounded Rectangle 7"/>
          <p:cNvSpPr/>
          <p:nvPr/>
        </p:nvSpPr>
        <p:spPr>
          <a:xfrm>
            <a:off x="3401568" y="1691640"/>
            <a:ext cx="2596896" cy="1234440"/>
          </a:xfrm>
          <a:prstGeom prst="roundRect">
            <a:avLst>
              <a:gd name="adj" fmla="val 10000"/>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4720" y="1783080"/>
            <a:ext cx="2450591" cy="667512"/>
          </a:xfrm>
          <a:prstGeom prst="rect">
            <a:avLst/>
          </a:prstGeom>
          <a:noFill/>
        </p:spPr>
        <p:txBody>
          <a:bodyPr wrap="square" lIns="0" rIns="0" tIns="0" bIns="0" anchor="b">
            <a:spAutoFit/>
          </a:bodyPr>
          <a:lstStyle/>
          <a:p>
            <a:pPr algn="ctr"/>
            <a:r>
              <a:rPr sz="3000" b="1" i="0">
                <a:solidFill>
                  <a:srgbClr val="065A82"/>
                </a:solidFill>
                <a:latin typeface="Cambria"/>
              </a:rPr>
              <a:t>8</a:t>
            </a:r>
          </a:p>
        </p:txBody>
      </p:sp>
      <p:sp>
        <p:nvSpPr>
          <p:cNvPr id="10" name="TextBox 9"/>
          <p:cNvSpPr txBox="1"/>
          <p:nvPr/>
        </p:nvSpPr>
        <p:spPr>
          <a:xfrm>
            <a:off x="3474720" y="2468880"/>
            <a:ext cx="2450591" cy="420624"/>
          </a:xfrm>
          <a:prstGeom prst="rect">
            <a:avLst/>
          </a:prstGeom>
          <a:noFill/>
        </p:spPr>
        <p:txBody>
          <a:bodyPr wrap="square" lIns="0" rIns="0" tIns="0" bIns="0" anchor="t">
            <a:spAutoFit/>
          </a:bodyPr>
          <a:lstStyle/>
          <a:p>
            <a:pPr algn="ctr">
              <a:lnSpc>
                <a:spcPct val="100000"/>
              </a:lnSpc>
            </a:pPr>
            <a:r>
              <a:rPr sz="1050" b="0" i="0">
                <a:solidFill>
                  <a:srgbClr val="5B6B7A"/>
                </a:solidFill>
                <a:latin typeface="Calibri"/>
              </a:rPr>
              <a:t>niveles de evaluación</a:t>
            </a:r>
          </a:p>
        </p:txBody>
      </p:sp>
      <p:sp>
        <p:nvSpPr>
          <p:cNvPr id="11" name="Rounded Rectangle 10"/>
          <p:cNvSpPr/>
          <p:nvPr/>
        </p:nvSpPr>
        <p:spPr>
          <a:xfrm>
            <a:off x="6163056" y="1691640"/>
            <a:ext cx="2596896" cy="1234440"/>
          </a:xfrm>
          <a:prstGeom prst="roundRect">
            <a:avLst>
              <a:gd name="adj" fmla="val 10000"/>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36208" y="1783080"/>
            <a:ext cx="2450591" cy="667512"/>
          </a:xfrm>
          <a:prstGeom prst="rect">
            <a:avLst/>
          </a:prstGeom>
          <a:noFill/>
        </p:spPr>
        <p:txBody>
          <a:bodyPr wrap="square" lIns="0" rIns="0" tIns="0" bIns="0" anchor="b">
            <a:spAutoFit/>
          </a:bodyPr>
          <a:lstStyle/>
          <a:p>
            <a:pPr algn="ctr"/>
            <a:r>
              <a:rPr sz="3000" b="1" i="0">
                <a:solidFill>
                  <a:srgbClr val="065A82"/>
                </a:solidFill>
                <a:latin typeface="Cambria"/>
              </a:rPr>
              <a:t>692,80 s</a:t>
            </a:r>
          </a:p>
        </p:txBody>
      </p:sp>
      <p:sp>
        <p:nvSpPr>
          <p:cNvPr id="13" name="TextBox 12"/>
          <p:cNvSpPr txBox="1"/>
          <p:nvPr/>
        </p:nvSpPr>
        <p:spPr>
          <a:xfrm>
            <a:off x="6236208" y="2468880"/>
            <a:ext cx="2450591" cy="420624"/>
          </a:xfrm>
          <a:prstGeom prst="rect">
            <a:avLst/>
          </a:prstGeom>
          <a:noFill/>
        </p:spPr>
        <p:txBody>
          <a:bodyPr wrap="square" lIns="0" rIns="0" tIns="0" bIns="0" anchor="t">
            <a:spAutoFit/>
          </a:bodyPr>
          <a:lstStyle/>
          <a:p>
            <a:pPr algn="ctr">
              <a:lnSpc>
                <a:spcPct val="100000"/>
              </a:lnSpc>
            </a:pPr>
            <a:r>
              <a:rPr sz="1050" b="0" i="0">
                <a:solidFill>
                  <a:srgbClr val="5B6B7A"/>
                </a:solidFill>
                <a:latin typeface="Calibri"/>
              </a:rPr>
              <a:t>de ejecución paralela</a:t>
            </a:r>
          </a:p>
        </p:txBody>
      </p:sp>
      <p:sp>
        <p:nvSpPr>
          <p:cNvPr id="14" name="Rounded Rectangle 13"/>
          <p:cNvSpPr/>
          <p:nvPr/>
        </p:nvSpPr>
        <p:spPr>
          <a:xfrm>
            <a:off x="8924544" y="1691640"/>
            <a:ext cx="2596896" cy="1234440"/>
          </a:xfrm>
          <a:prstGeom prst="roundRect">
            <a:avLst>
              <a:gd name="adj" fmla="val 10000"/>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97696" y="1783080"/>
            <a:ext cx="2450591" cy="667512"/>
          </a:xfrm>
          <a:prstGeom prst="rect">
            <a:avLst/>
          </a:prstGeom>
          <a:noFill/>
        </p:spPr>
        <p:txBody>
          <a:bodyPr wrap="square" lIns="0" rIns="0" tIns="0" bIns="0" anchor="b">
            <a:spAutoFit/>
          </a:bodyPr>
          <a:lstStyle/>
          <a:p>
            <a:pPr algn="ctr"/>
            <a:r>
              <a:rPr sz="3000" b="1" i="0">
                <a:solidFill>
                  <a:srgbClr val="065A82"/>
                </a:solidFill>
                <a:latin typeface="Cambria"/>
              </a:rPr>
              <a:t>0</a:t>
            </a:r>
          </a:p>
        </p:txBody>
      </p:sp>
      <p:sp>
        <p:nvSpPr>
          <p:cNvPr id="16" name="TextBox 15"/>
          <p:cNvSpPr txBox="1"/>
          <p:nvPr/>
        </p:nvSpPr>
        <p:spPr>
          <a:xfrm>
            <a:off x="8997696" y="2468880"/>
            <a:ext cx="2450591" cy="420624"/>
          </a:xfrm>
          <a:prstGeom prst="rect">
            <a:avLst/>
          </a:prstGeom>
          <a:noFill/>
        </p:spPr>
        <p:txBody>
          <a:bodyPr wrap="square" lIns="0" rIns="0" tIns="0" bIns="0" anchor="t">
            <a:spAutoFit/>
          </a:bodyPr>
          <a:lstStyle/>
          <a:p>
            <a:pPr algn="ctr">
              <a:lnSpc>
                <a:spcPct val="100000"/>
              </a:lnSpc>
            </a:pPr>
            <a:r>
              <a:rPr sz="1050" b="0" i="0">
                <a:solidFill>
                  <a:srgbClr val="5B6B7A"/>
                </a:solidFill>
                <a:latin typeface="Calibri"/>
              </a:rPr>
              <a:t>fallos en la última ejecución</a:t>
            </a:r>
          </a:p>
        </p:txBody>
      </p:sp>
      <p:graphicFrame>
        <p:nvGraphicFramePr>
          <p:cNvPr id="17" name="Chart 16"/>
          <p:cNvGraphicFramePr>
            <a:graphicFrameLocks noGrp="1"/>
          </p:cNvGraphicFramePr>
          <p:nvPr/>
        </p:nvGraphicFramePr>
        <p:xfrm>
          <a:off x="640080" y="3154680"/>
          <a:ext cx="7680960" cy="3246120"/>
        </p:xfrm>
        <a:graphic>
          <a:graphicData uri="http://schemas.openxmlformats.org/drawingml/2006/chart">
            <c:chart xmlns:c="http://schemas.openxmlformats.org/drawingml/2006/chart" r:id="rId2"/>
          </a:graphicData>
        </a:graphic>
      </p:graphicFrame>
      <p:sp>
        <p:nvSpPr>
          <p:cNvPr id="18" name="Rounded Rectangle 17"/>
          <p:cNvSpPr/>
          <p:nvPr/>
        </p:nvSpPr>
        <p:spPr>
          <a:xfrm>
            <a:off x="8503920" y="3154680"/>
            <a:ext cx="3017520" cy="3246120"/>
          </a:xfrm>
          <a:prstGeom prst="roundRect">
            <a:avLst>
              <a:gd name="adj" fmla="val 9000"/>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32520" y="3337560"/>
            <a:ext cx="2606040" cy="502920"/>
          </a:xfrm>
          <a:prstGeom prst="rect">
            <a:avLst/>
          </a:prstGeom>
          <a:noFill/>
        </p:spPr>
        <p:txBody>
          <a:bodyPr wrap="square" lIns="0" rIns="0" tIns="0" bIns="0" anchor="t">
            <a:spAutoFit/>
          </a:bodyPr>
          <a:lstStyle/>
          <a:p>
            <a:pPr algn="l"/>
            <a:r>
              <a:rPr sz="1150" b="1" i="0">
                <a:solidFill>
                  <a:srgbClr val="065A82"/>
                </a:solidFill>
                <a:latin typeface="Courier New"/>
              </a:rPr>
              <a:t>uv run pytest -n auto tests</a:t>
            </a:r>
          </a:p>
        </p:txBody>
      </p:sp>
      <p:sp>
        <p:nvSpPr>
          <p:cNvPr id="20" name="TextBox 19"/>
          <p:cNvSpPr txBox="1"/>
          <p:nvPr/>
        </p:nvSpPr>
        <p:spPr>
          <a:xfrm>
            <a:off x="8732520" y="3977639"/>
            <a:ext cx="2606040" cy="2286000"/>
          </a:xfrm>
          <a:prstGeom prst="rect">
            <a:avLst/>
          </a:prstGeom>
          <a:noFill/>
        </p:spPr>
        <p:txBody>
          <a:bodyPr wrap="square" anchor="t" lIns="0" rIns="0" tIns="0" bIns="0">
            <a:spAutoFit/>
          </a:bodyPr>
          <a:lstStyle/>
          <a:p>
            <a:pPr algn="l" marL="256032" indent="-256032">
              <a:lnSpc>
                <a:spcPct val="112000"/>
              </a:lnSpc>
              <a:spcAft>
                <a:spcPts val="1000"/>
              </a:spcAft>
              <a:buClr>
                <a:srgbClr val="065A82"/>
              </a:buClr>
              <a:buSzPct val="55000"/>
              <a:buFont typeface="Arial"/>
              <a:buChar char="●"/>
            </a:pPr>
            <a:r>
              <a:rPr sz="1150">
                <a:solidFill>
                  <a:srgbClr val="162230"/>
                </a:solidFill>
                <a:latin typeface="Calibri"/>
              </a:rPr>
              <a:t>Organizada por las mismas capas que la arquitectura.</a:t>
            </a:r>
          </a:p>
          <a:p>
            <a:pPr algn="l" marL="256032" indent="-256032">
              <a:lnSpc>
                <a:spcPct val="112000"/>
              </a:lnSpc>
              <a:spcAft>
                <a:spcPts val="1000"/>
              </a:spcAft>
              <a:buClr>
                <a:srgbClr val="065A82"/>
              </a:buClr>
              <a:buSzPct val="55000"/>
              <a:buFont typeface="Arial"/>
              <a:buChar char="●"/>
            </a:pPr>
            <a:r>
              <a:rPr sz="1150">
                <a:solidFill>
                  <a:srgbClr val="162230"/>
                </a:solidFill>
                <a:latin typeface="Calibri"/>
              </a:rPr>
              <a:t>Se ejecuta también en integración continua en cada contribución.</a:t>
            </a:r>
          </a:p>
          <a:p>
            <a:pPr algn="l" marL="256032" indent="-256032">
              <a:lnSpc>
                <a:spcPct val="112000"/>
              </a:lnSpc>
              <a:spcAft>
                <a:spcPts val="1000"/>
              </a:spcAft>
              <a:buClr>
                <a:srgbClr val="065A82"/>
              </a:buClr>
              <a:buSzPct val="55000"/>
              <a:buFont typeface="Arial"/>
              <a:buChar char="●"/>
            </a:pPr>
            <a:r>
              <a:rPr sz="1150">
                <a:solidFill>
                  <a:srgbClr val="162230"/>
                </a:solidFill>
                <a:latin typeface="Calibri"/>
              </a:rPr>
              <a:t>El resultado no depende del entorno de quien lo ejecuta.</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9144000" cy="320040"/>
          </a:xfrm>
          <a:prstGeom prst="rect">
            <a:avLst/>
          </a:prstGeom>
          <a:noFill/>
        </p:spPr>
        <p:txBody>
          <a:bodyPr wrap="square" lIns="0" rIns="0" tIns="0" bIns="0" anchor="t">
            <a:spAutoFit/>
          </a:bodyPr>
          <a:lstStyle/>
          <a:p>
            <a:pPr algn="l"/>
            <a:r>
              <a:rPr sz="1300" b="1" i="0">
                <a:solidFill>
                  <a:srgbClr val="1C7293"/>
                </a:solidFill>
                <a:latin typeface="Calibri"/>
              </a:rPr>
              <a:t>7 · EVALUACIÓN Y RESULTADOS</a:t>
            </a:r>
          </a:p>
        </p:txBody>
      </p:sp>
      <p:sp>
        <p:nvSpPr>
          <p:cNvPr id="4" name="TextBox 3"/>
          <p:cNvSpPr txBox="1"/>
          <p:nvPr/>
        </p:nvSpPr>
        <p:spPr>
          <a:xfrm>
            <a:off x="548640" y="658368"/>
            <a:ext cx="11064240" cy="822960"/>
          </a:xfrm>
          <a:prstGeom prst="rect">
            <a:avLst/>
          </a:prstGeom>
          <a:noFill/>
        </p:spPr>
        <p:txBody>
          <a:bodyPr wrap="square" lIns="0" rIns="0" tIns="0" bIns="0" anchor="t">
            <a:spAutoFit/>
          </a:bodyPr>
          <a:lstStyle/>
          <a:p>
            <a:pPr algn="l">
              <a:lnSpc>
                <a:spcPct val="102000"/>
              </a:lnSpc>
            </a:pPr>
            <a:r>
              <a:rPr sz="3000" b="1" i="0">
                <a:solidFill>
                  <a:srgbClr val="11243A"/>
                </a:solidFill>
                <a:latin typeface="Cambria"/>
              </a:rPr>
              <a:t>Garantías fuertes donde el proceso es determinista</a:t>
            </a:r>
          </a:p>
        </p:txBody>
      </p:sp>
      <p:sp>
        <p:nvSpPr>
          <p:cNvPr id="5" name="Rounded Rectangle 4"/>
          <p:cNvSpPr/>
          <p:nvPr/>
        </p:nvSpPr>
        <p:spPr>
          <a:xfrm>
            <a:off x="640080" y="1783080"/>
            <a:ext cx="5349240" cy="4206240"/>
          </a:xfrm>
          <a:prstGeom prst="roundRect">
            <a:avLst>
              <a:gd name="adj" fmla="val 10000"/>
            </a:avLst>
          </a:prstGeom>
          <a:solidFill>
            <a:srgbClr val="E1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965960"/>
            <a:ext cx="4892040" cy="365760"/>
          </a:xfrm>
          <a:prstGeom prst="rect">
            <a:avLst/>
          </a:prstGeom>
          <a:noFill/>
        </p:spPr>
        <p:txBody>
          <a:bodyPr wrap="square" lIns="0" rIns="0" tIns="0" bIns="0" anchor="t">
            <a:spAutoFit/>
          </a:bodyPr>
          <a:lstStyle/>
          <a:p>
            <a:pPr algn="l"/>
            <a:r>
              <a:rPr sz="1250" b="1" i="0">
                <a:solidFill>
                  <a:srgbClr val="1C7293"/>
                </a:solidFill>
                <a:latin typeface="Calibri"/>
              </a:rPr>
              <a:t>GARANTÍAS FUERTES Y DETERMINISTAS</a:t>
            </a:r>
          </a:p>
        </p:txBody>
      </p:sp>
      <p:sp>
        <p:nvSpPr>
          <p:cNvPr id="7" name="TextBox 6"/>
          <p:cNvSpPr txBox="1"/>
          <p:nvPr/>
        </p:nvSpPr>
        <p:spPr>
          <a:xfrm>
            <a:off x="868680" y="2395728"/>
            <a:ext cx="4937760" cy="3429000"/>
          </a:xfrm>
          <a:prstGeom prst="rect">
            <a:avLst/>
          </a:prstGeom>
          <a:noFill/>
        </p:spPr>
        <p:txBody>
          <a:bodyPr wrap="square" anchor="t" lIns="0" rIns="0" tIns="0" bIns="0">
            <a:spAutoFit/>
          </a:bodyPr>
          <a:lstStyle/>
          <a:p>
            <a:pPr algn="l" marL="256032" indent="-256032">
              <a:lnSpc>
                <a:spcPct val="112000"/>
              </a:lnSpc>
              <a:spcAft>
                <a:spcPts val="1600"/>
              </a:spcAft>
              <a:buClr>
                <a:srgbClr val="1C7293"/>
              </a:buClr>
              <a:buSzPct val="55000"/>
              <a:buFont typeface="Arial"/>
              <a:buChar char="●"/>
            </a:pPr>
            <a:r>
              <a:rPr sz="1350">
                <a:solidFill>
                  <a:srgbClr val="162230"/>
                </a:solidFill>
                <a:latin typeface="Calibri"/>
              </a:rPr>
              <a:t>Generación estructural desde los esquemas XSD oficiales.</a:t>
            </a:r>
          </a:p>
          <a:p>
            <a:pPr algn="l" marL="256032" indent="-256032">
              <a:lnSpc>
                <a:spcPct val="112000"/>
              </a:lnSpc>
              <a:spcAft>
                <a:spcPts val="1600"/>
              </a:spcAft>
              <a:buClr>
                <a:srgbClr val="1C7293"/>
              </a:buClr>
              <a:buSzPct val="55000"/>
              <a:buFont typeface="Arial"/>
              <a:buChar char="●"/>
            </a:pPr>
            <a:r>
              <a:rPr sz="1350">
                <a:solidFill>
                  <a:srgbClr val="162230"/>
                </a:solidFill>
                <a:latin typeface="Calibri"/>
              </a:rPr>
              <a:t>Normalización y resolución de referencias con evidencia trazable.</a:t>
            </a:r>
          </a:p>
          <a:p>
            <a:pPr algn="l" marL="256032" indent="-256032">
              <a:lnSpc>
                <a:spcPct val="112000"/>
              </a:lnSpc>
              <a:spcAft>
                <a:spcPts val="1600"/>
              </a:spcAft>
              <a:buClr>
                <a:srgbClr val="1C7293"/>
              </a:buClr>
              <a:buSzPct val="55000"/>
              <a:buFont typeface="Arial"/>
              <a:buChar char="●"/>
            </a:pPr>
            <a:r>
              <a:rPr sz="1350">
                <a:solidFill>
                  <a:srgbClr val="162230"/>
                </a:solidFill>
                <a:latin typeface="Calibri"/>
              </a:rPr>
              <a:t>Política semántica evaluada a partir de evidencia concreta.</a:t>
            </a:r>
          </a:p>
          <a:p>
            <a:pPr algn="l" marL="256032" indent="-256032">
              <a:lnSpc>
                <a:spcPct val="112000"/>
              </a:lnSpc>
              <a:spcAft>
                <a:spcPts val="1600"/>
              </a:spcAft>
              <a:buClr>
                <a:srgbClr val="1C7293"/>
              </a:buClr>
              <a:buSzPct val="55000"/>
              <a:buFont typeface="Arial"/>
              <a:buChar char="●"/>
            </a:pPr>
            <a:r>
              <a:rPr sz="1350">
                <a:solidFill>
                  <a:srgbClr val="162230"/>
                </a:solidFill>
                <a:latin typeface="Calibri"/>
              </a:rPr>
              <a:t>Validación estructural y en tiempo de ejecución del formato Open CVN JSON.</a:t>
            </a:r>
          </a:p>
        </p:txBody>
      </p:sp>
      <p:sp>
        <p:nvSpPr>
          <p:cNvPr id="8" name="Rounded Rectangle 7"/>
          <p:cNvSpPr/>
          <p:nvPr/>
        </p:nvSpPr>
        <p:spPr>
          <a:xfrm>
            <a:off x="6172200" y="1783080"/>
            <a:ext cx="5349240" cy="4206240"/>
          </a:xfrm>
          <a:prstGeom prst="roundRect">
            <a:avLst>
              <a:gd name="adj" fmla="val 10000"/>
            </a:avLst>
          </a:prstGeom>
          <a:solidFill>
            <a:srgbClr val="FBF0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965960"/>
            <a:ext cx="4892040" cy="365760"/>
          </a:xfrm>
          <a:prstGeom prst="rect">
            <a:avLst/>
          </a:prstGeom>
          <a:noFill/>
        </p:spPr>
        <p:txBody>
          <a:bodyPr wrap="square" lIns="0" rIns="0" tIns="0" bIns="0" anchor="t">
            <a:spAutoFit/>
          </a:bodyPr>
          <a:lstStyle/>
          <a:p>
            <a:pPr algn="l"/>
            <a:r>
              <a:rPr sz="1250" b="1" i="0">
                <a:solidFill>
                  <a:srgbClr val="E09A3E"/>
                </a:solidFill>
                <a:latin typeface="Calibri"/>
              </a:rPr>
              <a:t>GARANTÍAS PARCIALES Y DOCUMENTADAS</a:t>
            </a:r>
          </a:p>
        </p:txBody>
      </p:sp>
      <p:sp>
        <p:nvSpPr>
          <p:cNvPr id="10" name="TextBox 9"/>
          <p:cNvSpPr txBox="1"/>
          <p:nvPr/>
        </p:nvSpPr>
        <p:spPr>
          <a:xfrm>
            <a:off x="6400800" y="2395728"/>
            <a:ext cx="4937760" cy="3429000"/>
          </a:xfrm>
          <a:prstGeom prst="rect">
            <a:avLst/>
          </a:prstGeom>
          <a:noFill/>
        </p:spPr>
        <p:txBody>
          <a:bodyPr wrap="square" anchor="t" lIns="0" rIns="0" tIns="0" bIns="0">
            <a:spAutoFit/>
          </a:bodyPr>
          <a:lstStyle/>
          <a:p>
            <a:pPr algn="l" marL="256032" indent="-256032">
              <a:lnSpc>
                <a:spcPct val="112000"/>
              </a:lnSpc>
              <a:spcAft>
                <a:spcPts val="1600"/>
              </a:spcAft>
              <a:buClr>
                <a:srgbClr val="E0993C"/>
              </a:buClr>
              <a:buSzPct val="55000"/>
              <a:buFont typeface="Arial"/>
              <a:buChar char="●"/>
            </a:pPr>
            <a:r>
              <a:rPr sz="1350">
                <a:solidFill>
                  <a:srgbClr val="162230"/>
                </a:solidFill>
                <a:latin typeface="Calibri"/>
              </a:rPr>
              <a:t>Importación de CVN XML: mapeo semántico parcial y creciente.</a:t>
            </a:r>
          </a:p>
          <a:p>
            <a:pPr algn="l" marL="256032" indent="-256032">
              <a:lnSpc>
                <a:spcPct val="112000"/>
              </a:lnSpc>
              <a:spcAft>
                <a:spcPts val="1600"/>
              </a:spcAft>
              <a:buClr>
                <a:srgbClr val="E0993C"/>
              </a:buClr>
              <a:buSzPct val="55000"/>
              <a:buFont typeface="Arial"/>
              <a:buChar char="●"/>
            </a:pPr>
            <a:r>
              <a:rPr sz="1350">
                <a:solidFill>
                  <a:srgbClr val="162230"/>
                </a:solidFill>
                <a:latin typeface="Calibri"/>
              </a:rPr>
              <a:t>Importación asistida por LLM: opcional, no autoritativa sin revisión.</a:t>
            </a:r>
          </a:p>
          <a:p>
            <a:pPr algn="l" marL="256032" indent="-256032">
              <a:lnSpc>
                <a:spcPct val="112000"/>
              </a:lnSpc>
              <a:spcAft>
                <a:spcPts val="1600"/>
              </a:spcAft>
              <a:buClr>
                <a:srgbClr val="E0993C"/>
              </a:buClr>
              <a:buSzPct val="55000"/>
              <a:buFont typeface="Arial"/>
              <a:buChar char="●"/>
            </a:pPr>
            <a:r>
              <a:rPr sz="1350">
                <a:solidFill>
                  <a:srgbClr val="162230"/>
                </a:solidFill>
                <a:latin typeface="Calibri"/>
              </a:rPr>
              <a:t>Generación de PDF: depende de un motor LaTeX disponible en el entorno.</a:t>
            </a:r>
          </a:p>
        </p:txBody>
      </p:sp>
      <p:sp>
        <p:nvSpPr>
          <p:cNvPr id="11" name="TextBox 10"/>
          <p:cNvSpPr txBox="1"/>
          <p:nvPr/>
        </p:nvSpPr>
        <p:spPr>
          <a:xfrm>
            <a:off x="640080" y="6172200"/>
            <a:ext cx="10881360" cy="411480"/>
          </a:xfrm>
          <a:prstGeom prst="rect">
            <a:avLst/>
          </a:prstGeom>
          <a:noFill/>
        </p:spPr>
        <p:txBody>
          <a:bodyPr wrap="square" lIns="0" rIns="0" tIns="0" bIns="0" anchor="t">
            <a:spAutoFit/>
          </a:bodyPr>
          <a:lstStyle/>
          <a:p>
            <a:pPr algn="ctr"/>
            <a:r>
              <a:rPr sz="1150" b="0" i="1">
                <a:solidFill>
                  <a:srgbClr val="5B6B7A"/>
                </a:solidFill>
                <a:latin typeface="Calibri"/>
              </a:rPr>
              <a:t>No debe interpretarse como una conversión completa del ecosistema CVN ni como una validación semántica total del dominio.</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9144000" cy="320040"/>
          </a:xfrm>
          <a:prstGeom prst="rect">
            <a:avLst/>
          </a:prstGeom>
          <a:noFill/>
        </p:spPr>
        <p:txBody>
          <a:bodyPr wrap="square" lIns="0" rIns="0" tIns="0" bIns="0" anchor="t">
            <a:spAutoFit/>
          </a:bodyPr>
          <a:lstStyle/>
          <a:p>
            <a:pPr algn="l"/>
            <a:r>
              <a:rPr sz="1300" b="1" i="0">
                <a:solidFill>
                  <a:srgbClr val="1C7293"/>
                </a:solidFill>
                <a:latin typeface="Calibri"/>
              </a:rPr>
              <a:t>8 · CONCLUSIONES</a:t>
            </a:r>
          </a:p>
        </p:txBody>
      </p:sp>
      <p:sp>
        <p:nvSpPr>
          <p:cNvPr id="4" name="TextBox 3"/>
          <p:cNvSpPr txBox="1"/>
          <p:nvPr/>
        </p:nvSpPr>
        <p:spPr>
          <a:xfrm>
            <a:off x="548640" y="658368"/>
            <a:ext cx="11064240" cy="822960"/>
          </a:xfrm>
          <a:prstGeom prst="rect">
            <a:avLst/>
          </a:prstGeom>
          <a:noFill/>
        </p:spPr>
        <p:txBody>
          <a:bodyPr wrap="square" lIns="0" rIns="0" tIns="0" bIns="0" anchor="t">
            <a:spAutoFit/>
          </a:bodyPr>
          <a:lstStyle/>
          <a:p>
            <a:pPr algn="l">
              <a:lnSpc>
                <a:spcPct val="102000"/>
              </a:lnSpc>
            </a:pPr>
            <a:r>
              <a:rPr sz="3000" b="1" i="0">
                <a:solidFill>
                  <a:srgbClr val="11243A"/>
                </a:solidFill>
                <a:latin typeface="Cambria"/>
              </a:rPr>
              <a:t>Cumplimiento de los objetivos específicos</a:t>
            </a:r>
          </a:p>
        </p:txBody>
      </p:sp>
      <p:graphicFrame>
        <p:nvGraphicFramePr>
          <p:cNvPr id="5" name="Table 4"/>
          <p:cNvGraphicFramePr>
            <a:graphicFrameLocks noGrp="1"/>
          </p:cNvGraphicFramePr>
          <p:nvPr/>
        </p:nvGraphicFramePr>
        <p:xfrm>
          <a:off x="640080" y="1783080"/>
          <a:ext cx="10881360" cy="4434840"/>
        </p:xfrm>
        <a:graphic>
          <a:graphicData uri="http://schemas.openxmlformats.org/drawingml/2006/table">
            <a:tbl>
              <a:tblPr>
                <a:tableStyleId>{5C22544A-7EE6-4342-B048-85BDC9FD1C3A}</a:tableStyleId>
              </a:tblPr>
              <a:tblGrid>
                <a:gridCol w="868680"/>
                <a:gridCol w="7635240"/>
                <a:gridCol w="2377440"/>
              </a:tblGrid>
              <a:tr h="403167">
                <a:tc>
                  <a:txBody>
                    <a:bodyPr wrap="square"/>
                    <a:lstStyle/>
                    <a:p>
                      <a:pPr algn="l"/>
                      <a:r>
                        <a:rPr b="1" sz="1300">
                          <a:solidFill>
                            <a:srgbClr val="FFFFFF"/>
                          </a:solidFill>
                          <a:latin typeface="Calibri"/>
                        </a:rPr>
                        <a:t>Obj.</a:t>
                      </a:r>
                    </a:p>
                  </a:txBody>
                  <a:tcPr marL="82296" marR="82296" marT="41148" marB="41148" anchor="ctr">
                    <a:solidFill>
                      <a:srgbClr val="065A82"/>
                    </a:solidFill>
                  </a:tcPr>
                </a:tc>
                <a:tc>
                  <a:txBody>
                    <a:bodyPr wrap="square"/>
                    <a:lstStyle/>
                    <a:p>
                      <a:pPr algn="l"/>
                      <a:r>
                        <a:rPr b="1" sz="1300">
                          <a:solidFill>
                            <a:srgbClr val="FFFFFF"/>
                          </a:solidFill>
                          <a:latin typeface="Calibri"/>
                        </a:rPr>
                        <a:t>Descripción resumida</a:t>
                      </a:r>
                    </a:p>
                  </a:txBody>
                  <a:tcPr marL="82296" marR="82296" marT="41148" marB="41148" anchor="ctr">
                    <a:solidFill>
                      <a:srgbClr val="065A82"/>
                    </a:solidFill>
                  </a:tcPr>
                </a:tc>
                <a:tc>
                  <a:txBody>
                    <a:bodyPr wrap="square"/>
                    <a:lstStyle/>
                    <a:p>
                      <a:pPr algn="l"/>
                      <a:r>
                        <a:rPr b="1" sz="1300">
                          <a:solidFill>
                            <a:srgbClr val="FFFFFF"/>
                          </a:solidFill>
                          <a:latin typeface="Calibri"/>
                        </a:rPr>
                        <a:t>Estado</a:t>
                      </a:r>
                    </a:p>
                  </a:txBody>
                  <a:tcPr marL="82296" marR="82296" marT="41148" marB="41148" anchor="ctr">
                    <a:solidFill>
                      <a:srgbClr val="065A82"/>
                    </a:solidFill>
                  </a:tcPr>
                </a:tc>
              </a:tr>
              <a:tr h="403167">
                <a:tc>
                  <a:txBody>
                    <a:bodyPr wrap="square"/>
                    <a:lstStyle/>
                    <a:p>
                      <a:pPr algn="l"/>
                      <a:r>
                        <a:rPr sz="1250">
                          <a:solidFill>
                            <a:srgbClr val="162230"/>
                          </a:solidFill>
                          <a:latin typeface="Calibri"/>
                        </a:rPr>
                        <a:t>OE1</a:t>
                      </a:r>
                    </a:p>
                  </a:txBody>
                  <a:tcPr marL="82296" marR="82296" marT="41148" marB="41148" anchor="ctr">
                    <a:solidFill>
                      <a:srgbClr val="FFFFFF"/>
                    </a:solidFill>
                  </a:tcPr>
                </a:tc>
                <a:tc>
                  <a:txBody>
                    <a:bodyPr wrap="square"/>
                    <a:lstStyle/>
                    <a:p>
                      <a:pPr algn="l"/>
                      <a:r>
                        <a:rPr sz="1250">
                          <a:solidFill>
                            <a:srgbClr val="162230"/>
                          </a:solidFill>
                          <a:latin typeface="Calibri"/>
                        </a:rPr>
                        <a:t>Análisis del ecosistema CVN y sus artefactos oficiales</a:t>
                      </a:r>
                    </a:p>
                  </a:txBody>
                  <a:tcPr marL="82296" marR="82296" marT="41148" marB="41148" anchor="ctr">
                    <a:solidFill>
                      <a:srgbClr val="FFFFFF"/>
                    </a:solidFill>
                  </a:tcPr>
                </a:tc>
                <a:tc>
                  <a:txBody>
                    <a:bodyPr wrap="square"/>
                    <a:lstStyle/>
                    <a:p>
                      <a:pPr algn="ctr"/>
                      <a:r>
                        <a:rPr sz="1250" b="1">
                          <a:solidFill>
                            <a:srgbClr val="1C7293"/>
                          </a:solidFill>
                          <a:latin typeface="Calibri"/>
                        </a:rPr>
                        <a:t>Cumplido</a:t>
                      </a:r>
                    </a:p>
                  </a:txBody>
                  <a:tcPr marL="82296" marR="82296" marT="41148" marB="41148" anchor="ctr">
                    <a:solidFill>
                      <a:srgbClr val="FFFFFF"/>
                    </a:solidFill>
                  </a:tcPr>
                </a:tc>
              </a:tr>
              <a:tr h="403167">
                <a:tc>
                  <a:txBody>
                    <a:bodyPr wrap="square"/>
                    <a:lstStyle/>
                    <a:p>
                      <a:pPr algn="l"/>
                      <a:r>
                        <a:rPr sz="1250">
                          <a:solidFill>
                            <a:srgbClr val="162230"/>
                          </a:solidFill>
                          <a:latin typeface="Calibri"/>
                        </a:rPr>
                        <a:t>OE2</a:t>
                      </a:r>
                    </a:p>
                  </a:txBody>
                  <a:tcPr marL="82296" marR="82296" marT="41148" marB="41148" anchor="ctr">
                    <a:solidFill>
                      <a:srgbClr val="F0F4F8"/>
                    </a:solidFill>
                  </a:tcPr>
                </a:tc>
                <a:tc>
                  <a:txBody>
                    <a:bodyPr wrap="square"/>
                    <a:lstStyle/>
                    <a:p>
                      <a:pPr algn="l"/>
                      <a:r>
                        <a:rPr sz="1250">
                          <a:solidFill>
                            <a:srgbClr val="162230"/>
                          </a:solidFill>
                          <a:latin typeface="Calibri"/>
                        </a:rPr>
                        <a:t>Estudio de alternativas de representación, modelado y validación</a:t>
                      </a:r>
                    </a:p>
                  </a:txBody>
                  <a:tcPr marL="82296" marR="82296" marT="41148" marB="41148" anchor="ctr">
                    <a:solidFill>
                      <a:srgbClr val="F0F4F8"/>
                    </a:solidFill>
                  </a:tcPr>
                </a:tc>
                <a:tc>
                  <a:txBody>
                    <a:bodyPr wrap="square"/>
                    <a:lstStyle/>
                    <a:p>
                      <a:pPr algn="ctr"/>
                      <a:r>
                        <a:rPr sz="1250" b="1">
                          <a:solidFill>
                            <a:srgbClr val="1C7293"/>
                          </a:solidFill>
                          <a:latin typeface="Calibri"/>
                        </a:rPr>
                        <a:t>Cumplido</a:t>
                      </a:r>
                    </a:p>
                  </a:txBody>
                  <a:tcPr marL="82296" marR="82296" marT="41148" marB="41148" anchor="ctr">
                    <a:solidFill>
                      <a:srgbClr val="F0F4F8"/>
                    </a:solidFill>
                  </a:tcPr>
                </a:tc>
              </a:tr>
              <a:tr h="403167">
                <a:tc>
                  <a:txBody>
                    <a:bodyPr wrap="square"/>
                    <a:lstStyle/>
                    <a:p>
                      <a:pPr algn="l"/>
                      <a:r>
                        <a:rPr sz="1250">
                          <a:solidFill>
                            <a:srgbClr val="162230"/>
                          </a:solidFill>
                          <a:latin typeface="Calibri"/>
                        </a:rPr>
                        <a:t>OE3</a:t>
                      </a:r>
                    </a:p>
                  </a:txBody>
                  <a:tcPr marL="82296" marR="82296" marT="41148" marB="41148" anchor="ctr">
                    <a:solidFill>
                      <a:srgbClr val="FFFFFF"/>
                    </a:solidFill>
                  </a:tcPr>
                </a:tc>
                <a:tc>
                  <a:txBody>
                    <a:bodyPr wrap="square"/>
                    <a:lstStyle/>
                    <a:p>
                      <a:pPr algn="l"/>
                      <a:r>
                        <a:rPr sz="1250">
                          <a:solidFill>
                            <a:srgbClr val="162230"/>
                          </a:solidFill>
                          <a:latin typeface="Calibri"/>
                        </a:rPr>
                        <a:t>Generación estructural reproducible desde XSD</a:t>
                      </a:r>
                    </a:p>
                  </a:txBody>
                  <a:tcPr marL="82296" marR="82296" marT="41148" marB="41148" anchor="ctr">
                    <a:solidFill>
                      <a:srgbClr val="FFFFFF"/>
                    </a:solidFill>
                  </a:tcPr>
                </a:tc>
                <a:tc>
                  <a:txBody>
                    <a:bodyPr wrap="square"/>
                    <a:lstStyle/>
                    <a:p>
                      <a:pPr algn="ctr"/>
                      <a:r>
                        <a:rPr sz="1250" b="1">
                          <a:solidFill>
                            <a:srgbClr val="1C7293"/>
                          </a:solidFill>
                          <a:latin typeface="Calibri"/>
                        </a:rPr>
                        <a:t>Cumplido</a:t>
                      </a:r>
                    </a:p>
                  </a:txBody>
                  <a:tcPr marL="82296" marR="82296" marT="41148" marB="41148" anchor="ctr">
                    <a:solidFill>
                      <a:srgbClr val="FFFFFF"/>
                    </a:solidFill>
                  </a:tcPr>
                </a:tc>
              </a:tr>
              <a:tr h="403167">
                <a:tc>
                  <a:txBody>
                    <a:bodyPr wrap="square"/>
                    <a:lstStyle/>
                    <a:p>
                      <a:pPr algn="l"/>
                      <a:r>
                        <a:rPr sz="1250">
                          <a:solidFill>
                            <a:srgbClr val="162230"/>
                          </a:solidFill>
                          <a:latin typeface="Calibri"/>
                        </a:rPr>
                        <a:t>OE4</a:t>
                      </a:r>
                    </a:p>
                  </a:txBody>
                  <a:tcPr marL="82296" marR="82296" marT="41148" marB="41148" anchor="ctr">
                    <a:solidFill>
                      <a:srgbClr val="F0F4F8"/>
                    </a:solidFill>
                  </a:tcPr>
                </a:tc>
                <a:tc>
                  <a:txBody>
                    <a:bodyPr wrap="square"/>
                    <a:lstStyle/>
                    <a:p>
                      <a:pPr algn="l"/>
                      <a:r>
                        <a:rPr sz="1250">
                          <a:solidFill>
                            <a:srgbClr val="162230"/>
                          </a:solidFill>
                          <a:latin typeface="Calibri"/>
                        </a:rPr>
                        <a:t>Normalización de metadatos CVN</a:t>
                      </a:r>
                    </a:p>
                  </a:txBody>
                  <a:tcPr marL="82296" marR="82296" marT="41148" marB="41148" anchor="ctr">
                    <a:solidFill>
                      <a:srgbClr val="F0F4F8"/>
                    </a:solidFill>
                  </a:tcPr>
                </a:tc>
                <a:tc>
                  <a:txBody>
                    <a:bodyPr wrap="square"/>
                    <a:lstStyle/>
                    <a:p>
                      <a:pPr algn="ctr"/>
                      <a:r>
                        <a:rPr sz="1250" b="1">
                          <a:solidFill>
                            <a:srgbClr val="1C7293"/>
                          </a:solidFill>
                          <a:latin typeface="Calibri"/>
                        </a:rPr>
                        <a:t>Cumplido</a:t>
                      </a:r>
                    </a:p>
                  </a:txBody>
                  <a:tcPr marL="82296" marR="82296" marT="41148" marB="41148" anchor="ctr">
                    <a:solidFill>
                      <a:srgbClr val="F0F4F8"/>
                    </a:solidFill>
                  </a:tcPr>
                </a:tc>
              </a:tr>
              <a:tr h="403167">
                <a:tc>
                  <a:txBody>
                    <a:bodyPr wrap="square"/>
                    <a:lstStyle/>
                    <a:p>
                      <a:pPr algn="l"/>
                      <a:r>
                        <a:rPr sz="1250">
                          <a:solidFill>
                            <a:srgbClr val="162230"/>
                          </a:solidFill>
                          <a:latin typeface="Calibri"/>
                        </a:rPr>
                        <a:t>OE5</a:t>
                      </a:r>
                    </a:p>
                  </a:txBody>
                  <a:tcPr marL="82296" marR="82296" marT="41148" marB="41148" anchor="ctr">
                    <a:solidFill>
                      <a:srgbClr val="FFFFFF"/>
                    </a:solidFill>
                  </a:tcPr>
                </a:tc>
                <a:tc>
                  <a:txBody>
                    <a:bodyPr wrap="square"/>
                    <a:lstStyle/>
                    <a:p>
                      <a:pPr algn="l"/>
                      <a:r>
                        <a:rPr sz="1250">
                          <a:solidFill>
                            <a:srgbClr val="162230"/>
                          </a:solidFill>
                          <a:latin typeface="Calibri"/>
                        </a:rPr>
                        <a:t>Definición de reglas semánticas trazables</a:t>
                      </a:r>
                    </a:p>
                  </a:txBody>
                  <a:tcPr marL="82296" marR="82296" marT="41148" marB="41148" anchor="ctr">
                    <a:solidFill>
                      <a:srgbClr val="FFFFFF"/>
                    </a:solidFill>
                  </a:tcPr>
                </a:tc>
                <a:tc>
                  <a:txBody>
                    <a:bodyPr wrap="square"/>
                    <a:lstStyle/>
                    <a:p>
                      <a:pPr algn="ctr"/>
                      <a:r>
                        <a:rPr sz="1250" b="1">
                          <a:solidFill>
                            <a:srgbClr val="1C7293"/>
                          </a:solidFill>
                          <a:latin typeface="Calibri"/>
                        </a:rPr>
                        <a:t>Cumplido</a:t>
                      </a:r>
                    </a:p>
                  </a:txBody>
                  <a:tcPr marL="82296" marR="82296" marT="41148" marB="41148" anchor="ctr">
                    <a:solidFill>
                      <a:srgbClr val="FFFFFF"/>
                    </a:solidFill>
                  </a:tcPr>
                </a:tc>
              </a:tr>
              <a:tr h="403167">
                <a:tc>
                  <a:txBody>
                    <a:bodyPr wrap="square"/>
                    <a:lstStyle/>
                    <a:p>
                      <a:pPr algn="l"/>
                      <a:r>
                        <a:rPr sz="1250">
                          <a:solidFill>
                            <a:srgbClr val="162230"/>
                          </a:solidFill>
                          <a:latin typeface="Calibri"/>
                        </a:rPr>
                        <a:t>OE6</a:t>
                      </a:r>
                    </a:p>
                  </a:txBody>
                  <a:tcPr marL="82296" marR="82296" marT="41148" marB="41148" anchor="ctr">
                    <a:solidFill>
                      <a:srgbClr val="F0F4F8"/>
                    </a:solidFill>
                  </a:tcPr>
                </a:tc>
                <a:tc>
                  <a:txBody>
                    <a:bodyPr wrap="square"/>
                    <a:lstStyle/>
                    <a:p>
                      <a:pPr algn="l"/>
                      <a:r>
                        <a:rPr sz="1250">
                          <a:solidFill>
                            <a:srgbClr val="162230"/>
                          </a:solidFill>
                          <a:latin typeface="Calibri"/>
                        </a:rPr>
                        <a:t>Generación de modelos de dominio y artefactos conceptuales</a:t>
                      </a:r>
                    </a:p>
                  </a:txBody>
                  <a:tcPr marL="82296" marR="82296" marT="41148" marB="41148" anchor="ctr">
                    <a:solidFill>
                      <a:srgbClr val="F0F4F8"/>
                    </a:solidFill>
                  </a:tcPr>
                </a:tc>
                <a:tc>
                  <a:txBody>
                    <a:bodyPr wrap="square"/>
                    <a:lstStyle/>
                    <a:p>
                      <a:pPr algn="ctr"/>
                      <a:r>
                        <a:rPr sz="1250" b="1">
                          <a:solidFill>
                            <a:srgbClr val="1C7293"/>
                          </a:solidFill>
                          <a:latin typeface="Calibri"/>
                        </a:rPr>
                        <a:t>Cumplido</a:t>
                      </a:r>
                    </a:p>
                  </a:txBody>
                  <a:tcPr marL="82296" marR="82296" marT="41148" marB="41148" anchor="ctr">
                    <a:solidFill>
                      <a:srgbClr val="F0F4F8"/>
                    </a:solidFill>
                  </a:tcPr>
                </a:tc>
              </a:tr>
              <a:tr h="403167">
                <a:tc>
                  <a:txBody>
                    <a:bodyPr wrap="square"/>
                    <a:lstStyle/>
                    <a:p>
                      <a:pPr algn="l"/>
                      <a:r>
                        <a:rPr sz="1250">
                          <a:solidFill>
                            <a:srgbClr val="162230"/>
                          </a:solidFill>
                          <a:latin typeface="Calibri"/>
                        </a:rPr>
                        <a:t>OE7</a:t>
                      </a:r>
                    </a:p>
                  </a:txBody>
                  <a:tcPr marL="82296" marR="82296" marT="41148" marB="41148" anchor="ctr">
                    <a:solidFill>
                      <a:srgbClr val="FFFFFF"/>
                    </a:solidFill>
                  </a:tcPr>
                </a:tc>
                <a:tc>
                  <a:txBody>
                    <a:bodyPr wrap="square"/>
                    <a:lstStyle/>
                    <a:p>
                      <a:pPr algn="l"/>
                      <a:r>
                        <a:rPr sz="1250">
                          <a:solidFill>
                            <a:srgbClr val="162230"/>
                          </a:solidFill>
                          <a:latin typeface="Calibri"/>
                        </a:rPr>
                        <a:t>Definición del formato Open CVN JSON</a:t>
                      </a:r>
                    </a:p>
                  </a:txBody>
                  <a:tcPr marL="82296" marR="82296" marT="41148" marB="41148" anchor="ctr">
                    <a:solidFill>
                      <a:srgbClr val="FFFFFF"/>
                    </a:solidFill>
                  </a:tcPr>
                </a:tc>
                <a:tc>
                  <a:txBody>
                    <a:bodyPr wrap="square"/>
                    <a:lstStyle/>
                    <a:p>
                      <a:pPr algn="ctr"/>
                      <a:r>
                        <a:rPr sz="1250" b="1">
                          <a:solidFill>
                            <a:srgbClr val="1C7293"/>
                          </a:solidFill>
                          <a:latin typeface="Calibri"/>
                        </a:rPr>
                        <a:t>Cumplido</a:t>
                      </a:r>
                    </a:p>
                  </a:txBody>
                  <a:tcPr marL="82296" marR="82296" marT="41148" marB="41148" anchor="ctr">
                    <a:solidFill>
                      <a:srgbClr val="FFFFFF"/>
                    </a:solidFill>
                  </a:tcPr>
                </a:tc>
              </a:tr>
              <a:tr h="403167">
                <a:tc>
                  <a:txBody>
                    <a:bodyPr wrap="square"/>
                    <a:lstStyle/>
                    <a:p>
                      <a:pPr algn="l"/>
                      <a:r>
                        <a:rPr sz="1250">
                          <a:solidFill>
                            <a:srgbClr val="162230"/>
                          </a:solidFill>
                          <a:latin typeface="Calibri"/>
                        </a:rPr>
                        <a:t>OE8</a:t>
                      </a:r>
                    </a:p>
                  </a:txBody>
                  <a:tcPr marL="82296" marR="82296" marT="41148" marB="41148" anchor="ctr">
                    <a:solidFill>
                      <a:srgbClr val="F0F4F8"/>
                    </a:solidFill>
                  </a:tcPr>
                </a:tc>
                <a:tc>
                  <a:txBody>
                    <a:bodyPr wrap="square"/>
                    <a:lstStyle/>
                    <a:p>
                      <a:pPr algn="l"/>
                      <a:r>
                        <a:rPr sz="1250">
                          <a:solidFill>
                            <a:srgbClr val="162230"/>
                          </a:solidFill>
                          <a:latin typeface="Calibri"/>
                        </a:rPr>
                        <a:t>Parser, validador, almacenamiento y exportación</a:t>
                      </a:r>
                    </a:p>
                  </a:txBody>
                  <a:tcPr marL="82296" marR="82296" marT="41148" marB="41148" anchor="ctr">
                    <a:solidFill>
                      <a:srgbClr val="F0F4F8"/>
                    </a:solidFill>
                  </a:tcPr>
                </a:tc>
                <a:tc>
                  <a:txBody>
                    <a:bodyPr wrap="square"/>
                    <a:lstStyle/>
                    <a:p>
                      <a:pPr algn="ctr"/>
                      <a:r>
                        <a:rPr sz="1250" b="1">
                          <a:solidFill>
                            <a:srgbClr val="1C7293"/>
                          </a:solidFill>
                          <a:latin typeface="Calibri"/>
                        </a:rPr>
                        <a:t>Cumplido</a:t>
                      </a:r>
                    </a:p>
                  </a:txBody>
                  <a:tcPr marL="82296" marR="82296" marT="41148" marB="41148" anchor="ctr">
                    <a:solidFill>
                      <a:srgbClr val="F0F4F8"/>
                    </a:solidFill>
                  </a:tcPr>
                </a:tc>
              </a:tr>
              <a:tr h="403167">
                <a:tc>
                  <a:txBody>
                    <a:bodyPr wrap="square"/>
                    <a:lstStyle/>
                    <a:p>
                      <a:pPr algn="l"/>
                      <a:r>
                        <a:rPr sz="1250">
                          <a:solidFill>
                            <a:srgbClr val="162230"/>
                          </a:solidFill>
                          <a:latin typeface="Calibri"/>
                        </a:rPr>
                        <a:t>OE9</a:t>
                      </a:r>
                    </a:p>
                  </a:txBody>
                  <a:tcPr marL="82296" marR="82296" marT="41148" marB="41148" anchor="ctr">
                    <a:solidFill>
                      <a:srgbClr val="FFFFFF"/>
                    </a:solidFill>
                  </a:tcPr>
                </a:tc>
                <a:tc>
                  <a:txBody>
                    <a:bodyPr wrap="square"/>
                    <a:lstStyle/>
                    <a:p>
                      <a:pPr algn="l"/>
                      <a:r>
                        <a:rPr sz="1250">
                          <a:solidFill>
                            <a:srgbClr val="162230"/>
                          </a:solidFill>
                          <a:latin typeface="Calibri"/>
                        </a:rPr>
                        <a:t>Importación determinista y asistida por LLM</a:t>
                      </a:r>
                    </a:p>
                  </a:txBody>
                  <a:tcPr marL="82296" marR="82296" marT="41148" marB="41148" anchor="ctr">
                    <a:solidFill>
                      <a:srgbClr val="FFFFFF"/>
                    </a:solidFill>
                  </a:tcPr>
                </a:tc>
                <a:tc>
                  <a:txBody>
                    <a:bodyPr wrap="square"/>
                    <a:lstStyle/>
                    <a:p>
                      <a:pPr algn="ctr"/>
                      <a:r>
                        <a:rPr sz="1250" b="1">
                          <a:solidFill>
                            <a:srgbClr val="E09A3E"/>
                          </a:solidFill>
                          <a:latin typeface="Calibri"/>
                        </a:rPr>
                        <a:t>Parcial (deliberado)</a:t>
                      </a:r>
                    </a:p>
                  </a:txBody>
                  <a:tcPr marL="82296" marR="82296" marT="41148" marB="41148" anchor="ctr">
                    <a:solidFill>
                      <a:srgbClr val="FFFFFF"/>
                    </a:solidFill>
                  </a:tcPr>
                </a:tc>
              </a:tr>
              <a:tr h="403170">
                <a:tc>
                  <a:txBody>
                    <a:bodyPr wrap="square"/>
                    <a:lstStyle/>
                    <a:p>
                      <a:pPr algn="l"/>
                      <a:r>
                        <a:rPr sz="1250">
                          <a:solidFill>
                            <a:srgbClr val="162230"/>
                          </a:solidFill>
                          <a:latin typeface="Calibri"/>
                        </a:rPr>
                        <a:t>OE10</a:t>
                      </a:r>
                    </a:p>
                  </a:txBody>
                  <a:tcPr marL="82296" marR="82296" marT="41148" marB="41148" anchor="ctr">
                    <a:solidFill>
                      <a:srgbClr val="F0F4F8"/>
                    </a:solidFill>
                  </a:tcPr>
                </a:tc>
                <a:tc>
                  <a:txBody>
                    <a:bodyPr wrap="square"/>
                    <a:lstStyle/>
                    <a:p>
                      <a:pPr algn="l"/>
                      <a:r>
                        <a:rPr sz="1250">
                          <a:solidFill>
                            <a:srgbClr val="162230"/>
                          </a:solidFill>
                          <a:latin typeface="Calibri"/>
                        </a:rPr>
                        <a:t>Verificación automatizada y flujos reproducibles</a:t>
                      </a:r>
                    </a:p>
                  </a:txBody>
                  <a:tcPr marL="82296" marR="82296" marT="41148" marB="41148" anchor="ctr">
                    <a:solidFill>
                      <a:srgbClr val="F0F4F8"/>
                    </a:solidFill>
                  </a:tcPr>
                </a:tc>
                <a:tc>
                  <a:txBody>
                    <a:bodyPr wrap="square"/>
                    <a:lstStyle/>
                    <a:p>
                      <a:pPr algn="ctr"/>
                      <a:r>
                        <a:rPr sz="1250" b="1">
                          <a:solidFill>
                            <a:srgbClr val="1C7293"/>
                          </a:solidFill>
                          <a:latin typeface="Calibri"/>
                        </a:rPr>
                        <a:t>Cumplido</a:t>
                      </a:r>
                    </a:p>
                  </a:txBody>
                  <a:tcPr marL="82296" marR="82296" marT="41148" marB="41148" anchor="ctr">
                    <a:solidFill>
                      <a:srgbClr val="F0F4F8"/>
                    </a:solidFill>
                  </a:tcPr>
                </a:tc>
              </a:tr>
            </a:tbl>
          </a:graphicData>
        </a:graphic>
      </p:graphicFrame>
      <p:sp>
        <p:nvSpPr>
          <p:cNvPr id="6" name="TextBox 5"/>
          <p:cNvSpPr txBox="1"/>
          <p:nvPr/>
        </p:nvSpPr>
        <p:spPr>
          <a:xfrm>
            <a:off x="640080" y="6382512"/>
            <a:ext cx="10881360" cy="365760"/>
          </a:xfrm>
          <a:prstGeom prst="rect">
            <a:avLst/>
          </a:prstGeom>
          <a:noFill/>
        </p:spPr>
        <p:txBody>
          <a:bodyPr wrap="square" lIns="0" rIns="0" tIns="0" bIns="0" anchor="t">
            <a:spAutoFit/>
          </a:bodyPr>
          <a:lstStyle/>
          <a:p>
            <a:pPr algn="ctr"/>
            <a:r>
              <a:rPr sz="1150" b="0" i="1">
                <a:solidFill>
                  <a:srgbClr val="5B6B7A"/>
                </a:solidFill>
                <a:latin typeface="Calibri"/>
              </a:rPr>
              <a:t>El objetivo general se considera cumplido: la única salvedad es deliberada, no una carencia.</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9144000" cy="320040"/>
          </a:xfrm>
          <a:prstGeom prst="rect">
            <a:avLst/>
          </a:prstGeom>
          <a:noFill/>
        </p:spPr>
        <p:txBody>
          <a:bodyPr wrap="square" lIns="0" rIns="0" tIns="0" bIns="0" anchor="t">
            <a:spAutoFit/>
          </a:bodyPr>
          <a:lstStyle/>
          <a:p>
            <a:pPr algn="l"/>
            <a:r>
              <a:rPr sz="1300" b="1" i="0">
                <a:solidFill>
                  <a:srgbClr val="1C7293"/>
                </a:solidFill>
                <a:latin typeface="Calibri"/>
              </a:rPr>
              <a:t>8 · CONCLUSIONES</a:t>
            </a:r>
          </a:p>
        </p:txBody>
      </p:sp>
      <p:sp>
        <p:nvSpPr>
          <p:cNvPr id="4" name="TextBox 3"/>
          <p:cNvSpPr txBox="1"/>
          <p:nvPr/>
        </p:nvSpPr>
        <p:spPr>
          <a:xfrm>
            <a:off x="548640" y="658368"/>
            <a:ext cx="11064240" cy="822960"/>
          </a:xfrm>
          <a:prstGeom prst="rect">
            <a:avLst/>
          </a:prstGeom>
          <a:noFill/>
        </p:spPr>
        <p:txBody>
          <a:bodyPr wrap="square" lIns="0" rIns="0" tIns="0" bIns="0" anchor="t">
            <a:spAutoFit/>
          </a:bodyPr>
          <a:lstStyle/>
          <a:p>
            <a:pPr algn="l">
              <a:lnSpc>
                <a:spcPct val="102000"/>
              </a:lnSpc>
            </a:pPr>
            <a:r>
              <a:rPr sz="3000" b="1" i="0">
                <a:solidFill>
                  <a:srgbClr val="11243A"/>
                </a:solidFill>
                <a:latin typeface="Cambria"/>
              </a:rPr>
              <a:t>Siete contribuciones, demostradas capítulo a capítulo</a:t>
            </a:r>
          </a:p>
        </p:txBody>
      </p:sp>
      <p:sp>
        <p:nvSpPr>
          <p:cNvPr id="5" name="Rounded Rectangle 4"/>
          <p:cNvSpPr/>
          <p:nvPr/>
        </p:nvSpPr>
        <p:spPr>
          <a:xfrm>
            <a:off x="640080" y="1874519"/>
            <a:ext cx="2610612" cy="1691640"/>
          </a:xfrm>
          <a:prstGeom prst="roundRect">
            <a:avLst>
              <a:gd name="adj" fmla="val 10000"/>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04671" y="2039112"/>
            <a:ext cx="438912" cy="438912"/>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0" bIns="0"/>
          <a:lstStyle/>
          <a:p>
            <a:pPr algn="ctr"/>
            <a:r>
              <a:rPr sz="1500" b="1">
                <a:solidFill>
                  <a:srgbClr val="FFFFFF"/>
                </a:solidFill>
                <a:latin typeface="Calibri"/>
              </a:rPr>
              <a:t>1</a:t>
            </a:r>
          </a:p>
        </p:txBody>
      </p:sp>
      <p:sp>
        <p:nvSpPr>
          <p:cNvPr id="7" name="TextBox 6"/>
          <p:cNvSpPr txBox="1"/>
          <p:nvPr/>
        </p:nvSpPr>
        <p:spPr>
          <a:xfrm>
            <a:off x="804671" y="2624327"/>
            <a:ext cx="2281428" cy="822960"/>
          </a:xfrm>
          <a:prstGeom prst="rect">
            <a:avLst/>
          </a:prstGeom>
          <a:noFill/>
        </p:spPr>
        <p:txBody>
          <a:bodyPr wrap="square" lIns="0" rIns="0" tIns="0" bIns="0" anchor="t">
            <a:spAutoFit/>
          </a:bodyPr>
          <a:lstStyle/>
          <a:p>
            <a:pPr algn="l">
              <a:lnSpc>
                <a:spcPct val="110000"/>
              </a:lnSpc>
            </a:pPr>
            <a:r>
              <a:rPr sz="1250" b="1" i="0">
                <a:solidFill>
                  <a:srgbClr val="11243A"/>
                </a:solidFill>
                <a:latin typeface="Calibri"/>
              </a:rPr>
              <a:t>Análisis computacional del ecosistema CVN</a:t>
            </a:r>
          </a:p>
        </p:txBody>
      </p:sp>
      <p:sp>
        <p:nvSpPr>
          <p:cNvPr id="8" name="Rounded Rectangle 7"/>
          <p:cNvSpPr/>
          <p:nvPr/>
        </p:nvSpPr>
        <p:spPr>
          <a:xfrm>
            <a:off x="3396996" y="1874519"/>
            <a:ext cx="2610612" cy="1691640"/>
          </a:xfrm>
          <a:prstGeom prst="roundRect">
            <a:avLst>
              <a:gd name="adj" fmla="val 10000"/>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561588" y="2039112"/>
            <a:ext cx="438912" cy="438912"/>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0" bIns="0"/>
          <a:lstStyle/>
          <a:p>
            <a:pPr algn="ctr"/>
            <a:r>
              <a:rPr sz="1500" b="1">
                <a:solidFill>
                  <a:srgbClr val="FFFFFF"/>
                </a:solidFill>
                <a:latin typeface="Calibri"/>
              </a:rPr>
              <a:t>2</a:t>
            </a:r>
          </a:p>
        </p:txBody>
      </p:sp>
      <p:sp>
        <p:nvSpPr>
          <p:cNvPr id="10" name="TextBox 9"/>
          <p:cNvSpPr txBox="1"/>
          <p:nvPr/>
        </p:nvSpPr>
        <p:spPr>
          <a:xfrm>
            <a:off x="3561588" y="2624327"/>
            <a:ext cx="2281428" cy="822960"/>
          </a:xfrm>
          <a:prstGeom prst="rect">
            <a:avLst/>
          </a:prstGeom>
          <a:noFill/>
        </p:spPr>
        <p:txBody>
          <a:bodyPr wrap="square" lIns="0" rIns="0" tIns="0" bIns="0" anchor="t">
            <a:spAutoFit/>
          </a:bodyPr>
          <a:lstStyle/>
          <a:p>
            <a:pPr algn="l">
              <a:lnSpc>
                <a:spcPct val="110000"/>
              </a:lnSpc>
            </a:pPr>
            <a:r>
              <a:rPr sz="1250" b="1" i="0">
                <a:solidFill>
                  <a:srgbClr val="11243A"/>
                </a:solidFill>
                <a:latin typeface="Calibri"/>
              </a:rPr>
              <a:t>Arquitectura reproducible por capas</a:t>
            </a:r>
          </a:p>
        </p:txBody>
      </p:sp>
      <p:sp>
        <p:nvSpPr>
          <p:cNvPr id="11" name="Rounded Rectangle 10"/>
          <p:cNvSpPr/>
          <p:nvPr/>
        </p:nvSpPr>
        <p:spPr>
          <a:xfrm>
            <a:off x="6153912" y="1874519"/>
            <a:ext cx="2610612" cy="1691640"/>
          </a:xfrm>
          <a:prstGeom prst="roundRect">
            <a:avLst>
              <a:gd name="adj" fmla="val 10000"/>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318504" y="2039112"/>
            <a:ext cx="438912" cy="438912"/>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0" bIns="0"/>
          <a:lstStyle/>
          <a:p>
            <a:pPr algn="ctr"/>
            <a:r>
              <a:rPr sz="1500" b="1">
                <a:solidFill>
                  <a:srgbClr val="FFFFFF"/>
                </a:solidFill>
                <a:latin typeface="Calibri"/>
              </a:rPr>
              <a:t>3</a:t>
            </a:r>
          </a:p>
        </p:txBody>
      </p:sp>
      <p:sp>
        <p:nvSpPr>
          <p:cNvPr id="13" name="TextBox 12"/>
          <p:cNvSpPr txBox="1"/>
          <p:nvPr/>
        </p:nvSpPr>
        <p:spPr>
          <a:xfrm>
            <a:off x="6318504" y="2624327"/>
            <a:ext cx="2281428" cy="822960"/>
          </a:xfrm>
          <a:prstGeom prst="rect">
            <a:avLst/>
          </a:prstGeom>
          <a:noFill/>
        </p:spPr>
        <p:txBody>
          <a:bodyPr wrap="square" lIns="0" rIns="0" tIns="0" bIns="0" anchor="t">
            <a:spAutoFit/>
          </a:bodyPr>
          <a:lstStyle/>
          <a:p>
            <a:pPr algn="l">
              <a:lnSpc>
                <a:spcPct val="110000"/>
              </a:lnSpc>
            </a:pPr>
            <a:r>
              <a:rPr sz="1250" b="1" i="0">
                <a:solidFill>
                  <a:srgbClr val="11243A"/>
                </a:solidFill>
                <a:latin typeface="Calibri"/>
              </a:rPr>
              <a:t>Trazabilidad entre CVN y Open CVN</a:t>
            </a:r>
          </a:p>
        </p:txBody>
      </p:sp>
      <p:sp>
        <p:nvSpPr>
          <p:cNvPr id="14" name="Rounded Rectangle 13"/>
          <p:cNvSpPr/>
          <p:nvPr/>
        </p:nvSpPr>
        <p:spPr>
          <a:xfrm>
            <a:off x="8910828" y="1874519"/>
            <a:ext cx="2610612" cy="1691640"/>
          </a:xfrm>
          <a:prstGeom prst="roundRect">
            <a:avLst>
              <a:gd name="adj" fmla="val 10000"/>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075420" y="2039112"/>
            <a:ext cx="438912" cy="438912"/>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0" bIns="0"/>
          <a:lstStyle/>
          <a:p>
            <a:pPr algn="ctr"/>
            <a:r>
              <a:rPr sz="1500" b="1">
                <a:solidFill>
                  <a:srgbClr val="FFFFFF"/>
                </a:solidFill>
                <a:latin typeface="Calibri"/>
              </a:rPr>
              <a:t>4</a:t>
            </a:r>
          </a:p>
        </p:txBody>
      </p:sp>
      <p:sp>
        <p:nvSpPr>
          <p:cNvPr id="16" name="TextBox 15"/>
          <p:cNvSpPr txBox="1"/>
          <p:nvPr/>
        </p:nvSpPr>
        <p:spPr>
          <a:xfrm>
            <a:off x="9075420" y="2624327"/>
            <a:ext cx="2281428" cy="822960"/>
          </a:xfrm>
          <a:prstGeom prst="rect">
            <a:avLst/>
          </a:prstGeom>
          <a:noFill/>
        </p:spPr>
        <p:txBody>
          <a:bodyPr wrap="square" lIns="0" rIns="0" tIns="0" bIns="0" anchor="t">
            <a:spAutoFit/>
          </a:bodyPr>
          <a:lstStyle/>
          <a:p>
            <a:pPr algn="l">
              <a:lnSpc>
                <a:spcPct val="110000"/>
              </a:lnSpc>
            </a:pPr>
            <a:r>
              <a:rPr sz="1250" b="1" i="0">
                <a:solidFill>
                  <a:srgbClr val="11243A"/>
                </a:solidFill>
                <a:latin typeface="Calibri"/>
              </a:rPr>
              <a:t>Formato Open CVN JSON</a:t>
            </a:r>
          </a:p>
        </p:txBody>
      </p:sp>
      <p:sp>
        <p:nvSpPr>
          <p:cNvPr id="17" name="Rounded Rectangle 16"/>
          <p:cNvSpPr/>
          <p:nvPr/>
        </p:nvSpPr>
        <p:spPr>
          <a:xfrm>
            <a:off x="2018538" y="3749039"/>
            <a:ext cx="2610612" cy="1691640"/>
          </a:xfrm>
          <a:prstGeom prst="roundRect">
            <a:avLst>
              <a:gd name="adj" fmla="val 10000"/>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2183130" y="3913631"/>
            <a:ext cx="438912" cy="438912"/>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0" bIns="0"/>
          <a:lstStyle/>
          <a:p>
            <a:pPr algn="ctr"/>
            <a:r>
              <a:rPr sz="1500" b="1">
                <a:solidFill>
                  <a:srgbClr val="FFFFFF"/>
                </a:solidFill>
                <a:latin typeface="Calibri"/>
              </a:rPr>
              <a:t>5</a:t>
            </a:r>
          </a:p>
        </p:txBody>
      </p:sp>
      <p:sp>
        <p:nvSpPr>
          <p:cNvPr id="19" name="TextBox 18"/>
          <p:cNvSpPr txBox="1"/>
          <p:nvPr/>
        </p:nvSpPr>
        <p:spPr>
          <a:xfrm>
            <a:off x="2183130" y="4498848"/>
            <a:ext cx="2281428" cy="822960"/>
          </a:xfrm>
          <a:prstGeom prst="rect">
            <a:avLst/>
          </a:prstGeom>
          <a:noFill/>
        </p:spPr>
        <p:txBody>
          <a:bodyPr wrap="square" lIns="0" rIns="0" tIns="0" bIns="0" anchor="t">
            <a:spAutoFit/>
          </a:bodyPr>
          <a:lstStyle/>
          <a:p>
            <a:pPr algn="l">
              <a:lnSpc>
                <a:spcPct val="110000"/>
              </a:lnSpc>
            </a:pPr>
            <a:r>
              <a:rPr sz="1250" b="1" i="0">
                <a:solidFill>
                  <a:srgbClr val="11243A"/>
                </a:solidFill>
                <a:latin typeface="Calibri"/>
              </a:rPr>
              <a:t>Herramientas de validación y uso</a:t>
            </a:r>
          </a:p>
        </p:txBody>
      </p:sp>
      <p:sp>
        <p:nvSpPr>
          <p:cNvPr id="20" name="Rounded Rectangle 19"/>
          <p:cNvSpPr/>
          <p:nvPr/>
        </p:nvSpPr>
        <p:spPr>
          <a:xfrm>
            <a:off x="4775454" y="3749039"/>
            <a:ext cx="2610612" cy="1691640"/>
          </a:xfrm>
          <a:prstGeom prst="roundRect">
            <a:avLst>
              <a:gd name="adj" fmla="val 10000"/>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940046" y="3913631"/>
            <a:ext cx="438912" cy="438912"/>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0" bIns="0"/>
          <a:lstStyle/>
          <a:p>
            <a:pPr algn="ctr"/>
            <a:r>
              <a:rPr sz="1500" b="1">
                <a:solidFill>
                  <a:srgbClr val="FFFFFF"/>
                </a:solidFill>
                <a:latin typeface="Calibri"/>
              </a:rPr>
              <a:t>6</a:t>
            </a:r>
          </a:p>
        </p:txBody>
      </p:sp>
      <p:sp>
        <p:nvSpPr>
          <p:cNvPr id="22" name="TextBox 21"/>
          <p:cNvSpPr txBox="1"/>
          <p:nvPr/>
        </p:nvSpPr>
        <p:spPr>
          <a:xfrm>
            <a:off x="4940046" y="4498848"/>
            <a:ext cx="2281428" cy="822960"/>
          </a:xfrm>
          <a:prstGeom prst="rect">
            <a:avLst/>
          </a:prstGeom>
          <a:noFill/>
        </p:spPr>
        <p:txBody>
          <a:bodyPr wrap="square" lIns="0" rIns="0" tIns="0" bIns="0" anchor="t">
            <a:spAutoFit/>
          </a:bodyPr>
          <a:lstStyle/>
          <a:p>
            <a:pPr algn="l">
              <a:lnSpc>
                <a:spcPct val="110000"/>
              </a:lnSpc>
            </a:pPr>
            <a:r>
              <a:rPr sz="1250" b="1" i="0">
                <a:solidFill>
                  <a:srgbClr val="11243A"/>
                </a:solidFill>
                <a:latin typeface="Calibri"/>
              </a:rPr>
              <a:t>Importación determinista y asistida por LLM</a:t>
            </a:r>
          </a:p>
        </p:txBody>
      </p:sp>
      <p:sp>
        <p:nvSpPr>
          <p:cNvPr id="23" name="Rounded Rectangle 22"/>
          <p:cNvSpPr/>
          <p:nvPr/>
        </p:nvSpPr>
        <p:spPr>
          <a:xfrm>
            <a:off x="7532370" y="3749039"/>
            <a:ext cx="2610612" cy="1691640"/>
          </a:xfrm>
          <a:prstGeom prst="roundRect">
            <a:avLst>
              <a:gd name="adj" fmla="val 10000"/>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696962" y="3913631"/>
            <a:ext cx="438912" cy="438912"/>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0" bIns="0"/>
          <a:lstStyle/>
          <a:p>
            <a:pPr algn="ctr"/>
            <a:r>
              <a:rPr sz="1500" b="1">
                <a:solidFill>
                  <a:srgbClr val="FFFFFF"/>
                </a:solidFill>
                <a:latin typeface="Calibri"/>
              </a:rPr>
              <a:t>7</a:t>
            </a:r>
          </a:p>
        </p:txBody>
      </p:sp>
      <p:sp>
        <p:nvSpPr>
          <p:cNvPr id="25" name="TextBox 24"/>
          <p:cNvSpPr txBox="1"/>
          <p:nvPr/>
        </p:nvSpPr>
        <p:spPr>
          <a:xfrm>
            <a:off x="7696962" y="4498848"/>
            <a:ext cx="2281428" cy="822960"/>
          </a:xfrm>
          <a:prstGeom prst="rect">
            <a:avLst/>
          </a:prstGeom>
          <a:noFill/>
        </p:spPr>
        <p:txBody>
          <a:bodyPr wrap="square" lIns="0" rIns="0" tIns="0" bIns="0" anchor="t">
            <a:spAutoFit/>
          </a:bodyPr>
          <a:lstStyle/>
          <a:p>
            <a:pPr algn="l">
              <a:lnSpc>
                <a:spcPct val="110000"/>
              </a:lnSpc>
            </a:pPr>
            <a:r>
              <a:rPr sz="1250" b="1" i="0">
                <a:solidFill>
                  <a:srgbClr val="11243A"/>
                </a:solidFill>
                <a:latin typeface="Calibri"/>
              </a:rPr>
              <a:t>Verificación automatizada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9144000" cy="320040"/>
          </a:xfrm>
          <a:prstGeom prst="rect">
            <a:avLst/>
          </a:prstGeom>
          <a:noFill/>
        </p:spPr>
        <p:txBody>
          <a:bodyPr wrap="square" lIns="0" rIns="0" tIns="0" bIns="0" anchor="t">
            <a:spAutoFit/>
          </a:bodyPr>
          <a:lstStyle/>
          <a:p>
            <a:pPr algn="l"/>
            <a:r>
              <a:rPr sz="1300" b="1" i="0">
                <a:solidFill>
                  <a:srgbClr val="1C7293"/>
                </a:solidFill>
                <a:latin typeface="Calibri"/>
              </a:rPr>
              <a:t>8 · CONCLUSIONES</a:t>
            </a:r>
          </a:p>
        </p:txBody>
      </p:sp>
      <p:sp>
        <p:nvSpPr>
          <p:cNvPr id="4" name="TextBox 3"/>
          <p:cNvSpPr txBox="1"/>
          <p:nvPr/>
        </p:nvSpPr>
        <p:spPr>
          <a:xfrm>
            <a:off x="548640" y="658368"/>
            <a:ext cx="11064240" cy="822960"/>
          </a:xfrm>
          <a:prstGeom prst="rect">
            <a:avLst/>
          </a:prstGeom>
          <a:noFill/>
        </p:spPr>
        <p:txBody>
          <a:bodyPr wrap="square" lIns="0" rIns="0" tIns="0" bIns="0" anchor="t">
            <a:spAutoFit/>
          </a:bodyPr>
          <a:lstStyle/>
          <a:p>
            <a:pPr algn="l">
              <a:lnSpc>
                <a:spcPct val="102000"/>
              </a:lnSpc>
            </a:pPr>
            <a:r>
              <a:rPr sz="3000" b="1" i="0">
                <a:solidFill>
                  <a:srgbClr val="11243A"/>
                </a:solidFill>
                <a:latin typeface="Cambria"/>
              </a:rPr>
              <a:t>Conclusión y líneas de trabajo futuro</a:t>
            </a:r>
          </a:p>
        </p:txBody>
      </p:sp>
      <p:sp>
        <p:nvSpPr>
          <p:cNvPr id="5" name="Rounded Rectangle 4"/>
          <p:cNvSpPr/>
          <p:nvPr/>
        </p:nvSpPr>
        <p:spPr>
          <a:xfrm>
            <a:off x="640080" y="1783080"/>
            <a:ext cx="5212080" cy="4206240"/>
          </a:xfrm>
          <a:prstGeom prst="roundRect">
            <a:avLst>
              <a:gd name="adj" fmla="val 9000"/>
            </a:avLst>
          </a:prstGeom>
          <a:solidFill>
            <a:srgbClr val="11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96112" y="2011680"/>
            <a:ext cx="4709160" cy="365760"/>
          </a:xfrm>
          <a:prstGeom prst="rect">
            <a:avLst/>
          </a:prstGeom>
          <a:noFill/>
        </p:spPr>
        <p:txBody>
          <a:bodyPr wrap="square" lIns="0" rIns="0" tIns="0" bIns="0" anchor="t">
            <a:spAutoFit/>
          </a:bodyPr>
          <a:lstStyle/>
          <a:p>
            <a:pPr algn="l"/>
            <a:r>
              <a:rPr sz="1200" b="1" i="0">
                <a:solidFill>
                  <a:srgbClr val="E09A3E"/>
                </a:solidFill>
                <a:latin typeface="Calibri"/>
              </a:rPr>
              <a:t>CONCLUSIÓN</a:t>
            </a:r>
          </a:p>
        </p:txBody>
      </p:sp>
      <p:sp>
        <p:nvSpPr>
          <p:cNvPr id="7" name="TextBox 6"/>
          <p:cNvSpPr txBox="1"/>
          <p:nvPr/>
        </p:nvSpPr>
        <p:spPr>
          <a:xfrm>
            <a:off x="896112" y="2423160"/>
            <a:ext cx="4709160" cy="3291840"/>
          </a:xfrm>
          <a:prstGeom prst="rect">
            <a:avLst/>
          </a:prstGeom>
          <a:noFill/>
        </p:spPr>
        <p:txBody>
          <a:bodyPr wrap="square" lIns="0" rIns="0" tIns="0" bIns="0" anchor="t">
            <a:spAutoFit/>
          </a:bodyPr>
          <a:lstStyle/>
          <a:p>
            <a:pPr algn="l">
              <a:lnSpc>
                <a:spcPct val="122000"/>
              </a:lnSpc>
              <a:spcAft>
                <a:spcPts val="600"/>
              </a:spcAft>
            </a:pPr>
            <a:r>
              <a:rPr sz="1450" b="0" i="1">
                <a:solidFill>
                  <a:srgbClr val="E9F1F7"/>
                </a:solidFill>
                <a:latin typeface="Cambria"/>
              </a:rPr>
              <a:t>Este trabajo demuestra que es posible construir, a partir de CVN, una arquitectura computacional abierta que separa la interoperabilidad estructural del significado curricular, con trazabilidad verificable y garantías reproducibles allí donde el proceso es determinista.</a:t>
            </a:r>
          </a:p>
          <a:p>
            <a:pPr algn="l">
              <a:lnSpc>
                <a:spcPct val="122000"/>
              </a:lnSpc>
              <a:spcAft>
                <a:spcPts val="600"/>
              </a:spcAft>
            </a:pPr>
            <a:r>
              <a:rPr sz="1450" b="0" i="1">
                <a:solidFill>
                  <a:srgbClr val="E9F1F7"/>
                </a:solidFill>
                <a:latin typeface="Cambria"/>
              </a:rPr>
              <a:t/>
            </a:r>
          </a:p>
          <a:p>
            <a:pPr algn="l">
              <a:lnSpc>
                <a:spcPct val="122000"/>
              </a:lnSpc>
              <a:spcAft>
                <a:spcPts val="600"/>
              </a:spcAft>
            </a:pPr>
            <a:r>
              <a:rPr sz="1450" b="0" i="1">
                <a:solidFill>
                  <a:srgbClr val="E9F1F7"/>
                </a:solidFill>
                <a:latin typeface="Cambria"/>
              </a:rPr>
              <a:t>Esa arquitectura por capas —más que el formato JSON o la herramienta que la demuestran— es la aportación principal de este Trabajo Fin de Grado.</a:t>
            </a:r>
          </a:p>
        </p:txBody>
      </p:sp>
      <p:sp>
        <p:nvSpPr>
          <p:cNvPr id="8" name="TextBox 7"/>
          <p:cNvSpPr txBox="1"/>
          <p:nvPr/>
        </p:nvSpPr>
        <p:spPr>
          <a:xfrm>
            <a:off x="6172200" y="1783080"/>
            <a:ext cx="5349240" cy="320040"/>
          </a:xfrm>
          <a:prstGeom prst="rect">
            <a:avLst/>
          </a:prstGeom>
          <a:noFill/>
        </p:spPr>
        <p:txBody>
          <a:bodyPr wrap="square" lIns="0" rIns="0" tIns="0" bIns="0" anchor="t">
            <a:spAutoFit/>
          </a:bodyPr>
          <a:lstStyle/>
          <a:p>
            <a:pPr algn="l"/>
            <a:r>
              <a:rPr sz="1200" b="1" i="0">
                <a:solidFill>
                  <a:srgbClr val="1C7293"/>
                </a:solidFill>
                <a:latin typeface="Calibri"/>
              </a:rPr>
              <a:t>TRABAJO FUTURO</a:t>
            </a:r>
          </a:p>
        </p:txBody>
      </p:sp>
      <p:sp>
        <p:nvSpPr>
          <p:cNvPr id="9" name="Rounded Rectangle 8"/>
          <p:cNvSpPr/>
          <p:nvPr/>
        </p:nvSpPr>
        <p:spPr>
          <a:xfrm>
            <a:off x="6172200" y="2167128"/>
            <a:ext cx="5349240" cy="685800"/>
          </a:xfrm>
          <a:prstGeom prst="roundRect">
            <a:avLst>
              <a:gd name="adj" fmla="val 14000"/>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309360" y="2295144"/>
            <a:ext cx="420624" cy="42062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0" bIns="0"/>
          <a:lstStyle/>
          <a:p>
            <a:pPr algn="ctr"/>
            <a:r>
              <a:rPr sz="1300" b="1">
                <a:solidFill>
                  <a:srgbClr val="FFFFFF"/>
                </a:solidFill>
                <a:latin typeface="Calibri"/>
              </a:rPr>
              <a:t>1</a:t>
            </a:r>
          </a:p>
        </p:txBody>
      </p:sp>
      <p:sp>
        <p:nvSpPr>
          <p:cNvPr id="11" name="TextBox 10"/>
          <p:cNvSpPr txBox="1"/>
          <p:nvPr/>
        </p:nvSpPr>
        <p:spPr>
          <a:xfrm>
            <a:off x="6830568" y="2167128"/>
            <a:ext cx="4526279" cy="685800"/>
          </a:xfrm>
          <a:prstGeom prst="rect">
            <a:avLst/>
          </a:prstGeom>
          <a:noFill/>
        </p:spPr>
        <p:txBody>
          <a:bodyPr wrap="square" lIns="0" rIns="0" tIns="0" bIns="0" anchor="ctr">
            <a:spAutoFit/>
          </a:bodyPr>
          <a:lstStyle/>
          <a:p>
            <a:pPr algn="l">
              <a:lnSpc>
                <a:spcPct val="105000"/>
              </a:lnSpc>
            </a:pPr>
            <a:r>
              <a:rPr sz="1180" b="0" i="0">
                <a:solidFill>
                  <a:srgbClr val="162230"/>
                </a:solidFill>
                <a:latin typeface="Calibri"/>
              </a:rPr>
              <a:t>Completar el mapeo semántico de importación XML con currículos reales</a:t>
            </a:r>
          </a:p>
        </p:txBody>
      </p:sp>
      <p:sp>
        <p:nvSpPr>
          <p:cNvPr id="12" name="Rounded Rectangle 11"/>
          <p:cNvSpPr/>
          <p:nvPr/>
        </p:nvSpPr>
        <p:spPr>
          <a:xfrm>
            <a:off x="6172200" y="2971800"/>
            <a:ext cx="5349240" cy="685800"/>
          </a:xfrm>
          <a:prstGeom prst="roundRect">
            <a:avLst>
              <a:gd name="adj" fmla="val 14000"/>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309360" y="3099816"/>
            <a:ext cx="420624" cy="42062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0" bIns="0"/>
          <a:lstStyle/>
          <a:p>
            <a:pPr algn="ctr"/>
            <a:r>
              <a:rPr sz="1300" b="1">
                <a:solidFill>
                  <a:srgbClr val="FFFFFF"/>
                </a:solidFill>
                <a:latin typeface="Calibri"/>
              </a:rPr>
              <a:t>2</a:t>
            </a:r>
          </a:p>
        </p:txBody>
      </p:sp>
      <p:sp>
        <p:nvSpPr>
          <p:cNvPr id="14" name="TextBox 13"/>
          <p:cNvSpPr txBox="1"/>
          <p:nvPr/>
        </p:nvSpPr>
        <p:spPr>
          <a:xfrm>
            <a:off x="6830568" y="2971800"/>
            <a:ext cx="4526279" cy="685800"/>
          </a:xfrm>
          <a:prstGeom prst="rect">
            <a:avLst/>
          </a:prstGeom>
          <a:noFill/>
        </p:spPr>
        <p:txBody>
          <a:bodyPr wrap="square" lIns="0" rIns="0" tIns="0" bIns="0" anchor="ctr">
            <a:spAutoFit/>
          </a:bodyPr>
          <a:lstStyle/>
          <a:p>
            <a:pPr algn="l">
              <a:lnSpc>
                <a:spcPct val="105000"/>
              </a:lnSpc>
            </a:pPr>
            <a:r>
              <a:rPr sz="1180" b="0" i="0">
                <a:solidFill>
                  <a:srgbClr val="162230"/>
                </a:solidFill>
                <a:latin typeface="Calibri"/>
              </a:rPr>
              <a:t>Ampliar las validaciones de dominio fuera de la capa estructural generada</a:t>
            </a:r>
          </a:p>
        </p:txBody>
      </p:sp>
      <p:sp>
        <p:nvSpPr>
          <p:cNvPr id="15" name="Rounded Rectangle 14"/>
          <p:cNvSpPr/>
          <p:nvPr/>
        </p:nvSpPr>
        <p:spPr>
          <a:xfrm>
            <a:off x="6172200" y="3776472"/>
            <a:ext cx="5349240" cy="685800"/>
          </a:xfrm>
          <a:prstGeom prst="roundRect">
            <a:avLst>
              <a:gd name="adj" fmla="val 14000"/>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309360" y="3904487"/>
            <a:ext cx="420624" cy="42062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0" bIns="0"/>
          <a:lstStyle/>
          <a:p>
            <a:pPr algn="ctr"/>
            <a:r>
              <a:rPr sz="1300" b="1">
                <a:solidFill>
                  <a:srgbClr val="FFFFFF"/>
                </a:solidFill>
                <a:latin typeface="Calibri"/>
              </a:rPr>
              <a:t>3</a:t>
            </a:r>
          </a:p>
        </p:txBody>
      </p:sp>
      <p:sp>
        <p:nvSpPr>
          <p:cNvPr id="17" name="TextBox 16"/>
          <p:cNvSpPr txBox="1"/>
          <p:nvPr/>
        </p:nvSpPr>
        <p:spPr>
          <a:xfrm>
            <a:off x="6830568" y="3776472"/>
            <a:ext cx="4526279" cy="685800"/>
          </a:xfrm>
          <a:prstGeom prst="rect">
            <a:avLst/>
          </a:prstGeom>
          <a:noFill/>
        </p:spPr>
        <p:txBody>
          <a:bodyPr wrap="square" lIns="0" rIns="0" tIns="0" bIns="0" anchor="ctr">
            <a:spAutoFit/>
          </a:bodyPr>
          <a:lstStyle/>
          <a:p>
            <a:pPr algn="l">
              <a:lnSpc>
                <a:spcPct val="105000"/>
              </a:lnSpc>
            </a:pPr>
            <a:r>
              <a:rPr sz="1180" b="0" i="0">
                <a:solidFill>
                  <a:srgbClr val="162230"/>
                </a:solidFill>
                <a:latin typeface="Calibri"/>
              </a:rPr>
              <a:t>Estudiar restricciones OCL sobre el modelo conceptual</a:t>
            </a:r>
          </a:p>
        </p:txBody>
      </p:sp>
      <p:sp>
        <p:nvSpPr>
          <p:cNvPr id="18" name="Rounded Rectangle 17"/>
          <p:cNvSpPr/>
          <p:nvPr/>
        </p:nvSpPr>
        <p:spPr>
          <a:xfrm>
            <a:off x="6172200" y="4581144"/>
            <a:ext cx="5349240" cy="685800"/>
          </a:xfrm>
          <a:prstGeom prst="roundRect">
            <a:avLst>
              <a:gd name="adj" fmla="val 14000"/>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309360" y="4709159"/>
            <a:ext cx="420624" cy="42062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0" bIns="0"/>
          <a:lstStyle/>
          <a:p>
            <a:pPr algn="ctr"/>
            <a:r>
              <a:rPr sz="1300" b="1">
                <a:solidFill>
                  <a:srgbClr val="FFFFFF"/>
                </a:solidFill>
                <a:latin typeface="Calibri"/>
              </a:rPr>
              <a:t>4</a:t>
            </a:r>
          </a:p>
        </p:txBody>
      </p:sp>
      <p:sp>
        <p:nvSpPr>
          <p:cNvPr id="20" name="TextBox 19"/>
          <p:cNvSpPr txBox="1"/>
          <p:nvPr/>
        </p:nvSpPr>
        <p:spPr>
          <a:xfrm>
            <a:off x="6830568" y="4581144"/>
            <a:ext cx="4526279" cy="685800"/>
          </a:xfrm>
          <a:prstGeom prst="rect">
            <a:avLst/>
          </a:prstGeom>
          <a:noFill/>
        </p:spPr>
        <p:txBody>
          <a:bodyPr wrap="square" lIns="0" rIns="0" tIns="0" bIns="0" anchor="ctr">
            <a:spAutoFit/>
          </a:bodyPr>
          <a:lstStyle/>
          <a:p>
            <a:pPr algn="l">
              <a:lnSpc>
                <a:spcPct val="105000"/>
              </a:lnSpc>
            </a:pPr>
            <a:r>
              <a:rPr sz="1180" b="0" i="0">
                <a:solidFill>
                  <a:srgbClr val="162230"/>
                </a:solidFill>
                <a:latin typeface="Calibri"/>
              </a:rPr>
              <a:t>Reducir la dependencia de un motor LaTeX en la generación de PDF</a:t>
            </a:r>
          </a:p>
        </p:txBody>
      </p:sp>
      <p:sp>
        <p:nvSpPr>
          <p:cNvPr id="21" name="Rounded Rectangle 20"/>
          <p:cNvSpPr/>
          <p:nvPr/>
        </p:nvSpPr>
        <p:spPr>
          <a:xfrm>
            <a:off x="6172200" y="5385816"/>
            <a:ext cx="5349240" cy="685800"/>
          </a:xfrm>
          <a:prstGeom prst="roundRect">
            <a:avLst>
              <a:gd name="adj" fmla="val 14000"/>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309360" y="5513831"/>
            <a:ext cx="420624" cy="42062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0" bIns="0"/>
          <a:lstStyle/>
          <a:p>
            <a:pPr algn="ctr"/>
            <a:r>
              <a:rPr sz="1300" b="1">
                <a:solidFill>
                  <a:srgbClr val="FFFFFF"/>
                </a:solidFill>
                <a:latin typeface="Calibri"/>
              </a:rPr>
              <a:t>5</a:t>
            </a:r>
          </a:p>
        </p:txBody>
      </p:sp>
      <p:sp>
        <p:nvSpPr>
          <p:cNvPr id="23" name="TextBox 22"/>
          <p:cNvSpPr txBox="1"/>
          <p:nvPr/>
        </p:nvSpPr>
        <p:spPr>
          <a:xfrm>
            <a:off x="6830568" y="5385816"/>
            <a:ext cx="4526279" cy="685800"/>
          </a:xfrm>
          <a:prstGeom prst="rect">
            <a:avLst/>
          </a:prstGeom>
          <a:noFill/>
        </p:spPr>
        <p:txBody>
          <a:bodyPr wrap="square" lIns="0" rIns="0" tIns="0" bIns="0" anchor="ctr">
            <a:spAutoFit/>
          </a:bodyPr>
          <a:lstStyle/>
          <a:p>
            <a:pPr algn="l">
              <a:lnSpc>
                <a:spcPct val="105000"/>
              </a:lnSpc>
            </a:pPr>
            <a:r>
              <a:rPr sz="1180" b="0" i="0">
                <a:solidFill>
                  <a:srgbClr val="162230"/>
                </a:solidFill>
                <a:latin typeface="Calibri"/>
              </a:rPr>
              <a:t>Explorar extensiones semánticas (JSON-LD) e integración institucional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1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120640" cy="182880"/>
          </a:xfrm>
          <a:prstGeom prst="rect">
            <a:avLst/>
          </a:prstGeom>
          <a:solidFill>
            <a:srgbClr val="E09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219456"/>
            <a:ext cx="8595360" cy="18288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438912"/>
            <a:ext cx="12191695" cy="1828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2514600"/>
            <a:ext cx="10881360" cy="1005840"/>
          </a:xfrm>
          <a:prstGeom prst="rect">
            <a:avLst/>
          </a:prstGeom>
          <a:noFill/>
        </p:spPr>
        <p:txBody>
          <a:bodyPr wrap="square" lIns="0" rIns="0" tIns="0" bIns="0" anchor="t">
            <a:spAutoFit/>
          </a:bodyPr>
          <a:lstStyle/>
          <a:p>
            <a:pPr algn="ctr"/>
            <a:r>
              <a:rPr sz="4400" b="1" i="0">
                <a:solidFill>
                  <a:srgbClr val="FFFFFF"/>
                </a:solidFill>
                <a:latin typeface="Cambria"/>
              </a:rPr>
              <a:t>Gracias por su atención</a:t>
            </a:r>
          </a:p>
        </p:txBody>
      </p:sp>
      <p:sp>
        <p:nvSpPr>
          <p:cNvPr id="7" name="TextBox 6"/>
          <p:cNvSpPr txBox="1"/>
          <p:nvPr/>
        </p:nvSpPr>
        <p:spPr>
          <a:xfrm>
            <a:off x="640080" y="3520440"/>
            <a:ext cx="10881360" cy="548640"/>
          </a:xfrm>
          <a:prstGeom prst="rect">
            <a:avLst/>
          </a:prstGeom>
          <a:noFill/>
        </p:spPr>
        <p:txBody>
          <a:bodyPr wrap="square" lIns="0" rIns="0" tIns="0" bIns="0" anchor="t">
            <a:spAutoFit/>
          </a:bodyPr>
          <a:lstStyle/>
          <a:p>
            <a:pPr algn="ctr"/>
            <a:r>
              <a:rPr sz="1800" b="0" i="1">
                <a:solidFill>
                  <a:srgbClr val="E9F1F7"/>
                </a:solidFill>
                <a:latin typeface="Calibri"/>
              </a:rPr>
              <a:t>Quedo a su disposición para las preguntas del tribunal</a:t>
            </a:r>
          </a:p>
        </p:txBody>
      </p:sp>
      <p:sp>
        <p:nvSpPr>
          <p:cNvPr id="8" name="TextBox 7"/>
          <p:cNvSpPr txBox="1"/>
          <p:nvPr/>
        </p:nvSpPr>
        <p:spPr>
          <a:xfrm>
            <a:off x="640080" y="6263640"/>
            <a:ext cx="10881360" cy="365760"/>
          </a:xfrm>
          <a:prstGeom prst="rect">
            <a:avLst/>
          </a:prstGeom>
          <a:noFill/>
        </p:spPr>
        <p:txBody>
          <a:bodyPr wrap="square" lIns="0" rIns="0" tIns="0" bIns="0" anchor="t">
            <a:spAutoFit/>
          </a:bodyPr>
          <a:lstStyle/>
          <a:p>
            <a:pPr algn="ctr"/>
            <a:r>
              <a:rPr sz="1100" b="0" i="0">
                <a:solidFill>
                  <a:srgbClr val="A9BFD1"/>
                </a:solidFill>
                <a:latin typeface="Calibri"/>
              </a:rPr>
              <a:t>Carlos Martínez Jaén · Open CVN · ESIIAB, Universidad de Castilla-La Mancha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