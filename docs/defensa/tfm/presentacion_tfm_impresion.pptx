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tivación y contexto" id="{45643ef4-283a-8d97-241a-a44dbd5d5d31}">
          <p14:sldIdLst>
            <p14:sldId id="256"/>
            <p14:sldId id="257"/>
            <p14:sldId id="258"/>
            <p14:sldId id="259"/>
          </p14:sldIdLst>
        </p14:section>
        <p14:section name="Objetivos" id="{84cb8189-ab0f-e9d9-e624-a4ac3297c817}">
          <p14:sldIdLst>
            <p14:sldId id="260"/>
          </p14:sldIdLst>
        </p14:section>
        <p14:section name="Metodología y arquitectura" id="{c62c86ff-1280-df00-ebaf-7a7b5b064980}">
          <p14:sldIdLst>
            <p14:sldId id="261"/>
            <p14:sldId id="262"/>
            <p14:sldId id="263"/>
          </p14:sldIdLst>
        </p14:section>
        <p14:section name="Infraestructura" id="{6a372f35-9398-c18f-9e24-4c9aacdc9ec5}">
          <p14:sldIdLst>
            <p14:sldId id="264"/>
            <p14:sldId id="265"/>
          </p14:sldIdLst>
        </p14:section>
        <p14:section name="Ingesta de datos" id="{e019cdf2-1297-c58c-fcd1-521dcd3fa45d}">
          <p14:sldIdLst>
            <p14:sldId id="266"/>
            <p14:sldId id="267"/>
          </p14:sldIdLst>
        </p14:section>
        <p14:section name="Procesamiento distribuido" id="{02ef18dd-6a90-f3bc-8cc3-eefd21e0ca9b}">
          <p14:sldIdLst>
            <p14:sldId id="268"/>
            <p14:sldId id="269"/>
            <p14:sldId id="270"/>
          </p14:sldIdLst>
        </p14:section>
        <p14:section name="Evaluación y resultados" id="{1944765a-7e54-eb4f-d82a-8f733bb287bc}">
          <p14:sldIdLst>
            <p14:sldId id="271"/>
            <p14:sldId id="272"/>
            <p14:sldId id="273"/>
            <p14:sldId id="274"/>
          </p14:sldIdLst>
        </p14:section>
        <p14:section name="Conclusiones y trabajo futuro" id="{0bbea4f9-d094-778c-7e86-b6c28332d256}">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43A"/>
                </a:solidFill>
                <a:latin typeface="Calibri"/>
              </a:defRPr>
            </a:pPr>
            <a:r>
              <a:rPr sz="1200" b="0" i="0" u="none" strike="noStrike">
                <a:solidFill>
                  <a:srgbClr val="10243A"/>
                </a:solidFill>
                <a:latin typeface="Calibri"/>
              </a:rPr>
              <a:t>Eficiencia = aceleración ÷ ejecutores (1,0 = ideal)</a:t>
            </a:r>
          </a:p>
        </c:rich>
      </c:tx>
      <c:layout/>
      <c:overlay val="0"/>
    </c:title>
    <c:autoTitleDeleted val="0"/>
    <c:plotArea>
      <c:layout/>
      <c:barChart>
        <c:barDir val="col"/>
        <c:grouping val="clustered"/>
        <c:varyColors val="0"/>
        <c:ser>
          <c:idx val="0"/>
          <c:order val="0"/>
          <c:tx>
            <c:strRef>
              <c:f>Sheet1!$B$1</c:f>
              <c:strCache>
                <c:ptCount val="1"/>
                <c:pt idx="0">
                  <c:v>Validación y normalización (silver)</c:v>
                </c:pt>
              </c:strCache>
            </c:strRef>
          </c:tx>
          <c:spPr>
            <a:solidFill>
              <a:srgbClr val="C97A0A"/>
            </a:solidFill>
            <a:effectLst/>
          </c:spPr>
          <c:invertIfNegative val="0"/>
          <c:dLbls>
            <c:numFmt formatCode="0.00" sourceLinked="0"/>
            <c:txPr>
              <a:bodyPr/>
              <a:lstStyle/>
              <a:p>
                <a:pPr>
                  <a:defRPr b="0" i="0" strike="noStrike" sz="1100" u="none">
                    <a:solidFill>
                      <a:srgbClr val="1024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ejecutor</c:v>
                  </c:pt>
                  <c:pt idx="1">
                    <c:v>2 ejecutores</c:v>
                  </c:pt>
                  <c:pt idx="2">
                    <c:v>4 ejecutores</c:v>
                  </c:pt>
                </c:lvl>
              </c:multiLvlStrCache>
            </c:multiLvlStrRef>
          </c:cat>
          <c:val>
            <c:numRef>
              <c:f>Sheet1!$B$2:$B$4</c:f>
              <c:numCache>
                <c:formatCode>General</c:formatCode>
                <c:ptCount val="3"/>
                <c:pt idx="0">
                  <c:v>1</c:v>
                </c:pt>
                <c:pt idx="1">
                  <c:v>0.75</c:v>
                </c:pt>
                <c:pt idx="2">
                  <c:v>0.41</c:v>
                </c:pt>
              </c:numCache>
            </c:numRef>
          </c:val>
        </c:ser>
        <c:ser>
          <c:idx val="1"/>
          <c:order val="1"/>
          <c:tx>
            <c:strRef>
              <c:f>Sheet1!$C$1</c:f>
              <c:strCache>
                <c:ptCount val="1"/>
                <c:pt idx="0">
                  <c:v>Cálculo de indicadores (gold)</c:v>
                </c:pt>
              </c:strCache>
            </c:strRef>
          </c:tx>
          <c:spPr>
            <a:solidFill>
              <a:srgbClr val="2F6EA8"/>
            </a:solidFill>
            <a:effectLst/>
          </c:spPr>
          <c:invertIfNegative val="0"/>
          <c:dLbls>
            <c:numFmt formatCode="0.00" sourceLinked="0"/>
            <c:txPr>
              <a:bodyPr/>
              <a:lstStyle/>
              <a:p>
                <a:pPr>
                  <a:defRPr b="0" i="0" strike="noStrike" sz="1100" u="none">
                    <a:solidFill>
                      <a:srgbClr val="1024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ejecutor</c:v>
                  </c:pt>
                  <c:pt idx="1">
                    <c:v>2 ejecutores</c:v>
                  </c:pt>
                  <c:pt idx="2">
                    <c:v>4 ejecutores</c:v>
                  </c:pt>
                </c:lvl>
              </c:multiLvlStrCache>
            </c:multiLvlStrRef>
          </c:cat>
          <c:val>
            <c:numRef>
              <c:f>Sheet1!$C$2:$C$4</c:f>
              <c:numCache>
                <c:formatCode>General</c:formatCode>
                <c:ptCount val="3"/>
                <c:pt idx="0">
                  <c:v>1</c:v>
                </c:pt>
                <c:pt idx="1">
                  <c:v>0.53</c:v>
                </c:pt>
                <c:pt idx="2">
                  <c:v>0.23</c:v>
                </c:pt>
              </c:numCache>
            </c:numRef>
          </c:val>
        </c:ser>
        <c:dLbls>
          <c:numFmt formatCode="0.00" sourceLinked="0"/>
          <c:txPr>
            <a:bodyPr/>
            <a:lstStyle/>
            <a:p>
              <a:pPr>
                <a:defRPr b="0" i="0" strike="noStrike" sz="1100" u="none">
                  <a:solidFill>
                    <a:srgbClr val="10243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0243A"/>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5DD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66A"/>
                </a:solidFill>
                <a:latin typeface="Calibri"/>
              </a:defRPr>
            </a:pPr>
            <a:endParaRPr lang="en-US"/>
          </a:p>
        </c:txPr>
        <c:crossAx val="2094734554"/>
        <c:crosses val="autoZero"/>
        <c:crossBetween val="between"/>
        <c:majorUnit val="0.4"/>
      </c:valAx>
      <c:spPr>
        <a:solidFill>
          <a:srgbClr val="1A3556">
            <a:alpha val="0"/>
          </a:srgbClr>
        </a:solidFill>
        <a:ln>
          <a:noFill/>
        </a:ln>
        <a:effectLst/>
      </c:spPr>
    </c:plotArea>
    <c:legend>
      <c:legendPos val="b"/>
      <c:overlay val="0"/>
      <c:txPr>
        <a:bodyPr/>
        <a:lstStyle/>
        <a:p>
          <a:pPr>
            <a:defRPr sz="1100">
              <a:solidFill>
                <a:srgbClr val="10243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 Presentación del trabajo
Buenos días. Me llamo Carlos Martínez Jaén y voy a presentar mi Trabajo Fin de Máster, dirigido por Luis De La Ossa Jiménez.
El trabajo se titula «Diseño de una arquitectura lakehouse escalable para la integración y análisis de información curricular académica».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 Índice de la presentación
La exposición tiene ocho bloques, que cubren los cuatro apartados de la normativa: objetivos, metodología, contenido y conclusiones.
Los bloques 1 y 2 presentan el contexto y los objetivos, y el bloque 3 la metodología y la arquitectura. Los bloques 4 a 7 son el contenido, capa a capa, y el bloque 8 recoge las conclusiones y el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 El TFG resolvió el formato; falta la escala
Este trabajo continúa mi Trabajo Fin de Grado. En él resolví cómo representar un currículo: una capa estructural generada de los esquemas oficiales de CVN, un formato abierto, Open CVN JSON, y un contrato de validación.
Lo que quedaba por resolver era la escala. Este trabajo construye una plataforma que ingiere, fusiona y procesa datos de dos fuentes, CVN y ORCID, y publica indicadores en un panel.
Open CVN se reutiliza como fuente de datos. El objeto de estudio de este trabajo es cómo se ingiere, valida y procesa dentro de una plataforma distribuida.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4 · Integrar ORCID y CVN exige cinco requisitos
La información de un investigador está repartida en fuentes de naturaleza muy distinta. CVN es el currículum normalizado de una persona: un documento individual y estructurado, pensado para convocatorias y evaluaciones. ORCID es un registro público a escala global: solo su fichero de 2025 contiene más de 26 millones de perfiles.
Este trabajo integra ambas fuentes en una plataforma abierta, autoalojada y reproducible, y publica indicadores agregados. Para ello hay que cubrir cinco requisitos.
• Almacenamiento escalable, que crezca con el volumen de ORCID.
• Un formato de tabla que admita cambios de esquema y conserve la trazabilidad, porque CVN y ORCID no comparten esquema.
• Orquestación reproducible de los flujos de ingesta, transformación y publicación.
• Procesamiento distribuido y tolerante a fallos.
• Y resolución de identidad, para fusionar los registros que son la misma persona.
Cada requisito indica el bloque donde lo desarrollo. No es solo un problema de formato, sino de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 Nueve objetivos en cuatro bloques de trabajo
El objetivo general es diseñar, desplegar y evaluar una plataforma que integre CVN y ORCID, los procese de forma distribuida con resolución de identidad entre fuentes y publique indicadores en un panel, evaluándola con un benchmark de rendimiento acotado.
Lo desarrollo en nueve objetivos específicos, y cada tarjeta indica el bloque en el que lo explico.
Antes de continuar, fijo los criterios con los que se juzgará el resultado, para que más adelante quede claro qué se cumple y qué no.
• En la fusión de identidades, el objetivo era alcanzar un 99 % de precisión. Fijé ese umbral antes de medir.
• En la calidad de los datos, si más del 5 % de los registros de una fuente se rechaza, la tarea falla.
En las conclusiones retomaré los objetivos en este mismo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 Método: construir, verificar y reproducir
El método sigue cuatro pasos.
Primero, construir por capas: empiezo por la infraestructura y compruebo el mecanismo central de procesamiento antes de construir ningún flujo. Después añado cada capa de datos sobre la anterior.
Segundo, usar datos reales. ORCID aporta perfiles públicos reales. Los CVN se generan a partir de esos perfiles, porque un currículo completo es información personal y no es legítimo recolectar currículos de terceros.
Tercero, verificar cada capa. El resultado de cada fase se comprueba por una vía distinta de la que lo produjo. Uso tres: el resultado del propio trabajo, una lectura de los datos desde otro proceso y un recálculo independiente en Python.
Y cuarto, poder reconstruirlo. Existe una guía escrita para levantar toda la plataforma desde cero, y la validé reconstruyéndola en un clúster aislado.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Herramientas elegidas para cada requisito
Para cada requisito elegí una herramienta, y el motivo de cada elección está en la tabla.
• Almacenamiento: MinIO, que usa el mismo protocolo S3 que un proveedor de nube real, sin coste ni dependencia externa.
• Formato de tabla: Iceberg, un formato abierto que se puede consultar desde otros motores sin cambiarlo.
• Orquestación: Airflow, que se despliega de forma nativa en Kubernetes.
• Procesamiento: Spark, adecuado para el procesamiento por lotes y bien integrado con Iceberg.
• Resolución de identidad: reglas deterministas, que dejan una evidencia explícita de por qué se fusiona cada registro.
• Despliegue y consulta: k3s en un solo nodo, por coste y reproducibilidad, y Superset sobre PostgreSQL, que permite definir el panel como código.
El criterio común es que todo sea autoalojado, reproducible desde cero y con buen soporte entre componentes.
Además, MinIO, Airflow y Spark son herramientas que trabajé durante el máster. Y Airflow y Superset las uso también en mi día a día en el trabajo, por eso las prioricé frente a otras similares.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8 · Arquitectura medallion: bronze, silver y gold
Esta es la arquitectura del trabajo. Sigue el patrón llamado arquitectura medallion, que organiza los datos en tres capas: bronze, silver y gold.
Los datos entran desde ORCID y CVN y aterrizan en bronze: son datos crudos, tal como llegan, con su procedencia.
Después pasan por una validación y por la resolución de entidades, y se almacenan en tablas Iceberg en la capa silver.
A continuación se agregan para calcular los indicadores, y ese resultado se guarda en la capa gold, que sigue siendo tablas Iceberg en MinIO.
Por último, los datos de gold se traspasan a PostgreSQL para que Superset pueda leerlos de ahí con facilidad.
Dos flujos de Airflow, que en Airflow se llaman DAG, mueven los datos. ingest_validate lleva los datos de las fuentes a bronze. transform_publish los lleva de bronze a silver, de silver a gold y, finalmente, a PostgreSQL.
A partir de aquí iremos explicando cada una de estas capas.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9 · Un clúster k3s de un nodo aloja los servicios
Todo se ejecuta sobre un clúster Kubernetes ligero, k3s, de un único nodo local. La fila superior muestra los servicios: Airflow, Spark, MinIO con Iceberg, PostgreSQL y Superset.
Todos los recursos viven dentro de un namespace de Kubernetes llamado tfm-lakehouse. Un namespace es un espacio dentro del clúster que agrupa y aísla recursos, como los pods, los servicios y los secretos.
• Un pod por tarea. Airflow usa el ejecutor de Kubernetes: cada tarea, y cada trabajo de Spark, se lanza como un pod propio dentro del namespace.
• Reproducible con Helm. Helm es el gestor de paquetes de Kubernetes: cada servicio se instala desde una plantilla llamada chart, con las versiones de cada imagen fijadas.
• Mecanismo verificado. Antes de construir ningún flujo comprobé que Spark, lanzado desde Airflow, escribe y lee tablas Iceberg en MinIO. Para ello existe un tercer DAG, aparte de los dos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10 · Almacenamiento: dentro y fuera de Iceberg
Este diagrama muestra cómo se organiza el almacenamiento dentro de MinIO. Todo está en un único cubo, lakehouse, con dos zonas: una fuera de Iceberg y otra dentro.
• Fuera de Iceberg está el prefijo bronze: ficheros crudos, tal como llegan, que escriben directamente las tareas de ingesta.
• Dentro de Iceberg está el prefijo warehouse, el catálogo. Contiene solo las tablas que gestiona Iceberg, silver y gold, que escriben los trabajos de Spark. Cada capa es un namespace de Iceberg, una agrupación de tablas; no hay que confundirlo con el namespace de Kubernetes.
Se mantienen separados porque, si se mezclaran ficheros crudos con tablas, Iceberg podría encontrarse con ficheros que no son suyos y fallar.
La diferencia real entre el bronze de fuera y el de dentro: el bronze real, donde están los datos, es el de fuera. En el catálogo existe también un namespace bronze, pero está reservado y sin tablas, porque el pipeline lee bronze directamente de los ficheros.
A la derecha, fijé imágenes y versiones concretas: las de MinIO y PostgreSQL para obtenerlas gratis, y las de Spark, Iceberg y Hadoop porque tienen que ser compatibles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11 · ORCID aporta el volumen y los CVN, el enlace
Los datos de ORCID se obtienen de dos formas, con usos distintos.
• La API pública consulta un perfil concreto por su identificador, para actualizar los datos de las personas que declaran los CVN.
• El fichero anual es un volcado de todos los perfiles públicos y da el volumen real de partida.
El fichero contiene 26.078.951 perfiles. Me quedo con los que declaran una afiliación en España: 301.763.
Los CVN se generan a partir de esos perfiles, reutilizando su nombre, afiliaciones y obras. El 70 % declara el ORCID del perfil de origen y el resto solo conserva nombre y afiliaciones; esa diferencia permite medir después la fusión. Genero 10.000 para evaluarla con una muestra suficiente; es un parámetro, por defecto son 1.000.
Tres términos que usaré a partir de ahora:
• Perfil: la ficha pública de una persona en ORCID.
• Registro: cada documento que se guarda en bronze, sea un perfil de ORCID, una respuesta de la API o un CVN. Cada perfil da lugar a un registro.
• Publicación: una obra, como un artículo o un libro, dentro de un perfil o de un CVN.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12 · Todo aterriza en bronze con su procedencia
Todo aterriza en bronze mediante el flujo ingest_validate, con cuatro tareas, cada una en su propio pod. El orden importa: el enriquecimiento con la API consulta los identificadores ORCID que declaran los CVN, por eso va después de generarlos.
Cada registro lleva consigo sus datos de procedencia: de qué fuente viene, cuándo se obtuvo y se guardó, qué ejecución lo guardó y si superó la comprobación inicial.
En cada ejecución se procesan los primeros 20.000 de los 301.763 perfiles. Es un límite configurable que mantiene cada ejecución manejable; se amplía en las pruebas de rendimiento. Se aceptaron 19.469 registros y se rechazaron 531, casi todos sin apellido público.
Los rechazados van a una zona aparte con sus errores. Si superan el 5 % de una fuente, la tarea falla: unos pocos defectuosos son normales, pero una proporción alta indica un fallo sistemático de origen, y es preferible parar a continuar con datos incompletos sin que nadie lo note.
Respecto a los CVN, la ejecución por defecto genera 1.000 y la de evaluación, 10.000: son dos ejecuciones distintas, y los datos de ambas quedan en bronze.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13 · Silver: solo entra lo validado, con rastro
El primer trabajo de Spark transforma bronze en silver. Aclaro de dónde salen las cifras.
Silver recoge todo lo que hay en bronze: 19.469 registros de ORCID del fichero, 399 de la API y 11.000 CVN, que son los 1.000 por defecto más los 10.000 de la evaluación. En total, 30.868 registros de persona.
Dentro de esos registros hay 99.979 afiliaciones y 543.879 publicaciones: son los elementos que contienen los propios registros, porque cada persona tiene varias afiliaciones y muchas publicaciones.
Cada registro pasa por tres comprobaciones:
• Formato: el documento cumple el esquema Open CVN.
• Contenido: cada elemento, como una publicación o una formación, tiene los campos propios de su tipo.
• Reglas: por ejemplo, que el ORCID tenga un dígito de control válido, el último carácter, calculado a partir de los anteriores para detectar errores de transcripción, y que las fechas sean coherentes.
En esta ejecución no se rechazó ninguno. Los que fallen van a una tabla de rechazados con la regla incumplida.
Después se normalizan los datos para poder compararlos.
• Nombres: sin acentos ni partículas. «de la Torre, Ana» pasa a la clave «torre, a».
• Organizaciones: solo las palabras con significado, sin importar el orden. «Universidad de Granada» y «Granada, Universidad de» se reconocen como la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14 · Fusión de identidades: precisión medida
Ahora hay que resolver qué registros son la misma persona, con reglas deterministas aplicadas por orden de fuerza de la evidencia.
• R1: dos registros con el mismo ORCID válido son la misma persona.
• R2, para un CVN sin ORCID: busca una persona ya identificada por R1 con la misma clave de bloqueo, un nombre compatible y alguna organización en común, y exige que sea la única candidata.
La clave de bloqueo es el apellido normalizado más la inicial del nombre: permite comparar solo los registros que la comparten, en lugar de todos contra todos. Y nombre compatible significa que puede variar el nombre o el apellido, pero no ambos.
• R3: sin evidencia, la persona queda como entidad propia.
Medí el resultado contra la verdad de referencia del propio generador, sobre 10.000 CVN. R1 acierta en sus 7.098 casos. Para R2 hay dos medidas:
• Precisión: de las fusiones que hace R2, cuántas son correctas. Es del 95,8 %: 138 de 144.
• Cobertura: de los casos que R2 podía resolver, cuántos resuelve. Es del 74,2 %: 138 de 186.
El objetivo de precisión del 99 % no se alcanza en R2. Se prioriza la precisión porque una fusión errónea contamina los indicadores, mientras que una fusión no hecha solo divide a una persona en dos.
Con esta regla la cobertura máxima es el 74,7 %, porque 47 de los 186 casos no tienen afiliación y R2 necesita una organización para comparar. Superarlo requeriría otro tipo de evidencia, por ejemplo un modelo probabilístico: queda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15 · Gold: indicadores publicados de forma atómica
El segundo trabajo de Spark calcula tres indicadores en la capa gold: las publicaciones por año, los pares de colaboración entre personas que comparten una obra y la línea temporal de afiliaciones.
En el primero hay que deduplicar: una misma publicación puede figurar dos veces en la misma persona, en su CVN y en su perfil de ORCID. Sin deduplicar se contarían de más: de 543.879 filas se pasa a 516.396 obras distintas, un 5,1 % menos.
Los datos de gold se copian después a PostgreSQL, porque Superset se conecta directamente a PostgreSQL y lee de ahí con facilidad. Para leer Iceberg haría falta un motor de consulta intermedio, como Spark o Trino, un servicio más que operar.
La copia se hace en tres pasos, para que el panel nunca vea datos incompletos.
• Primero, los datos nuevos se cargan en tablas temporales, sin tocar las publicadas.
• Segundo, se comprueba que PostgreSQL tiene las mismas filas que gold.
• Tercero, las tablas nuevas sustituyen a las anteriores en una única transacción. Es lo importante: el panel nunca se queda vacío ni a medio cargar; ve las tablas anteriores completas o las nuevas completas.
Un recálculo independiente en Python no halló ninguna discrepancia en 306.599 filas. Y si se deshacen las fusiones más débiles de R2, los indicadores cambian como máximo un 0,58 %.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16 · Panel de indicadores sin estados intermedios
Este es el panel de Superset. Lee la capa gold desde PostgreSQL y muestra siempre agregados, nunca nombres de personas: las publicaciones por año, la línea temporal de afiliaciones, las colaboraciones entre personas con datos reales de ORCID y una tabla de procedencia que indica de qué ejecución sale cada cifra.
Superset consulta PostgreSQL y no Iceberg ni Spark porque se conecta a PostgreSQL de forma directa. Para leer Iceberg haría falta un motor de consulta en medio, como Trino o Spark, que añadiría un servicio más. La conexión, además, usa un usuario de solo lectura.
El panel está definido como código: lo borré por completo y, al reimportarlo, quedó idéntico.
Y comprobé que se actualiza sin estados intermedios: lancé el flujo completo de transformación mientras un proceso consultaba el panel de forma continua. Durante 1.040 segundos y 238 consultas no hubo ningún error ni respuesta vacía.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17 · Más ejecutores dan fiabilidad, no solo velocidad
Medí cómo afecta el número de ejecutores de Spark al rendimiento, con tres volúmenes de datos, 1x, 2x y 4x, y 1, 2 y 4 ejecutores en cada uno. Se descarta la primera ejecución de cada volumen, cada configuración se repite tres veces y se comprueba que todas dan el mismo contenido final.
El gráfico muestra la eficiencia: la aceleración dividida entre el número de ejecutores, donde 1,0 sería un reparto perfecto.
• En silver, con 2 ejecutores la aceleración es de 1,50 veces y con 4, de 1,63, lejos de la ideal.
• En el cálculo de indicadores la eficiencia cae hasta 0,23, porque los datos ya están agregados y hay poco que repartir.
El hallazgo principal es de fiabilidad: con el doble de datos, un solo ejecutor agota la memoria en silver y no termina, y con el cuádruple de datos hacen falta cuatro ejecutores. A partir de cierto volumen, los ejecutores no solo dan velocidad: permiten terminar.
El cuello de botella son las limitaciones de hardware del único nodo local: la CPU nunca superó el 32,2 %, y ese máximo coincidió con los cuatro ejecutores.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18 · Endurecimiento: fallos reales corregidos
Estos fallos aparecieron al usar el sistema completo, no en una demostración controlada.
• Bloqueo del orquestador. El servidor de tareas de Airflow dejó de arrancar por un error conocido, sin corrección oficial, al reconciliar una tarea huérfana. La solución fue marcar la tarea como fallida y reiniciar. Reapareció días después y se resolvió igual.
• Interfaz de Airflow bajo carga. Sin recursos reservados, su comprobación de salud la reiniciaba. Se corrigió reservando CPU y memoria.
• PostgreSQL sin el usuario de gold. Apareció al reconstruir en un clúster nuevo: el primer arranque se interrumpió y no creó el usuario. Se corrigió reinicializando el servicio.
Corregir un fallo de un componente externo es, en sí mismo, un resultado del trabajo.
Por último, reconstruí toda la plataforma desde cero con solo la guía escrita, en un clúster aislado con k3d, sin tocar el clúster real. Los dos flujos y el panel funcionaron de extremo a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19 · Garantías fuertes donde el proceso es determinista
Distingo dos niveles de garantía.
Fuertes y verificadas:
• El mecanismo central, comprobado con el registro del trabajo y con una lectura desde otro pod.
• La ingesta, cuyas cifras coincidieron con una lectura independiente con Spark.
• Gold, con cero discrepancias frente a un recálculo en Python y una segunda ejecución idéntica.
• La publicación, que quedó intacta al detener el proceso a mitad de la carga.
• La reproducibilidad, con una reconstrucción desde cero siguiendo solo la guía.
Parciales y documentadas:
• La identidad sin ORCID: 95,8 % de precisión frente al 99 % fijado, y 74,2 % de cobertura.
• El rendimiento, limitado por el hardware del único nodo local.
• El fallo del orquestador, resuelto con una receta operativa.
• Un alcance deliberado: un solo nodo y reconstrucción completa de silver y gold en cada ejecución.
El despliegue en un clúster real y el estudio de cómo escalar no forman parte de este trabajo: quedan completamente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20 · Ocho objetivos cumplidos y uno parcial
Retomo los nueve objetivos en el orden en que los planteé. Ocho se dan por cumplidos: la infraestructura, el mecanismo central, los datos reales de ORCID, los CVN validados, los indicadores, el panel, el benchmark y la robustez operativa.
Uno, la integración de ORCID con CVN, se cumple con garantías parciales: la meta era un 99 % de precisión, y la regla sin ORCID llega al 95,8 %, con un 74,2 % de cobertura.
Las contribuciones principales son cinco:
• Una plataforma lakehouse verificada de extremo a extremo.
• Una fusión entre ORCID y CVN diseñada desde el origen del dato.
• Una resolución de identidad determinista, con evidencia auditable.
• El hallazgo de que el número de ejecutores de Spark es una palanca de fiabilidad y no solo de velocidad.
• Una guía de reproducibilidad validada con una reconstrucción real.
El objetivo general se considera cumplido, y la única salvedad está medida, no oculta.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21 · Conclusión y líneas de trabajo futuro
Este trabajo demuestra, con una plataforma desplegada y medida, que ORCID y CVN pueden integrarse en un lakehouse autoalojado y reproducible, con la identidad resuelta entre fuentes y con evidencia reproducible de su rendimiento y su robustez. Las limitaciones proceden de un componente externo o son decisiones de alcance.
Como trabajo futuro, en primer lugar, el despliegue en un clúster real y el estudio de cómo escalar, que quedan completamente pendientes. Después:
• Incorporar la corrección oficial del orquestador cuando exista.
• Un motor de consulta SQL sobre Iceberg, como Trino. Permitiría consultar gold directamente desde Superset, sin copiarlo a PostgreSQL, y daría una vía de consulta independiente del panel.
• Monitorización permanente en producción, con métricas, registros y alertas, por ejemplo con Prometheus y Grafana. Hoy basta el registro de eventos de Spark, pero en producción permitiría detectar los fallos antes de que los vea un usuario.
• Procesamiento incremental sobre los snapshots de Iceberg, en lugar de reconstruir silver y gold en cada ejecución.
• Y vinculación probabilística o con aprendizaje automático para la resolución de identidad.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22 · Cierre
Muchas gracias por su atención. Quedo a disposición del tribunal para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44566A"/>
                </a:solidFill>
                <a:latin typeface="Consolas" pitchFamily="34" charset="0"/>
                <a:ea typeface="Consolas" pitchFamily="34" charset="-122"/>
                <a:cs typeface="Consolas" pitchFamily="34" charset="-120"/>
              </a:rPr>
              <a:t>TFM · Carlos Martínez Jaén</a:t>
            </a:r>
            <a:endParaRPr lang="en-US" sz="1000" dirty="0"/>
          </a:p>
        </p:txBody>
      </p:sp>
      <p:sp>
        <p:nvSpPr>
          <p:cNvPr id="3" name="Text 1"/>
          <p:cNvSpPr/>
          <p:nvPr>
            <p:ph idx="101" type="title" hasCustomPrompt="1"/>
          </p:nvPr>
        </p:nvSpPr>
        <p:spPr>
          <a:xfrm>
            <a:off x="548640" y="566928"/>
            <a:ext cx="11091672" cy="777240"/>
          </a:xfrm>
          <a:prstGeom prst="rect">
            <a:avLst/>
          </a:prstGeom>
          <a:noFill/>
          <a:ln/>
        </p:spPr>
        <p:txBody>
          <a:bodyPr wrap="square" rtlCol="0"/>
          <a:lstStyle>
            <a:lvl1pPr algn="l" indent="0" marL="0">
              <a:buNone/>
              <a:defRPr lang="en-US" sz="3200" b="1" dirty="0">
                <a:solidFill>
                  <a:srgbClr val="10243A"/>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777240"/>
            <a:ext cx="7315200" cy="274320"/>
          </a:xfrm>
          <a:prstGeom prst="rect">
            <a:avLst/>
          </a:prstGeom>
          <a:noFill/>
          <a:ln/>
        </p:spPr>
        <p:txBody>
          <a:bodyPr wrap="square" lIns="0" tIns="0" rIns="0" bIns="0" rtlCol="0" anchor="t"/>
          <a:lstStyle/>
          <a:p>
            <a:pPr algn="l" indent="0" marL="0">
              <a:buNone/>
            </a:pPr>
            <a:r>
              <a:rPr lang="en-US" sz="1400" spc="300" kern="0" dirty="0">
                <a:solidFill>
                  <a:schemeClr val="accent1"/>
                </a:solidFill>
                <a:latin typeface="Consolas" pitchFamily="34" charset="0"/>
                <a:ea typeface="Consolas" pitchFamily="34" charset="-122"/>
                <a:cs typeface="Consolas" pitchFamily="34" charset="-120"/>
              </a:rPr>
              <a:t>TRABAJO FIN DE MÁSTER</a:t>
            </a:r>
            <a:endParaRPr lang="en-US" sz="1400" dirty="0"/>
          </a:p>
        </p:txBody>
      </p:sp>
      <p:sp>
        <p:nvSpPr>
          <p:cNvPr id="4" name="Titulo del trabajo"/>
          <p:cNvSpPr txBox="1"/>
          <p:nvPr/>
        </p:nvSpPr>
        <p:spPr>
          <a:xfrm>
            <a:off x="731520" y="1417320"/>
            <a:ext cx="8412480" cy="2286000"/>
          </a:xfrm>
          <a:prstGeom prst="rect">
            <a:avLst/>
          </a:prstGeom>
          <a:noFill/>
          <a:ln/>
        </p:spPr>
        <p:txBody>
          <a:bodyPr wrap="square" lIns="0" tIns="0" rIns="0" bIns="0" rtlCol="0" anchor="t"/>
          <a:lstStyle/>
          <a:p>
            <a:pPr algn="l" indent="0" marL="0">
              <a:buNone/>
            </a:pPr>
            <a:r>
              <a:rPr lang="en-US" sz="3800" b="1" dirty="0">
                <a:solidFill>
                  <a:schemeClr val="bg1"/>
                </a:solidFill>
                <a:latin typeface="Calibri" pitchFamily="34" charset="0"/>
                <a:ea typeface="Calibri" pitchFamily="34" charset="-122"/>
                <a:cs typeface="Calibri" pitchFamily="34" charset="-120"/>
              </a:rPr>
              <a:t>Diseño de una arquitectura lakehouse escalable para la integración y análisis de información curricular académica</a:t>
            </a:r>
            <a:endParaRPr lang="en-US" sz="3800" dirty="0"/>
          </a:p>
        </p:txBody>
      </p:sp>
      <p:sp>
        <p:nvSpPr>
          <p:cNvPr id="5" name="Text 2"/>
          <p:cNvSpPr txBox="1"/>
          <p:nvPr/>
        </p:nvSpPr>
        <p:spPr>
          <a:xfrm>
            <a:off x="731520" y="3931920"/>
            <a:ext cx="8229600" cy="411480"/>
          </a:xfrm>
          <a:prstGeom prst="rect">
            <a:avLst/>
          </a:prstGeom>
          <a:noFill/>
          <a:ln/>
        </p:spPr>
        <p:txBody>
          <a:bodyPr wrap="square" lIns="0" tIns="0" rIns="0" bIns="0" rtlCol="0" anchor="t"/>
          <a:lstStyle/>
          <a:p>
            <a:pPr algn="l" indent="0" marL="0">
              <a:buNone/>
            </a:pPr>
            <a:r>
              <a:rPr lang="en-US" sz="2200" b="1" dirty="0">
                <a:solidFill>
                  <a:schemeClr val="bg1"/>
                </a:solidFill>
                <a:latin typeface="Calibri" pitchFamily="34" charset="0"/>
                <a:ea typeface="Calibri" pitchFamily="34" charset="-122"/>
                <a:cs typeface="Calibri" pitchFamily="34" charset="-120"/>
              </a:rPr>
              <a:t>Carlos Martínez Jaén</a:t>
            </a:r>
            <a:endParaRPr lang="en-US" sz="2200" dirty="0"/>
          </a:p>
        </p:txBody>
      </p:sp>
      <p:sp>
        <p:nvSpPr>
          <p:cNvPr id="6" name="Text 3"/>
          <p:cNvSpPr txBox="1"/>
          <p:nvPr/>
        </p:nvSpPr>
        <p:spPr>
          <a:xfrm>
            <a:off x="731520" y="4389120"/>
            <a:ext cx="8229600" cy="320040"/>
          </a:xfrm>
          <a:prstGeom prst="rect">
            <a:avLst/>
          </a:prstGeom>
          <a:noFill/>
          <a:ln/>
        </p:spPr>
        <p:txBody>
          <a:bodyPr wrap="square" lIns="0" tIns="0" rIns="0" bIns="0" rtlCol="0" anchor="t"/>
          <a:lstStyle/>
          <a:p>
            <a:pPr algn="l" indent="0" marL="0">
              <a:buNone/>
            </a:pPr>
            <a:r>
              <a:rPr lang="en-US" sz="1600" dirty="0">
                <a:solidFill>
                  <a:schemeClr val="accent3"/>
                </a:solidFill>
                <a:latin typeface="Calibri" pitchFamily="34" charset="0"/>
                <a:ea typeface="Calibri" pitchFamily="34" charset="-122"/>
                <a:cs typeface="Calibri" pitchFamily="34" charset="-120"/>
              </a:rPr>
              <a:t>Director: Luis De La Ossa Jiménez</a:t>
            </a:r>
            <a:endParaRPr lang="en-US" sz="1600" dirty="0"/>
          </a:p>
        </p:txBody>
      </p:sp>
      <p:sp>
        <p:nvSpPr>
          <p:cNvPr id="7" name="Text 4"/>
          <p:cNvSpPr txBox="1"/>
          <p:nvPr/>
        </p:nvSpPr>
        <p:spPr>
          <a:xfrm>
            <a:off x="731520" y="4754880"/>
            <a:ext cx="8229600" cy="320040"/>
          </a:xfrm>
          <a:prstGeom prst="rect">
            <a:avLst/>
          </a:prstGeom>
          <a:noFill/>
          <a:ln/>
        </p:spPr>
        <p:txBody>
          <a:bodyPr wrap="square" lIns="0" tIns="0" rIns="0" bIns="0" rtlCol="0" anchor="t"/>
          <a:lstStyle/>
          <a:p>
            <a:pPr algn="l" indent="0" marL="0">
              <a:buNone/>
            </a:pPr>
            <a:r>
              <a:rPr lang="en-US" sz="1600" dirty="0">
                <a:solidFill>
                  <a:schemeClr val="accent3"/>
                </a:solidFill>
                <a:latin typeface="Calibri" pitchFamily="34" charset="0"/>
                <a:ea typeface="Calibri" pitchFamily="34" charset="-122"/>
                <a:cs typeface="Calibri" pitchFamily="34" charset="-120"/>
              </a:rPr>
              <a:t>Máster en Big Data y Computación en la Nube · Octubre de 2026</a:t>
            </a:r>
            <a:endParaRPr lang="en-US" sz="1600" dirty="0"/>
          </a:p>
        </p:txBody>
      </p:sp>
      <p:sp>
        <p:nvSpPr>
          <p:cNvPr id="8" name="Placa del logotipo"/>
          <p:cNvSpPr/>
          <p:nvPr/>
        </p:nvSpPr>
        <p:spPr>
          <a:xfrm>
            <a:off x="9326880" y="548640"/>
            <a:ext cx="2313432" cy="1143000"/>
          </a:xfrm>
          <a:prstGeom prst="roundRect">
            <a:avLst>
              <a:gd name="adj" fmla="val 6400"/>
            </a:avLst>
          </a:prstGeom>
          <a:solidFill>
            <a:srgbClr val="FFFFFF"/>
          </a:solidFill>
          <a:ln w="9525">
            <a:solidFill>
              <a:srgbClr val="7A93AE"/>
            </a:solidFill>
            <a:prstDash val="solid"/>
          </a:ln>
        </p:spPr>
      </p:sp>
      <p:pic>
        <p:nvPicPr>
          <p:cNvPr id="9" name="Logotipo UCLM" descr="Logotipo de la Universidad de Castilla-La Mancha">    </p:cNvPr>
          <p:cNvPicPr>
            <a:picLocks noChangeAspect="1"/>
          </p:cNvPicPr>
          <p:nvPr/>
        </p:nvPicPr>
        <p:blipFill>
          <a:blip r:embed="rId1"/>
          <a:stretch>
            <a:fillRect/>
          </a:stretch>
        </p:blipFill>
        <p:spPr>
          <a:xfrm>
            <a:off x="9491472" y="694944"/>
            <a:ext cx="1984248" cy="855878"/>
          </a:xfrm>
          <a:prstGeom prst="rect">
            <a:avLst/>
          </a:prstGeom>
        </p:spPr>
      </p:pic>
      <p:sp>
        <p:nvSpPr>
          <p:cNvPr id="10" name="Nodo Airflow"/>
          <p:cNvSpPr/>
          <p:nvPr/>
        </p:nvSpPr>
        <p:spPr>
          <a:xfrm>
            <a:off x="731520" y="5532120"/>
            <a:ext cx="1828800" cy="457200"/>
          </a:xfrm>
          <a:prstGeom prst="rect">
            <a:avLst/>
          </a:prstGeom>
          <a:solidFill>
            <a:schemeClr val="tx1"/>
          </a:solidFill>
          <a:ln w="12700">
            <a:solidFill>
              <a:schemeClr val="accent2"/>
            </a:solidFill>
            <a:prstDash val="solid"/>
          </a:ln>
        </p:spPr>
      </p:sp>
      <p:sp>
        <p:nvSpPr>
          <p:cNvPr id="11" name="Text 7"/>
          <p:cNvSpPr txBox="1"/>
          <p:nvPr/>
        </p:nvSpPr>
        <p:spPr>
          <a:xfrm>
            <a:off x="73152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Airflow</a:t>
            </a:r>
            <a:endParaRPr lang="en-US" sz="1200" dirty="0"/>
          </a:p>
        </p:txBody>
      </p:sp>
      <p:sp>
        <p:nvSpPr>
          <p:cNvPr id="12" name="Flecha 1"/>
          <p:cNvSpPr/>
          <p:nvPr/>
        </p:nvSpPr>
        <p:spPr>
          <a:xfrm>
            <a:off x="2606040" y="5760720"/>
            <a:ext cx="320040" cy="0"/>
          </a:xfrm>
          <a:prstGeom prst="line">
            <a:avLst/>
          </a:prstGeom>
          <a:noFill/>
          <a:ln w="25400">
            <a:solidFill>
              <a:schemeClr val="accent1"/>
            </a:solidFill>
            <a:prstDash val="solid"/>
            <a:tailEnd type="triangle"/>
          </a:ln>
        </p:spPr>
      </p:sp>
      <p:sp>
        <p:nvSpPr>
          <p:cNvPr id="13" name="Nodo Spark"/>
          <p:cNvSpPr/>
          <p:nvPr/>
        </p:nvSpPr>
        <p:spPr>
          <a:xfrm>
            <a:off x="2971800" y="5532120"/>
            <a:ext cx="1828800" cy="457200"/>
          </a:xfrm>
          <a:prstGeom prst="rect">
            <a:avLst/>
          </a:prstGeom>
          <a:solidFill>
            <a:schemeClr val="tx1"/>
          </a:solidFill>
          <a:ln w="12700">
            <a:solidFill>
              <a:schemeClr val="accent2"/>
            </a:solidFill>
            <a:prstDash val="solid"/>
          </a:ln>
        </p:spPr>
      </p:sp>
      <p:sp>
        <p:nvSpPr>
          <p:cNvPr id="14" name="Text 10"/>
          <p:cNvSpPr txBox="1"/>
          <p:nvPr/>
        </p:nvSpPr>
        <p:spPr>
          <a:xfrm>
            <a:off x="297180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Spark</a:t>
            </a:r>
            <a:endParaRPr lang="en-US" sz="1200" dirty="0"/>
          </a:p>
        </p:txBody>
      </p:sp>
      <p:sp>
        <p:nvSpPr>
          <p:cNvPr id="15" name="Flecha 2"/>
          <p:cNvSpPr/>
          <p:nvPr/>
        </p:nvSpPr>
        <p:spPr>
          <a:xfrm>
            <a:off x="4846320" y="5760720"/>
            <a:ext cx="320040" cy="0"/>
          </a:xfrm>
          <a:prstGeom prst="line">
            <a:avLst/>
          </a:prstGeom>
          <a:noFill/>
          <a:ln w="25400">
            <a:solidFill>
              <a:schemeClr val="accent1"/>
            </a:solidFill>
            <a:prstDash val="solid"/>
            <a:tailEnd type="triangle"/>
          </a:ln>
        </p:spPr>
      </p:sp>
      <p:sp>
        <p:nvSpPr>
          <p:cNvPr id="16" name="Nodo MinIO + Iceberg"/>
          <p:cNvSpPr/>
          <p:nvPr/>
        </p:nvSpPr>
        <p:spPr>
          <a:xfrm>
            <a:off x="5212080" y="5532120"/>
            <a:ext cx="1828800" cy="457200"/>
          </a:xfrm>
          <a:prstGeom prst="rect">
            <a:avLst/>
          </a:prstGeom>
          <a:solidFill>
            <a:schemeClr val="tx1"/>
          </a:solidFill>
          <a:ln w="12700">
            <a:solidFill>
              <a:schemeClr val="accent2"/>
            </a:solidFill>
            <a:prstDash val="solid"/>
          </a:ln>
        </p:spPr>
      </p:sp>
      <p:sp>
        <p:nvSpPr>
          <p:cNvPr id="17" name="Text 13"/>
          <p:cNvSpPr txBox="1"/>
          <p:nvPr/>
        </p:nvSpPr>
        <p:spPr>
          <a:xfrm>
            <a:off x="521208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MinIO + Iceberg</a:t>
            </a:r>
            <a:endParaRPr lang="en-US" sz="1200" dirty="0"/>
          </a:p>
        </p:txBody>
      </p:sp>
      <p:sp>
        <p:nvSpPr>
          <p:cNvPr id="18" name="Flecha 3"/>
          <p:cNvSpPr/>
          <p:nvPr/>
        </p:nvSpPr>
        <p:spPr>
          <a:xfrm>
            <a:off x="7086600" y="5760720"/>
            <a:ext cx="320040" cy="0"/>
          </a:xfrm>
          <a:prstGeom prst="line">
            <a:avLst/>
          </a:prstGeom>
          <a:noFill/>
          <a:ln w="25400">
            <a:solidFill>
              <a:schemeClr val="accent1"/>
            </a:solidFill>
            <a:prstDash val="solid"/>
            <a:tailEnd type="triangle"/>
          </a:ln>
        </p:spPr>
      </p:sp>
      <p:sp>
        <p:nvSpPr>
          <p:cNvPr id="19" name="Nodo PostgreSQL"/>
          <p:cNvSpPr/>
          <p:nvPr/>
        </p:nvSpPr>
        <p:spPr>
          <a:xfrm>
            <a:off x="7452360" y="5532120"/>
            <a:ext cx="1828800" cy="457200"/>
          </a:xfrm>
          <a:prstGeom prst="rect">
            <a:avLst/>
          </a:prstGeom>
          <a:solidFill>
            <a:schemeClr val="tx1"/>
          </a:solidFill>
          <a:ln w="12700">
            <a:solidFill>
              <a:schemeClr val="accent2"/>
            </a:solidFill>
            <a:prstDash val="solid"/>
          </a:ln>
        </p:spPr>
      </p:sp>
      <p:sp>
        <p:nvSpPr>
          <p:cNvPr id="20" name="Text 16"/>
          <p:cNvSpPr txBox="1"/>
          <p:nvPr/>
        </p:nvSpPr>
        <p:spPr>
          <a:xfrm>
            <a:off x="745236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PostgreSQL</a:t>
            </a:r>
            <a:endParaRPr lang="en-US" sz="1200" dirty="0"/>
          </a:p>
        </p:txBody>
      </p:sp>
      <p:sp>
        <p:nvSpPr>
          <p:cNvPr id="21" name="Flecha 4"/>
          <p:cNvSpPr/>
          <p:nvPr/>
        </p:nvSpPr>
        <p:spPr>
          <a:xfrm>
            <a:off x="9326880" y="5760720"/>
            <a:ext cx="320040" cy="0"/>
          </a:xfrm>
          <a:prstGeom prst="line">
            <a:avLst/>
          </a:prstGeom>
          <a:noFill/>
          <a:ln w="25400">
            <a:solidFill>
              <a:schemeClr val="accent1"/>
            </a:solidFill>
            <a:prstDash val="solid"/>
            <a:tailEnd type="triangle"/>
          </a:ln>
        </p:spPr>
      </p:sp>
      <p:sp>
        <p:nvSpPr>
          <p:cNvPr id="22" name="Nodo Superset"/>
          <p:cNvSpPr/>
          <p:nvPr/>
        </p:nvSpPr>
        <p:spPr>
          <a:xfrm>
            <a:off x="9692640" y="5532120"/>
            <a:ext cx="1828800" cy="457200"/>
          </a:xfrm>
          <a:prstGeom prst="rect">
            <a:avLst/>
          </a:prstGeom>
          <a:solidFill>
            <a:schemeClr val="tx1"/>
          </a:solidFill>
          <a:ln w="12700">
            <a:solidFill>
              <a:schemeClr val="accent2"/>
            </a:solidFill>
            <a:prstDash val="solid"/>
          </a:ln>
        </p:spPr>
      </p:sp>
      <p:sp>
        <p:nvSpPr>
          <p:cNvPr id="23" name="Text 19"/>
          <p:cNvSpPr txBox="1"/>
          <p:nvPr/>
        </p:nvSpPr>
        <p:spPr>
          <a:xfrm>
            <a:off x="969264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Superset</a:t>
            </a:r>
            <a:endParaRPr lang="en-US" sz="12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ÍNDICE</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Índice de la presentación</a:t>
            </a:r>
            <a:endParaRPr lang="en-US" sz="3200" dirty="0"/>
          </a:p>
        </p:txBody>
      </p:sp>
      <p:sp>
        <p:nvSpPr>
          <p:cNvPr id="5" name="Bloque 1"/>
          <p:cNvSpPr/>
          <p:nvPr/>
        </p:nvSpPr>
        <p:spPr>
          <a:xfrm>
            <a:off x="548640" y="1645920"/>
            <a:ext cx="5477256" cy="960120"/>
          </a:xfrm>
          <a:prstGeom prst="rect">
            <a:avLst/>
          </a:prstGeom>
          <a:solidFill>
            <a:schemeClr val="tx2"/>
          </a:solidFill>
          <a:ln w="9525">
            <a:solidFill>
              <a:schemeClr val="accent2"/>
            </a:solidFill>
            <a:prstDash val="solid"/>
          </a:ln>
        </p:spPr>
      </p:sp>
      <p:sp>
        <p:nvSpPr>
          <p:cNvPr id="6" name="Text 3"/>
          <p:cNvSpPr txBox="1"/>
          <p:nvPr/>
        </p:nvSpPr>
        <p:spPr>
          <a:xfrm>
            <a:off x="822960" y="164592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1</a:t>
            </a:r>
            <a:endParaRPr lang="en-US" sz="2800" dirty="0"/>
          </a:p>
        </p:txBody>
      </p:sp>
      <p:sp>
        <p:nvSpPr>
          <p:cNvPr id="7" name="Text 4"/>
          <p:cNvSpPr txBox="1"/>
          <p:nvPr/>
        </p:nvSpPr>
        <p:spPr>
          <a:xfrm>
            <a:off x="1554480" y="178308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Motivación y contexto</a:t>
            </a:r>
            <a:endParaRPr lang="en-US" sz="2000" dirty="0"/>
          </a:p>
        </p:txBody>
      </p:sp>
      <p:sp>
        <p:nvSpPr>
          <p:cNvPr id="8" name="Text 5"/>
          <p:cNvSpPr txBox="1"/>
          <p:nvPr/>
        </p:nvSpPr>
        <p:spPr>
          <a:xfrm>
            <a:off x="1554480" y="219456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Del formato al problema de la escala</a:t>
            </a:r>
            <a:endParaRPr lang="en-US" sz="1400" dirty="0"/>
          </a:p>
        </p:txBody>
      </p:sp>
      <p:sp>
        <p:nvSpPr>
          <p:cNvPr id="9" name="Bloque 2"/>
          <p:cNvSpPr/>
          <p:nvPr/>
        </p:nvSpPr>
        <p:spPr>
          <a:xfrm>
            <a:off x="548640" y="2743200"/>
            <a:ext cx="5477256" cy="960120"/>
          </a:xfrm>
          <a:prstGeom prst="rect">
            <a:avLst/>
          </a:prstGeom>
          <a:solidFill>
            <a:schemeClr val="tx2"/>
          </a:solidFill>
          <a:ln w="9525">
            <a:solidFill>
              <a:schemeClr val="accent2"/>
            </a:solidFill>
            <a:prstDash val="solid"/>
          </a:ln>
        </p:spPr>
      </p:sp>
      <p:sp>
        <p:nvSpPr>
          <p:cNvPr id="10" name="Text 7"/>
          <p:cNvSpPr txBox="1"/>
          <p:nvPr/>
        </p:nvSpPr>
        <p:spPr>
          <a:xfrm>
            <a:off x="822960" y="274320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2</a:t>
            </a:r>
            <a:endParaRPr lang="en-US" sz="2800" dirty="0"/>
          </a:p>
        </p:txBody>
      </p:sp>
      <p:sp>
        <p:nvSpPr>
          <p:cNvPr id="11" name="Text 8"/>
          <p:cNvSpPr txBox="1"/>
          <p:nvPr/>
        </p:nvSpPr>
        <p:spPr>
          <a:xfrm>
            <a:off x="1554480" y="288036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Objetivos</a:t>
            </a:r>
            <a:endParaRPr lang="en-US" sz="2000" dirty="0"/>
          </a:p>
        </p:txBody>
      </p:sp>
      <p:sp>
        <p:nvSpPr>
          <p:cNvPr id="12" name="Text 9"/>
          <p:cNvSpPr txBox="1"/>
          <p:nvPr/>
        </p:nvSpPr>
        <p:spPr>
          <a:xfrm>
            <a:off x="1554480" y="329184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Un objetivo general y nueve específicos</a:t>
            </a:r>
            <a:endParaRPr lang="en-US" sz="1400" dirty="0"/>
          </a:p>
        </p:txBody>
      </p:sp>
      <p:sp>
        <p:nvSpPr>
          <p:cNvPr id="13" name="Bloque 3"/>
          <p:cNvSpPr/>
          <p:nvPr/>
        </p:nvSpPr>
        <p:spPr>
          <a:xfrm>
            <a:off x="548640" y="3840480"/>
            <a:ext cx="5477256" cy="960120"/>
          </a:xfrm>
          <a:prstGeom prst="rect">
            <a:avLst/>
          </a:prstGeom>
          <a:solidFill>
            <a:schemeClr val="tx2"/>
          </a:solidFill>
          <a:ln w="9525">
            <a:solidFill>
              <a:schemeClr val="accent2"/>
            </a:solidFill>
            <a:prstDash val="solid"/>
          </a:ln>
        </p:spPr>
      </p:sp>
      <p:sp>
        <p:nvSpPr>
          <p:cNvPr id="14" name="Text 11"/>
          <p:cNvSpPr txBox="1"/>
          <p:nvPr/>
        </p:nvSpPr>
        <p:spPr>
          <a:xfrm>
            <a:off x="822960" y="384048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3</a:t>
            </a:r>
            <a:endParaRPr lang="en-US" sz="2800" dirty="0"/>
          </a:p>
        </p:txBody>
      </p:sp>
      <p:sp>
        <p:nvSpPr>
          <p:cNvPr id="15" name="Text 12"/>
          <p:cNvSpPr txBox="1"/>
          <p:nvPr/>
        </p:nvSpPr>
        <p:spPr>
          <a:xfrm>
            <a:off x="1554480" y="397764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Metodología y arquitectura</a:t>
            </a:r>
            <a:endParaRPr lang="en-US" sz="2000" dirty="0"/>
          </a:p>
        </p:txBody>
      </p:sp>
      <p:sp>
        <p:nvSpPr>
          <p:cNvPr id="16" name="Text 13"/>
          <p:cNvSpPr txBox="1"/>
          <p:nvPr/>
        </p:nvSpPr>
        <p:spPr>
          <a:xfrm>
            <a:off x="1554480" y="438912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Método, herramientas y capas</a:t>
            </a:r>
            <a:endParaRPr lang="en-US" sz="1400" dirty="0"/>
          </a:p>
        </p:txBody>
      </p:sp>
      <p:sp>
        <p:nvSpPr>
          <p:cNvPr id="17" name="Bloque 4"/>
          <p:cNvSpPr/>
          <p:nvPr/>
        </p:nvSpPr>
        <p:spPr>
          <a:xfrm>
            <a:off x="548640" y="4937760"/>
            <a:ext cx="5477256" cy="960120"/>
          </a:xfrm>
          <a:prstGeom prst="rect">
            <a:avLst/>
          </a:prstGeom>
          <a:solidFill>
            <a:schemeClr val="tx2"/>
          </a:solidFill>
          <a:ln w="9525">
            <a:solidFill>
              <a:schemeClr val="accent2"/>
            </a:solidFill>
            <a:prstDash val="solid"/>
          </a:ln>
        </p:spPr>
      </p:sp>
      <p:sp>
        <p:nvSpPr>
          <p:cNvPr id="18" name="Text 15"/>
          <p:cNvSpPr txBox="1"/>
          <p:nvPr/>
        </p:nvSpPr>
        <p:spPr>
          <a:xfrm>
            <a:off x="822960" y="493776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4</a:t>
            </a:r>
            <a:endParaRPr lang="en-US" sz="2800" dirty="0"/>
          </a:p>
        </p:txBody>
      </p:sp>
      <p:sp>
        <p:nvSpPr>
          <p:cNvPr id="19" name="Text 16"/>
          <p:cNvSpPr txBox="1"/>
          <p:nvPr/>
        </p:nvSpPr>
        <p:spPr>
          <a:xfrm>
            <a:off x="1554480" y="507492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Infraestructura</a:t>
            </a:r>
            <a:endParaRPr lang="en-US" sz="2000" dirty="0"/>
          </a:p>
        </p:txBody>
      </p:sp>
      <p:sp>
        <p:nvSpPr>
          <p:cNvPr id="20" name="Text 17"/>
          <p:cNvSpPr txBox="1"/>
          <p:nvPr/>
        </p:nvSpPr>
        <p:spPr>
          <a:xfrm>
            <a:off x="1554480" y="548640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Clúster, servicios y almacenamiento</a:t>
            </a:r>
            <a:endParaRPr lang="en-US" sz="1400" dirty="0"/>
          </a:p>
        </p:txBody>
      </p:sp>
      <p:sp>
        <p:nvSpPr>
          <p:cNvPr id="21" name="Bloque 5"/>
          <p:cNvSpPr/>
          <p:nvPr/>
        </p:nvSpPr>
        <p:spPr>
          <a:xfrm>
            <a:off x="6163056" y="1645920"/>
            <a:ext cx="5477256" cy="960120"/>
          </a:xfrm>
          <a:prstGeom prst="rect">
            <a:avLst/>
          </a:prstGeom>
          <a:solidFill>
            <a:schemeClr val="tx2"/>
          </a:solidFill>
          <a:ln w="9525">
            <a:solidFill>
              <a:schemeClr val="accent2"/>
            </a:solidFill>
            <a:prstDash val="solid"/>
          </a:ln>
        </p:spPr>
      </p:sp>
      <p:sp>
        <p:nvSpPr>
          <p:cNvPr id="22" name="Text 19"/>
          <p:cNvSpPr txBox="1"/>
          <p:nvPr/>
        </p:nvSpPr>
        <p:spPr>
          <a:xfrm>
            <a:off x="6437376" y="164592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5</a:t>
            </a:r>
            <a:endParaRPr lang="en-US" sz="2800" dirty="0"/>
          </a:p>
        </p:txBody>
      </p:sp>
      <p:sp>
        <p:nvSpPr>
          <p:cNvPr id="23" name="Text 20"/>
          <p:cNvSpPr txBox="1"/>
          <p:nvPr/>
        </p:nvSpPr>
        <p:spPr>
          <a:xfrm>
            <a:off x="7168896" y="178308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Ingesta de datos</a:t>
            </a:r>
            <a:endParaRPr lang="en-US" sz="2000" dirty="0"/>
          </a:p>
        </p:txBody>
      </p:sp>
      <p:sp>
        <p:nvSpPr>
          <p:cNvPr id="24" name="Text 21"/>
          <p:cNvSpPr txBox="1"/>
          <p:nvPr/>
        </p:nvSpPr>
        <p:spPr>
          <a:xfrm>
            <a:off x="7168896" y="219456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ORCID, CVN y bronze</a:t>
            </a:r>
            <a:endParaRPr lang="en-US" sz="1400" dirty="0"/>
          </a:p>
        </p:txBody>
      </p:sp>
      <p:sp>
        <p:nvSpPr>
          <p:cNvPr id="25" name="Bloque 6"/>
          <p:cNvSpPr/>
          <p:nvPr/>
        </p:nvSpPr>
        <p:spPr>
          <a:xfrm>
            <a:off x="6163056" y="2743200"/>
            <a:ext cx="5477256" cy="960120"/>
          </a:xfrm>
          <a:prstGeom prst="rect">
            <a:avLst/>
          </a:prstGeom>
          <a:solidFill>
            <a:schemeClr val="tx2"/>
          </a:solidFill>
          <a:ln w="9525">
            <a:solidFill>
              <a:schemeClr val="accent2"/>
            </a:solidFill>
            <a:prstDash val="solid"/>
          </a:ln>
        </p:spPr>
      </p:sp>
      <p:sp>
        <p:nvSpPr>
          <p:cNvPr id="26" name="Text 23"/>
          <p:cNvSpPr txBox="1"/>
          <p:nvPr/>
        </p:nvSpPr>
        <p:spPr>
          <a:xfrm>
            <a:off x="6437376" y="274320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6</a:t>
            </a:r>
            <a:endParaRPr lang="en-US" sz="2800" dirty="0"/>
          </a:p>
        </p:txBody>
      </p:sp>
      <p:sp>
        <p:nvSpPr>
          <p:cNvPr id="27" name="Text 24"/>
          <p:cNvSpPr txBox="1"/>
          <p:nvPr/>
        </p:nvSpPr>
        <p:spPr>
          <a:xfrm>
            <a:off x="7168896" y="288036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Procesamiento distribuido</a:t>
            </a:r>
            <a:endParaRPr lang="en-US" sz="2000" dirty="0"/>
          </a:p>
        </p:txBody>
      </p:sp>
      <p:sp>
        <p:nvSpPr>
          <p:cNvPr id="28" name="Text 25"/>
          <p:cNvSpPr txBox="1"/>
          <p:nvPr/>
        </p:nvSpPr>
        <p:spPr>
          <a:xfrm>
            <a:off x="7168896" y="329184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Silver, identidad y gold</a:t>
            </a:r>
            <a:endParaRPr lang="en-US" sz="1400" dirty="0"/>
          </a:p>
        </p:txBody>
      </p:sp>
      <p:sp>
        <p:nvSpPr>
          <p:cNvPr id="29" name="Bloque 7"/>
          <p:cNvSpPr/>
          <p:nvPr/>
        </p:nvSpPr>
        <p:spPr>
          <a:xfrm>
            <a:off x="6163056" y="3840480"/>
            <a:ext cx="5477256" cy="960120"/>
          </a:xfrm>
          <a:prstGeom prst="rect">
            <a:avLst/>
          </a:prstGeom>
          <a:solidFill>
            <a:schemeClr val="tx2"/>
          </a:solidFill>
          <a:ln w="9525">
            <a:solidFill>
              <a:schemeClr val="accent2"/>
            </a:solidFill>
            <a:prstDash val="solid"/>
          </a:ln>
        </p:spPr>
      </p:sp>
      <p:sp>
        <p:nvSpPr>
          <p:cNvPr id="30" name="Text 27"/>
          <p:cNvSpPr txBox="1"/>
          <p:nvPr/>
        </p:nvSpPr>
        <p:spPr>
          <a:xfrm>
            <a:off x="6437376" y="384048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7</a:t>
            </a:r>
            <a:endParaRPr lang="en-US" sz="2800" dirty="0"/>
          </a:p>
        </p:txBody>
      </p:sp>
      <p:sp>
        <p:nvSpPr>
          <p:cNvPr id="31" name="Text 28"/>
          <p:cNvSpPr txBox="1"/>
          <p:nvPr/>
        </p:nvSpPr>
        <p:spPr>
          <a:xfrm>
            <a:off x="7168896" y="397764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Evaluación y resultados</a:t>
            </a:r>
            <a:endParaRPr lang="en-US" sz="2000" dirty="0"/>
          </a:p>
        </p:txBody>
      </p:sp>
      <p:sp>
        <p:nvSpPr>
          <p:cNvPr id="32" name="Text 29"/>
          <p:cNvSpPr txBox="1"/>
          <p:nvPr/>
        </p:nvSpPr>
        <p:spPr>
          <a:xfrm>
            <a:off x="7168896" y="438912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Panel, rendimiento y robustez</a:t>
            </a:r>
            <a:endParaRPr lang="en-US" sz="1400" dirty="0"/>
          </a:p>
        </p:txBody>
      </p:sp>
      <p:sp>
        <p:nvSpPr>
          <p:cNvPr id="33" name="Bloque 8"/>
          <p:cNvSpPr/>
          <p:nvPr/>
        </p:nvSpPr>
        <p:spPr>
          <a:xfrm>
            <a:off x="6163056" y="4937760"/>
            <a:ext cx="5477256" cy="960120"/>
          </a:xfrm>
          <a:prstGeom prst="rect">
            <a:avLst/>
          </a:prstGeom>
          <a:solidFill>
            <a:schemeClr val="tx2"/>
          </a:solidFill>
          <a:ln w="9525">
            <a:solidFill>
              <a:schemeClr val="accent2"/>
            </a:solidFill>
            <a:prstDash val="solid"/>
          </a:ln>
        </p:spPr>
      </p:sp>
      <p:sp>
        <p:nvSpPr>
          <p:cNvPr id="34" name="Text 31"/>
          <p:cNvSpPr txBox="1"/>
          <p:nvPr/>
        </p:nvSpPr>
        <p:spPr>
          <a:xfrm>
            <a:off x="6437376" y="493776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8</a:t>
            </a:r>
            <a:endParaRPr lang="en-US" sz="2800" dirty="0"/>
          </a:p>
        </p:txBody>
      </p:sp>
      <p:sp>
        <p:nvSpPr>
          <p:cNvPr id="35" name="Text 32"/>
          <p:cNvSpPr txBox="1"/>
          <p:nvPr/>
        </p:nvSpPr>
        <p:spPr>
          <a:xfrm>
            <a:off x="7168896" y="507492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Conclusiones y trabajo futuro</a:t>
            </a:r>
            <a:endParaRPr lang="en-US" sz="2000" dirty="0"/>
          </a:p>
        </p:txBody>
      </p:sp>
      <p:sp>
        <p:nvSpPr>
          <p:cNvPr id="36" name="Text 33"/>
          <p:cNvSpPr txBox="1"/>
          <p:nvPr/>
        </p:nvSpPr>
        <p:spPr>
          <a:xfrm>
            <a:off x="7168896" y="548640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Cumplimiento, límites y futuro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1 · MOTIVACIÓN Y CONTEXTO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El TFG resolvió el formato; falta la escala</a:t>
            </a:r>
            <a:endParaRPr lang="en-US" sz="3200" dirty="0"/>
          </a:p>
        </p:txBody>
      </p:sp>
      <p:sp>
        <p:nvSpPr>
          <p:cNvPr id="5" name="Tarjeta TFG"/>
          <p:cNvSpPr/>
          <p:nvPr/>
        </p:nvSpPr>
        <p:spPr>
          <a:xfrm>
            <a:off x="548640" y="1691640"/>
            <a:ext cx="5029200" cy="3017520"/>
          </a:xfrm>
          <a:prstGeom prst="rect">
            <a:avLst/>
          </a:prstGeom>
          <a:solidFill>
            <a:schemeClr val="tx2"/>
          </a:solidFill>
          <a:ln w="9525">
            <a:solidFill>
              <a:schemeClr val="accent2"/>
            </a:solidFill>
            <a:prstDash val="solid"/>
          </a:ln>
        </p:spPr>
      </p:sp>
      <p:sp>
        <p:nvSpPr>
          <p:cNvPr id="6" name="Text 3"/>
          <p:cNvSpPr txBox="1"/>
          <p:nvPr/>
        </p:nvSpPr>
        <p:spPr>
          <a:xfrm>
            <a:off x="822960" y="1874520"/>
            <a:ext cx="438912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TFG · CERRADO</a:t>
            </a:r>
            <a:endParaRPr lang="en-US" sz="1200" dirty="0"/>
          </a:p>
        </p:txBody>
      </p:sp>
      <p:sp>
        <p:nvSpPr>
          <p:cNvPr id="7" name="Text 4"/>
          <p:cNvSpPr txBox="1"/>
          <p:nvPr/>
        </p:nvSpPr>
        <p:spPr>
          <a:xfrm>
            <a:off x="822960" y="2286000"/>
            <a:ext cx="4480560" cy="2286000"/>
          </a:xfrm>
          <a:prstGeom prst="rect">
            <a:avLst/>
          </a:prstGeom>
          <a:noFill/>
          <a:ln/>
        </p:spPr>
        <p:txBody>
          <a:bodyPr wrap="square" lIns="0" tIns="0" rIns="0" bIns="0" rtlCol="0" anchor="t"/>
          <a:lstStyle/>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Capa estructural reproducible, generada de los esquemas oficiales de CVN</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Formato abierto Open CVN JSON, con su esquema</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Contrato de validación y convenciones de procedencia</a:t>
            </a:r>
            <a:endParaRPr lang="en-US" sz="1700" dirty="0"/>
          </a:p>
        </p:txBody>
      </p:sp>
      <p:sp>
        <p:nvSpPr>
          <p:cNvPr id="8" name="Flecha TFG a TFM"/>
          <p:cNvSpPr/>
          <p:nvPr/>
        </p:nvSpPr>
        <p:spPr>
          <a:xfrm>
            <a:off x="5760720" y="3200400"/>
            <a:ext cx="758952" cy="0"/>
          </a:xfrm>
          <a:prstGeom prst="line">
            <a:avLst/>
          </a:prstGeom>
          <a:noFill/>
          <a:ln w="25400">
            <a:solidFill>
              <a:schemeClr val="accent1"/>
            </a:solidFill>
            <a:prstDash val="solid"/>
            <a:tailEnd type="triangle"/>
          </a:ln>
        </p:spPr>
      </p:sp>
      <p:sp>
        <p:nvSpPr>
          <p:cNvPr id="9" name="Tarjeta TFM"/>
          <p:cNvSpPr/>
          <p:nvPr/>
        </p:nvSpPr>
        <p:spPr>
          <a:xfrm>
            <a:off x="6611112" y="1691640"/>
            <a:ext cx="5029200" cy="3017520"/>
          </a:xfrm>
          <a:prstGeom prst="rect">
            <a:avLst/>
          </a:prstGeom>
          <a:solidFill>
            <a:schemeClr val="tx2"/>
          </a:solidFill>
          <a:ln w="9525">
            <a:solidFill>
              <a:schemeClr val="accent2"/>
            </a:solidFill>
            <a:prstDash val="solid"/>
          </a:ln>
        </p:spPr>
      </p:sp>
      <p:sp>
        <p:nvSpPr>
          <p:cNvPr id="10" name="Text 7"/>
          <p:cNvSpPr txBox="1"/>
          <p:nvPr/>
        </p:nvSpPr>
        <p:spPr>
          <a:xfrm>
            <a:off x="6885432" y="1874520"/>
            <a:ext cx="438912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TFM · ESTE TRABAJO</a:t>
            </a:r>
            <a:endParaRPr lang="en-US" sz="1200" dirty="0"/>
          </a:p>
        </p:txBody>
      </p:sp>
      <p:sp>
        <p:nvSpPr>
          <p:cNvPr id="11" name="Text 8"/>
          <p:cNvSpPr txBox="1"/>
          <p:nvPr/>
        </p:nvSpPr>
        <p:spPr>
          <a:xfrm>
            <a:off x="6885432" y="2286000"/>
            <a:ext cx="4480560" cy="2286000"/>
          </a:xfrm>
          <a:prstGeom prst="rect">
            <a:avLst/>
          </a:prstGeom>
          <a:noFill/>
          <a:ln/>
        </p:spPr>
        <p:txBody>
          <a:bodyPr wrap="square" lIns="0" tIns="0" rIns="0" bIns="0" rtlCol="0" anchor="t"/>
          <a:lstStyle/>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Plataforma que ingiere, fusiona y procesa datos a escala</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Dos fuentes: CVN y ORCID</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Indicadores publicados en un panel de visualización</a:t>
            </a:r>
            <a:endParaRPr lang="en-US" sz="1700" dirty="0"/>
          </a:p>
        </p:txBody>
      </p:sp>
      <p:sp>
        <p:nvSpPr>
          <p:cNvPr id="12" name="Banda de reutilizacion"/>
          <p:cNvSpPr/>
          <p:nvPr/>
        </p:nvSpPr>
        <p:spPr>
          <a:xfrm>
            <a:off x="548640" y="4983480"/>
            <a:ext cx="11091672" cy="1005840"/>
          </a:xfrm>
          <a:prstGeom prst="rect">
            <a:avLst/>
          </a:prstGeom>
          <a:solidFill>
            <a:schemeClr val="tx2"/>
          </a:solidFill>
          <a:ln w="9525">
            <a:solidFill>
              <a:schemeClr val="accent2"/>
            </a:solidFill>
            <a:prstDash val="solid"/>
          </a:ln>
        </p:spPr>
      </p:sp>
      <p:sp>
        <p:nvSpPr>
          <p:cNvPr id="13" name="Text 10"/>
          <p:cNvSpPr txBox="1"/>
          <p:nvPr/>
        </p:nvSpPr>
        <p:spPr>
          <a:xfrm>
            <a:off x="822960" y="5074920"/>
            <a:ext cx="10543032" cy="822960"/>
          </a:xfrm>
          <a:prstGeom prst="rect">
            <a:avLst/>
          </a:prstGeom>
          <a:noFill/>
          <a:ln/>
        </p:spPr>
        <p:txBody>
          <a:bodyPr wrap="square" lIns="0" tIns="0" rIns="0" bIns="0" rtlCol="0" anchor="ctr"/>
          <a:lstStyle/>
          <a:p>
            <a:pPr algn="l" indent="0" marL="0">
              <a:buNone/>
            </a:pPr>
            <a:r>
              <a:rPr lang="en-US" sz="1800" dirty="0">
                <a:solidFill>
                  <a:schemeClr val="bg1"/>
                </a:solidFill>
                <a:latin typeface="Calibri" pitchFamily="34" charset="0"/>
                <a:ea typeface="Calibri" pitchFamily="34" charset="-122"/>
                <a:cs typeface="Calibri" pitchFamily="34" charset="-120"/>
              </a:rPr>
              <a:t>Open CVN se reutiliza como fuente de datos, no como objeto de estudio. Este trabajo cuenta cómo se ingiere, valida y procesa dentro de una plataforma distribuida.</a:t>
            </a:r>
            <a:endParaRPr lang="en-US" sz="18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1 · MOTIVACIÓN Y CONTEXTO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Integrar ORCID y CVN exige cinco requisitos</a:t>
            </a:r>
            <a:endParaRPr lang="en-US" sz="3200" dirty="0"/>
          </a:p>
        </p:txBody>
      </p:sp>
      <p:sp>
        <p:nvSpPr>
          <p:cNvPr id="5" name="Tarjeta CVN"/>
          <p:cNvSpPr/>
          <p:nvPr/>
        </p:nvSpPr>
        <p:spPr>
          <a:xfrm>
            <a:off x="548640" y="1691640"/>
            <a:ext cx="4846320" cy="1463040"/>
          </a:xfrm>
          <a:prstGeom prst="rect">
            <a:avLst/>
          </a:prstGeom>
          <a:solidFill>
            <a:schemeClr val="tx2"/>
          </a:solidFill>
          <a:ln w="9525">
            <a:solidFill>
              <a:schemeClr val="accent2"/>
            </a:solidFill>
            <a:prstDash val="solid"/>
          </a:ln>
        </p:spPr>
      </p:sp>
      <p:sp>
        <p:nvSpPr>
          <p:cNvPr id="6" name="Text 3"/>
          <p:cNvSpPr txBox="1"/>
          <p:nvPr/>
        </p:nvSpPr>
        <p:spPr>
          <a:xfrm>
            <a:off x="777240" y="1810512"/>
            <a:ext cx="4389120" cy="365760"/>
          </a:xfrm>
          <a:prstGeom prst="rect">
            <a:avLst/>
          </a:prstGeom>
          <a:noFill/>
          <a:ln/>
        </p:spPr>
        <p:txBody>
          <a:bodyPr wrap="square" lIns="0" tIns="0" rIns="0" bIns="0" rtlCol="0" anchor="t"/>
          <a:lstStyle/>
          <a:p>
            <a:pPr algn="l" indent="0" marL="0">
              <a:buNone/>
            </a:pPr>
            <a:r>
              <a:rPr lang="en-US" sz="2200" b="1" dirty="0">
                <a:solidFill>
                  <a:schemeClr val="accent1"/>
                </a:solidFill>
                <a:latin typeface="Calibri" pitchFamily="34" charset="0"/>
                <a:ea typeface="Calibri" pitchFamily="34" charset="-122"/>
                <a:cs typeface="Calibri" pitchFamily="34" charset="-120"/>
              </a:rPr>
              <a:t>CVN</a:t>
            </a:r>
            <a:endParaRPr lang="en-US" sz="2200" dirty="0"/>
          </a:p>
        </p:txBody>
      </p:sp>
      <p:sp>
        <p:nvSpPr>
          <p:cNvPr id="7" name="Text 4"/>
          <p:cNvSpPr txBox="1"/>
          <p:nvPr/>
        </p:nvSpPr>
        <p:spPr>
          <a:xfrm>
            <a:off x="777240" y="2240280"/>
            <a:ext cx="4389120" cy="82296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Documento individual y estructurado, pensado para convocatorias y evaluaciones</a:t>
            </a:r>
            <a:endParaRPr lang="en-US" sz="1600" dirty="0"/>
          </a:p>
        </p:txBody>
      </p:sp>
      <p:sp>
        <p:nvSpPr>
          <p:cNvPr id="8" name="Text 5"/>
          <p:cNvSpPr txBox="1"/>
          <p:nvPr/>
        </p:nvSpPr>
        <p:spPr>
          <a:xfrm>
            <a:off x="5394960" y="1691640"/>
            <a:ext cx="1399032" cy="14630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libri" pitchFamily="34" charset="0"/>
                <a:ea typeface="Calibri" pitchFamily="34" charset="-122"/>
                <a:cs typeface="Calibri" pitchFamily="34" charset="-120"/>
              </a:rPr>
              <a:t>+</a:t>
            </a:r>
            <a:endParaRPr lang="en-US" sz="4400" dirty="0"/>
          </a:p>
        </p:txBody>
      </p:sp>
      <p:sp>
        <p:nvSpPr>
          <p:cNvPr id="9" name="Tarjeta ORCID"/>
          <p:cNvSpPr/>
          <p:nvPr/>
        </p:nvSpPr>
        <p:spPr>
          <a:xfrm>
            <a:off x="6793992" y="1691640"/>
            <a:ext cx="4846320" cy="1463040"/>
          </a:xfrm>
          <a:prstGeom prst="rect">
            <a:avLst/>
          </a:prstGeom>
          <a:solidFill>
            <a:schemeClr val="tx2"/>
          </a:solidFill>
          <a:ln w="9525">
            <a:solidFill>
              <a:schemeClr val="accent2"/>
            </a:solidFill>
            <a:prstDash val="solid"/>
          </a:ln>
        </p:spPr>
      </p:sp>
      <p:sp>
        <p:nvSpPr>
          <p:cNvPr id="10" name="Text 7"/>
          <p:cNvSpPr txBox="1"/>
          <p:nvPr/>
        </p:nvSpPr>
        <p:spPr>
          <a:xfrm>
            <a:off x="7022592" y="1810512"/>
            <a:ext cx="4389120" cy="365760"/>
          </a:xfrm>
          <a:prstGeom prst="rect">
            <a:avLst/>
          </a:prstGeom>
          <a:noFill/>
          <a:ln/>
        </p:spPr>
        <p:txBody>
          <a:bodyPr wrap="square" lIns="0" tIns="0" rIns="0" bIns="0" rtlCol="0" anchor="t"/>
          <a:lstStyle/>
          <a:p>
            <a:pPr algn="l" indent="0" marL="0">
              <a:buNone/>
            </a:pPr>
            <a:r>
              <a:rPr lang="en-US" sz="2200" b="1" dirty="0">
                <a:solidFill>
                  <a:schemeClr val="accent1"/>
                </a:solidFill>
                <a:latin typeface="Calibri" pitchFamily="34" charset="0"/>
                <a:ea typeface="Calibri" pitchFamily="34" charset="-122"/>
                <a:cs typeface="Calibri" pitchFamily="34" charset="-120"/>
              </a:rPr>
              <a:t>ORCID</a:t>
            </a:r>
            <a:endParaRPr lang="en-US" sz="2200" dirty="0"/>
          </a:p>
        </p:txBody>
      </p:sp>
      <p:sp>
        <p:nvSpPr>
          <p:cNvPr id="11" name="Text 8"/>
          <p:cNvSpPr txBox="1"/>
          <p:nvPr/>
        </p:nvSpPr>
        <p:spPr>
          <a:xfrm>
            <a:off x="7022592" y="2240280"/>
            <a:ext cx="4389120" cy="82296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Registro público a escala global: más de 26 millones de perfiles en su fichero de 2025</a:t>
            </a:r>
            <a:endParaRPr lang="en-US" sz="1600" dirty="0"/>
          </a:p>
        </p:txBody>
      </p:sp>
      <p:sp>
        <p:nvSpPr>
          <p:cNvPr id="12" name="Text 9"/>
          <p:cNvSpPr txBox="1"/>
          <p:nvPr/>
        </p:nvSpPr>
        <p:spPr>
          <a:xfrm>
            <a:off x="548640" y="3383280"/>
            <a:ext cx="11091672" cy="594360"/>
          </a:xfrm>
          <a:prstGeom prst="rect">
            <a:avLst/>
          </a:prstGeom>
          <a:noFill/>
          <a:ln/>
        </p:spPr>
        <p:txBody>
          <a:bodyPr wrap="square" lIns="0" tIns="0" rIns="0" bIns="0" rtlCol="0" anchor="ctr"/>
          <a:lstStyle/>
          <a:p>
            <a:pPr algn="l" indent="0" marL="0">
              <a:buNone/>
            </a:pPr>
            <a:r>
              <a:rPr lang="en-US" sz="1800" b="1" dirty="0">
                <a:solidFill>
                  <a:schemeClr val="bg1"/>
                </a:solidFill>
                <a:latin typeface="Calibri" pitchFamily="34" charset="0"/>
                <a:ea typeface="Calibri" pitchFamily="34" charset="-122"/>
                <a:cs typeface="Calibri" pitchFamily="34" charset="-120"/>
              </a:rPr>
              <a:t>Este trabajo las integra en una plataforma abierta, autoalojada y reproducible, y publica indicadores agregados.</a:t>
            </a:r>
            <a:endParaRPr lang="en-US" sz="1800" dirty="0"/>
          </a:p>
        </p:txBody>
      </p:sp>
      <p:sp>
        <p:nvSpPr>
          <p:cNvPr id="13" name="Text 10"/>
          <p:cNvSpPr txBox="1"/>
          <p:nvPr/>
        </p:nvSpPr>
        <p:spPr>
          <a:xfrm>
            <a:off x="548640" y="4160520"/>
            <a:ext cx="73152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INTEGRARLAS EXIGE · BLOQUE QUE LO DESARROLLA</a:t>
            </a:r>
            <a:endParaRPr lang="en-US" sz="1200" dirty="0"/>
          </a:p>
        </p:txBody>
      </p:sp>
      <p:sp>
        <p:nvSpPr>
          <p:cNvPr id="14" name="Requisito 1"/>
          <p:cNvSpPr/>
          <p:nvPr/>
        </p:nvSpPr>
        <p:spPr>
          <a:xfrm>
            <a:off x="548640" y="4480560"/>
            <a:ext cx="2108606" cy="1508760"/>
          </a:xfrm>
          <a:prstGeom prst="rect">
            <a:avLst/>
          </a:prstGeom>
          <a:solidFill>
            <a:schemeClr val="tx2"/>
          </a:solidFill>
          <a:ln w="9525">
            <a:solidFill>
              <a:schemeClr val="accent2"/>
            </a:solidFill>
            <a:prstDash val="solid"/>
          </a:ln>
        </p:spPr>
      </p:sp>
      <p:sp>
        <p:nvSpPr>
          <p:cNvPr id="15" name="Text 12"/>
          <p:cNvSpPr txBox="1"/>
          <p:nvPr/>
        </p:nvSpPr>
        <p:spPr>
          <a:xfrm>
            <a:off x="685800"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Almacenamiento escalable</a:t>
            </a:r>
            <a:endParaRPr lang="en-US" sz="1500" dirty="0"/>
          </a:p>
        </p:txBody>
      </p:sp>
      <p:sp>
        <p:nvSpPr>
          <p:cNvPr id="16" name="Text 13"/>
          <p:cNvSpPr txBox="1"/>
          <p:nvPr/>
        </p:nvSpPr>
        <p:spPr>
          <a:xfrm>
            <a:off x="685800"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4</a:t>
            </a:r>
            <a:endParaRPr lang="en-US" sz="1000" dirty="0"/>
          </a:p>
        </p:txBody>
      </p:sp>
      <p:sp>
        <p:nvSpPr>
          <p:cNvPr id="17" name="Requisito 2"/>
          <p:cNvSpPr/>
          <p:nvPr/>
        </p:nvSpPr>
        <p:spPr>
          <a:xfrm>
            <a:off x="2794406" y="4480560"/>
            <a:ext cx="2108606" cy="1508760"/>
          </a:xfrm>
          <a:prstGeom prst="rect">
            <a:avLst/>
          </a:prstGeom>
          <a:solidFill>
            <a:schemeClr val="tx2"/>
          </a:solidFill>
          <a:ln w="9525">
            <a:solidFill>
              <a:schemeClr val="accent2"/>
            </a:solidFill>
            <a:prstDash val="solid"/>
          </a:ln>
        </p:spPr>
      </p:sp>
      <p:sp>
        <p:nvSpPr>
          <p:cNvPr id="18" name="Text 15"/>
          <p:cNvSpPr txBox="1"/>
          <p:nvPr/>
        </p:nvSpPr>
        <p:spPr>
          <a:xfrm>
            <a:off x="2931566"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Formato de tabla con evolución de esquema y trazabilidad</a:t>
            </a:r>
            <a:endParaRPr lang="en-US" sz="1500" dirty="0"/>
          </a:p>
        </p:txBody>
      </p:sp>
      <p:sp>
        <p:nvSpPr>
          <p:cNvPr id="19" name="Text 16"/>
          <p:cNvSpPr txBox="1"/>
          <p:nvPr/>
        </p:nvSpPr>
        <p:spPr>
          <a:xfrm>
            <a:off x="2931566"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4</a:t>
            </a:r>
            <a:endParaRPr lang="en-US" sz="1000" dirty="0"/>
          </a:p>
        </p:txBody>
      </p:sp>
      <p:sp>
        <p:nvSpPr>
          <p:cNvPr id="20" name="Requisito 3"/>
          <p:cNvSpPr/>
          <p:nvPr/>
        </p:nvSpPr>
        <p:spPr>
          <a:xfrm>
            <a:off x="5040173" y="4480560"/>
            <a:ext cx="2108606" cy="1508760"/>
          </a:xfrm>
          <a:prstGeom prst="rect">
            <a:avLst/>
          </a:prstGeom>
          <a:solidFill>
            <a:schemeClr val="tx2"/>
          </a:solidFill>
          <a:ln w="9525">
            <a:solidFill>
              <a:schemeClr val="accent2"/>
            </a:solidFill>
            <a:prstDash val="solid"/>
          </a:ln>
        </p:spPr>
      </p:sp>
      <p:sp>
        <p:nvSpPr>
          <p:cNvPr id="21" name="Text 18"/>
          <p:cNvSpPr txBox="1"/>
          <p:nvPr/>
        </p:nvSpPr>
        <p:spPr>
          <a:xfrm>
            <a:off x="5177333"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Orquestación reproducible de flujos</a:t>
            </a:r>
            <a:endParaRPr lang="en-US" sz="1500" dirty="0"/>
          </a:p>
        </p:txBody>
      </p:sp>
      <p:sp>
        <p:nvSpPr>
          <p:cNvPr id="22" name="Text 19"/>
          <p:cNvSpPr txBox="1"/>
          <p:nvPr/>
        </p:nvSpPr>
        <p:spPr>
          <a:xfrm>
            <a:off x="5177333"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BLOQUES 4 Y 5</a:t>
            </a:r>
            <a:endParaRPr lang="en-US" sz="1000" dirty="0"/>
          </a:p>
        </p:txBody>
      </p:sp>
      <p:sp>
        <p:nvSpPr>
          <p:cNvPr id="23" name="Requisito 4"/>
          <p:cNvSpPr/>
          <p:nvPr/>
        </p:nvSpPr>
        <p:spPr>
          <a:xfrm>
            <a:off x="7285939" y="4480560"/>
            <a:ext cx="2108606" cy="1508760"/>
          </a:xfrm>
          <a:prstGeom prst="rect">
            <a:avLst/>
          </a:prstGeom>
          <a:solidFill>
            <a:schemeClr val="tx2"/>
          </a:solidFill>
          <a:ln w="9525">
            <a:solidFill>
              <a:schemeClr val="accent2"/>
            </a:solidFill>
            <a:prstDash val="solid"/>
          </a:ln>
        </p:spPr>
      </p:sp>
      <p:sp>
        <p:nvSpPr>
          <p:cNvPr id="24" name="Text 21"/>
          <p:cNvSpPr txBox="1"/>
          <p:nvPr/>
        </p:nvSpPr>
        <p:spPr>
          <a:xfrm>
            <a:off x="7423099"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Procesamiento distribuido tolerante a fallos</a:t>
            </a:r>
            <a:endParaRPr lang="en-US" sz="1500" dirty="0"/>
          </a:p>
        </p:txBody>
      </p:sp>
      <p:sp>
        <p:nvSpPr>
          <p:cNvPr id="25" name="Text 22"/>
          <p:cNvSpPr txBox="1"/>
          <p:nvPr/>
        </p:nvSpPr>
        <p:spPr>
          <a:xfrm>
            <a:off x="7423099"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6</a:t>
            </a:r>
            <a:endParaRPr lang="en-US" sz="1000" dirty="0"/>
          </a:p>
        </p:txBody>
      </p:sp>
      <p:sp>
        <p:nvSpPr>
          <p:cNvPr id="26" name="Requisito 5"/>
          <p:cNvSpPr/>
          <p:nvPr/>
        </p:nvSpPr>
        <p:spPr>
          <a:xfrm>
            <a:off x="9531706" y="4480560"/>
            <a:ext cx="2108606" cy="1508760"/>
          </a:xfrm>
          <a:prstGeom prst="rect">
            <a:avLst/>
          </a:prstGeom>
          <a:solidFill>
            <a:schemeClr val="tx2"/>
          </a:solidFill>
          <a:ln w="9525">
            <a:solidFill>
              <a:schemeClr val="accent2"/>
            </a:solidFill>
            <a:prstDash val="solid"/>
          </a:ln>
        </p:spPr>
      </p:sp>
      <p:sp>
        <p:nvSpPr>
          <p:cNvPr id="27" name="Text 24"/>
          <p:cNvSpPr txBox="1"/>
          <p:nvPr/>
        </p:nvSpPr>
        <p:spPr>
          <a:xfrm>
            <a:off x="9668866"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Resolución de identidad entre fuentes</a:t>
            </a:r>
            <a:endParaRPr lang="en-US" sz="1500" dirty="0"/>
          </a:p>
        </p:txBody>
      </p:sp>
      <p:sp>
        <p:nvSpPr>
          <p:cNvPr id="28" name="Text 25"/>
          <p:cNvSpPr txBox="1"/>
          <p:nvPr/>
        </p:nvSpPr>
        <p:spPr>
          <a:xfrm>
            <a:off x="9668866"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6</a:t>
            </a:r>
            <a:endParaRPr lang="en-US" sz="10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2 · OBJETIVOS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Nueve objetivos en cuatro bloques de trabajo</a:t>
            </a:r>
            <a:endParaRPr lang="en-US" sz="3200" dirty="0"/>
          </a:p>
        </p:txBody>
      </p:sp>
      <p:sp>
        <p:nvSpPr>
          <p:cNvPr id="5" name="Objetivo general"/>
          <p:cNvSpPr/>
          <p:nvPr/>
        </p:nvSpPr>
        <p:spPr>
          <a:xfrm>
            <a:off x="548640" y="1645920"/>
            <a:ext cx="11091672" cy="1188720"/>
          </a:xfrm>
          <a:prstGeom prst="rect">
            <a:avLst/>
          </a:prstGeom>
          <a:solidFill>
            <a:schemeClr val="tx2"/>
          </a:solidFill>
          <a:ln w="9525">
            <a:solidFill>
              <a:schemeClr val="accent2"/>
            </a:solidFill>
            <a:prstDash val="solid"/>
          </a:ln>
        </p:spPr>
      </p:sp>
      <p:sp>
        <p:nvSpPr>
          <p:cNvPr id="6" name="Text 3"/>
          <p:cNvSpPr txBox="1"/>
          <p:nvPr/>
        </p:nvSpPr>
        <p:spPr>
          <a:xfrm>
            <a:off x="777240" y="1755648"/>
            <a:ext cx="3657600"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OBJETIVO GENERAL</a:t>
            </a:r>
            <a:endParaRPr lang="en-US" sz="1200" dirty="0"/>
          </a:p>
        </p:txBody>
      </p:sp>
      <p:sp>
        <p:nvSpPr>
          <p:cNvPr id="7" name="Text 4"/>
          <p:cNvSpPr txBox="1"/>
          <p:nvPr/>
        </p:nvSpPr>
        <p:spPr>
          <a:xfrm>
            <a:off x="777240" y="2029968"/>
            <a:ext cx="10634472" cy="77724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Diseñar, desplegar y evaluar una plataforma que integre CVN y ORCID, los procese de forma distribuida con resolución de identidad entre fuentes y publique indicadores en un panel, evaluada con un benchmark de rendimiento acotado.</a:t>
            </a:r>
            <a:endParaRPr lang="en-US" sz="1600" dirty="0"/>
          </a:p>
        </p:txBody>
      </p:sp>
      <p:sp>
        <p:nvSpPr>
          <p:cNvPr id="8" name="OE1"/>
          <p:cNvSpPr/>
          <p:nvPr/>
        </p:nvSpPr>
        <p:spPr>
          <a:xfrm>
            <a:off x="548640" y="3017520"/>
            <a:ext cx="3605784" cy="914400"/>
          </a:xfrm>
          <a:prstGeom prst="rect">
            <a:avLst/>
          </a:prstGeom>
          <a:solidFill>
            <a:schemeClr val="tx2"/>
          </a:solidFill>
          <a:ln w="9525">
            <a:solidFill>
              <a:schemeClr val="accent2"/>
            </a:solidFill>
            <a:prstDash val="solid"/>
          </a:ln>
        </p:spPr>
      </p:sp>
      <p:sp>
        <p:nvSpPr>
          <p:cNvPr id="9" name="Text 6"/>
          <p:cNvSpPr txBox="1"/>
          <p:nvPr/>
        </p:nvSpPr>
        <p:spPr>
          <a:xfrm>
            <a:off x="685800" y="3090672"/>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OE1 · BLOQUE 4</a:t>
            </a:r>
            <a:endParaRPr lang="en-US" sz="1200" dirty="0"/>
          </a:p>
        </p:txBody>
      </p:sp>
      <p:sp>
        <p:nvSpPr>
          <p:cNvPr id="10" name="Text 7"/>
          <p:cNvSpPr txBox="1"/>
          <p:nvPr/>
        </p:nvSpPr>
        <p:spPr>
          <a:xfrm>
            <a:off x="685800" y="3346704"/>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Desplegar la infraestructura base de la plataforma</a:t>
            </a:r>
            <a:endParaRPr lang="en-US" sz="1400" dirty="0"/>
          </a:p>
        </p:txBody>
      </p:sp>
      <p:sp>
        <p:nvSpPr>
          <p:cNvPr id="11" name="OE2"/>
          <p:cNvSpPr/>
          <p:nvPr/>
        </p:nvSpPr>
        <p:spPr>
          <a:xfrm>
            <a:off x="4291584" y="3017520"/>
            <a:ext cx="3605784" cy="914400"/>
          </a:xfrm>
          <a:prstGeom prst="rect">
            <a:avLst/>
          </a:prstGeom>
          <a:solidFill>
            <a:schemeClr val="tx2"/>
          </a:solidFill>
          <a:ln w="9525">
            <a:solidFill>
              <a:schemeClr val="accent2"/>
            </a:solidFill>
            <a:prstDash val="solid"/>
          </a:ln>
        </p:spPr>
      </p:sp>
      <p:sp>
        <p:nvSpPr>
          <p:cNvPr id="12" name="Text 9"/>
          <p:cNvSpPr txBox="1"/>
          <p:nvPr/>
        </p:nvSpPr>
        <p:spPr>
          <a:xfrm>
            <a:off x="4428744" y="3090672"/>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OE2 · BLOQUE 4</a:t>
            </a:r>
            <a:endParaRPr lang="en-US" sz="1200" dirty="0"/>
          </a:p>
        </p:txBody>
      </p:sp>
      <p:sp>
        <p:nvSpPr>
          <p:cNvPr id="13" name="Text 10"/>
          <p:cNvSpPr txBox="1"/>
          <p:nvPr/>
        </p:nvSpPr>
        <p:spPr>
          <a:xfrm>
            <a:off x="4428744" y="3346704"/>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Validar de extremo a extremo el procesamiento distribuido</a:t>
            </a:r>
            <a:endParaRPr lang="en-US" sz="1400" dirty="0"/>
          </a:p>
        </p:txBody>
      </p:sp>
      <p:sp>
        <p:nvSpPr>
          <p:cNvPr id="14" name="OE3"/>
          <p:cNvSpPr/>
          <p:nvPr/>
        </p:nvSpPr>
        <p:spPr>
          <a:xfrm>
            <a:off x="8034528" y="3017520"/>
            <a:ext cx="3605784" cy="914400"/>
          </a:xfrm>
          <a:prstGeom prst="rect">
            <a:avLst/>
          </a:prstGeom>
          <a:solidFill>
            <a:schemeClr val="tx2"/>
          </a:solidFill>
          <a:ln w="9525">
            <a:solidFill>
              <a:schemeClr val="accent2"/>
            </a:solidFill>
            <a:prstDash val="solid"/>
          </a:ln>
        </p:spPr>
      </p:sp>
      <p:sp>
        <p:nvSpPr>
          <p:cNvPr id="15" name="Text 12"/>
          <p:cNvSpPr txBox="1"/>
          <p:nvPr/>
        </p:nvSpPr>
        <p:spPr>
          <a:xfrm>
            <a:off x="8171688" y="3090672"/>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OE3 · BLOQUE 5</a:t>
            </a:r>
            <a:endParaRPr lang="en-US" sz="1200" dirty="0"/>
          </a:p>
        </p:txBody>
      </p:sp>
      <p:sp>
        <p:nvSpPr>
          <p:cNvPr id="16" name="Text 13"/>
          <p:cNvSpPr txBox="1"/>
          <p:nvPr/>
        </p:nvSpPr>
        <p:spPr>
          <a:xfrm>
            <a:off x="8171688" y="3346704"/>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Incorporar datos reales de ORCID</a:t>
            </a:r>
            <a:endParaRPr lang="en-US" sz="1400" dirty="0"/>
          </a:p>
        </p:txBody>
      </p:sp>
      <p:sp>
        <p:nvSpPr>
          <p:cNvPr id="17" name="OE4"/>
          <p:cNvSpPr/>
          <p:nvPr/>
        </p:nvSpPr>
        <p:spPr>
          <a:xfrm>
            <a:off x="548640" y="4041648"/>
            <a:ext cx="3605784" cy="914400"/>
          </a:xfrm>
          <a:prstGeom prst="rect">
            <a:avLst/>
          </a:prstGeom>
          <a:solidFill>
            <a:schemeClr val="tx2"/>
          </a:solidFill>
          <a:ln w="9525">
            <a:solidFill>
              <a:schemeClr val="accent2"/>
            </a:solidFill>
            <a:prstDash val="solid"/>
          </a:ln>
        </p:spPr>
      </p:sp>
      <p:sp>
        <p:nvSpPr>
          <p:cNvPr id="18" name="Text 15"/>
          <p:cNvSpPr txBox="1"/>
          <p:nvPr/>
        </p:nvSpPr>
        <p:spPr>
          <a:xfrm>
            <a:off x="685800" y="4114800"/>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OE4 · BLOQUE 5</a:t>
            </a:r>
            <a:endParaRPr lang="en-US" sz="1200" dirty="0"/>
          </a:p>
        </p:txBody>
      </p:sp>
      <p:sp>
        <p:nvSpPr>
          <p:cNvPr id="19" name="Text 16"/>
          <p:cNvSpPr txBox="1"/>
          <p:nvPr/>
        </p:nvSpPr>
        <p:spPr>
          <a:xfrm>
            <a:off x="685800" y="4370832"/>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Incorporar CVN validados frente al formato Open CVN</a:t>
            </a:r>
            <a:endParaRPr lang="en-US" sz="1400" dirty="0"/>
          </a:p>
        </p:txBody>
      </p:sp>
      <p:sp>
        <p:nvSpPr>
          <p:cNvPr id="20" name="OE5"/>
          <p:cNvSpPr/>
          <p:nvPr/>
        </p:nvSpPr>
        <p:spPr>
          <a:xfrm>
            <a:off x="4291584" y="4041648"/>
            <a:ext cx="3605784" cy="914400"/>
          </a:xfrm>
          <a:prstGeom prst="rect">
            <a:avLst/>
          </a:prstGeom>
          <a:solidFill>
            <a:schemeClr val="tx2"/>
          </a:solidFill>
          <a:ln w="9525">
            <a:solidFill>
              <a:schemeClr val="accent2"/>
            </a:solidFill>
            <a:prstDash val="solid"/>
          </a:ln>
        </p:spPr>
      </p:sp>
      <p:sp>
        <p:nvSpPr>
          <p:cNvPr id="21" name="Text 18"/>
          <p:cNvSpPr txBox="1"/>
          <p:nvPr/>
        </p:nvSpPr>
        <p:spPr>
          <a:xfrm>
            <a:off x="4428744" y="4114800"/>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OE5 · BLOQUE 6</a:t>
            </a:r>
            <a:endParaRPr lang="en-US" sz="1200" dirty="0"/>
          </a:p>
        </p:txBody>
      </p:sp>
      <p:sp>
        <p:nvSpPr>
          <p:cNvPr id="22" name="Text 19"/>
          <p:cNvSpPr txBox="1"/>
          <p:nvPr/>
        </p:nvSpPr>
        <p:spPr>
          <a:xfrm>
            <a:off x="4428744" y="4370832"/>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Integrar ORCID y CVN resolviendo la identidad (objetivo: 99 % de precisión)</a:t>
            </a:r>
            <a:endParaRPr lang="en-US" sz="1400" dirty="0"/>
          </a:p>
        </p:txBody>
      </p:sp>
      <p:sp>
        <p:nvSpPr>
          <p:cNvPr id="23" name="OE6"/>
          <p:cNvSpPr/>
          <p:nvPr/>
        </p:nvSpPr>
        <p:spPr>
          <a:xfrm>
            <a:off x="8034528" y="4041648"/>
            <a:ext cx="3605784" cy="914400"/>
          </a:xfrm>
          <a:prstGeom prst="rect">
            <a:avLst/>
          </a:prstGeom>
          <a:solidFill>
            <a:schemeClr val="tx2"/>
          </a:solidFill>
          <a:ln w="9525">
            <a:solidFill>
              <a:schemeClr val="accent2"/>
            </a:solidFill>
            <a:prstDash val="solid"/>
          </a:ln>
        </p:spPr>
      </p:sp>
      <p:sp>
        <p:nvSpPr>
          <p:cNvPr id="24" name="Text 21"/>
          <p:cNvSpPr txBox="1"/>
          <p:nvPr/>
        </p:nvSpPr>
        <p:spPr>
          <a:xfrm>
            <a:off x="8171688" y="4114800"/>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OE6 · BLOQUE 6</a:t>
            </a:r>
            <a:endParaRPr lang="en-US" sz="1200" dirty="0"/>
          </a:p>
        </p:txBody>
      </p:sp>
      <p:sp>
        <p:nvSpPr>
          <p:cNvPr id="25" name="Text 22"/>
          <p:cNvSpPr txBox="1"/>
          <p:nvPr/>
        </p:nvSpPr>
        <p:spPr>
          <a:xfrm>
            <a:off x="8171688" y="4370832"/>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Calcular y publicar indicadores de forma consistente</a:t>
            </a:r>
            <a:endParaRPr lang="en-US" sz="1400" dirty="0"/>
          </a:p>
        </p:txBody>
      </p:sp>
      <p:sp>
        <p:nvSpPr>
          <p:cNvPr id="26" name="OE7"/>
          <p:cNvSpPr/>
          <p:nvPr/>
        </p:nvSpPr>
        <p:spPr>
          <a:xfrm>
            <a:off x="548640" y="5065776"/>
            <a:ext cx="3605784" cy="914400"/>
          </a:xfrm>
          <a:prstGeom prst="rect">
            <a:avLst/>
          </a:prstGeom>
          <a:solidFill>
            <a:schemeClr val="tx2"/>
          </a:solidFill>
          <a:ln w="9525">
            <a:solidFill>
              <a:schemeClr val="accent2"/>
            </a:solidFill>
            <a:prstDash val="solid"/>
          </a:ln>
        </p:spPr>
      </p:sp>
      <p:sp>
        <p:nvSpPr>
          <p:cNvPr id="27" name="Text 24"/>
          <p:cNvSpPr txBox="1"/>
          <p:nvPr/>
        </p:nvSpPr>
        <p:spPr>
          <a:xfrm>
            <a:off x="685800" y="5138928"/>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OE7 · BLOQUE 7</a:t>
            </a:r>
            <a:endParaRPr lang="en-US" sz="1200" dirty="0"/>
          </a:p>
        </p:txBody>
      </p:sp>
      <p:sp>
        <p:nvSpPr>
          <p:cNvPr id="28" name="Text 25"/>
          <p:cNvSpPr txBox="1"/>
          <p:nvPr/>
        </p:nvSpPr>
        <p:spPr>
          <a:xfrm>
            <a:off x="685800" y="5394960"/>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Visualizar los indicadores en un panel accesible</a:t>
            </a:r>
            <a:endParaRPr lang="en-US" sz="1400" dirty="0"/>
          </a:p>
        </p:txBody>
      </p:sp>
      <p:sp>
        <p:nvSpPr>
          <p:cNvPr id="29" name="OE8"/>
          <p:cNvSpPr/>
          <p:nvPr/>
        </p:nvSpPr>
        <p:spPr>
          <a:xfrm>
            <a:off x="4291584" y="5065776"/>
            <a:ext cx="3605784" cy="914400"/>
          </a:xfrm>
          <a:prstGeom prst="rect">
            <a:avLst/>
          </a:prstGeom>
          <a:solidFill>
            <a:schemeClr val="tx2"/>
          </a:solidFill>
          <a:ln w="9525">
            <a:solidFill>
              <a:schemeClr val="accent2"/>
            </a:solidFill>
            <a:prstDash val="solid"/>
          </a:ln>
        </p:spPr>
      </p:sp>
      <p:sp>
        <p:nvSpPr>
          <p:cNvPr id="30" name="Text 27"/>
          <p:cNvSpPr txBox="1"/>
          <p:nvPr/>
        </p:nvSpPr>
        <p:spPr>
          <a:xfrm>
            <a:off x="4428744" y="5138928"/>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OE8 · BLOQUE 7</a:t>
            </a:r>
            <a:endParaRPr lang="en-US" sz="1200" dirty="0"/>
          </a:p>
        </p:txBody>
      </p:sp>
      <p:sp>
        <p:nvSpPr>
          <p:cNvPr id="31" name="Text 28"/>
          <p:cNvSpPr txBox="1"/>
          <p:nvPr/>
        </p:nvSpPr>
        <p:spPr>
          <a:xfrm>
            <a:off x="4428744" y="5394960"/>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Medir el efecto del paralelismo sobre tiempo y fiabilidad</a:t>
            </a:r>
            <a:endParaRPr lang="en-US" sz="1400" dirty="0"/>
          </a:p>
        </p:txBody>
      </p:sp>
      <p:sp>
        <p:nvSpPr>
          <p:cNvPr id="32" name="OE9"/>
          <p:cNvSpPr/>
          <p:nvPr/>
        </p:nvSpPr>
        <p:spPr>
          <a:xfrm>
            <a:off x="8034528" y="5065776"/>
            <a:ext cx="3605784" cy="914400"/>
          </a:xfrm>
          <a:prstGeom prst="rect">
            <a:avLst/>
          </a:prstGeom>
          <a:solidFill>
            <a:schemeClr val="tx2"/>
          </a:solidFill>
          <a:ln w="9525">
            <a:solidFill>
              <a:schemeClr val="accent2"/>
            </a:solidFill>
            <a:prstDash val="solid"/>
          </a:ln>
        </p:spPr>
      </p:sp>
      <p:sp>
        <p:nvSpPr>
          <p:cNvPr id="33" name="Text 30"/>
          <p:cNvSpPr txBox="1"/>
          <p:nvPr/>
        </p:nvSpPr>
        <p:spPr>
          <a:xfrm>
            <a:off x="8171688" y="5138928"/>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OE9 · BLOQUE 7</a:t>
            </a:r>
            <a:endParaRPr lang="en-US" sz="1200" dirty="0"/>
          </a:p>
        </p:txBody>
      </p:sp>
      <p:sp>
        <p:nvSpPr>
          <p:cNvPr id="34" name="Text 31"/>
          <p:cNvSpPr txBox="1"/>
          <p:nvPr/>
        </p:nvSpPr>
        <p:spPr>
          <a:xfrm>
            <a:off x="8171688" y="5394960"/>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Encontrar y corregir fallos operativos y reproducir desde cero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3 · METODOLOGÍA Y ARQUITECTURA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Método: construir, verificar y reproducir</a:t>
            </a:r>
            <a:endParaRPr lang="en-US" sz="3200" dirty="0"/>
          </a:p>
        </p:txBody>
      </p:sp>
      <p:sp>
        <p:nvSpPr>
          <p:cNvPr id="5" name="Paso 1"/>
          <p:cNvSpPr/>
          <p:nvPr/>
        </p:nvSpPr>
        <p:spPr>
          <a:xfrm>
            <a:off x="548640" y="1691640"/>
            <a:ext cx="2430018" cy="2971800"/>
          </a:xfrm>
          <a:prstGeom prst="rect">
            <a:avLst/>
          </a:prstGeom>
          <a:solidFill>
            <a:schemeClr val="tx2"/>
          </a:solidFill>
          <a:ln w="9525">
            <a:solidFill>
              <a:schemeClr val="accent2"/>
            </a:solidFill>
            <a:prstDash val="solid"/>
          </a:ln>
        </p:spPr>
      </p:sp>
      <p:sp>
        <p:nvSpPr>
          <p:cNvPr id="6" name="Text 3"/>
          <p:cNvSpPr txBox="1"/>
          <p:nvPr/>
        </p:nvSpPr>
        <p:spPr>
          <a:xfrm>
            <a:off x="777240"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1</a:t>
            </a:r>
            <a:endParaRPr lang="en-US" sz="3000" dirty="0"/>
          </a:p>
        </p:txBody>
      </p:sp>
      <p:sp>
        <p:nvSpPr>
          <p:cNvPr id="7" name="Text 4"/>
          <p:cNvSpPr txBox="1"/>
          <p:nvPr/>
        </p:nvSpPr>
        <p:spPr>
          <a:xfrm>
            <a:off x="777240"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Construir por capas</a:t>
            </a:r>
            <a:endParaRPr lang="en-US" sz="1900" dirty="0"/>
          </a:p>
        </p:txBody>
      </p:sp>
      <p:sp>
        <p:nvSpPr>
          <p:cNvPr id="8" name="Text 5"/>
          <p:cNvSpPr txBox="1"/>
          <p:nvPr/>
        </p:nvSpPr>
        <p:spPr>
          <a:xfrm>
            <a:off x="777240"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Primero la infraestructura y el mecanismo central de procesamiento. Después, cada capa de datos sobre la anterior.</a:t>
            </a:r>
            <a:endParaRPr lang="en-US" sz="1400" dirty="0"/>
          </a:p>
        </p:txBody>
      </p:sp>
      <p:sp>
        <p:nvSpPr>
          <p:cNvPr id="9" name="Flecha paso 1"/>
          <p:cNvSpPr/>
          <p:nvPr/>
        </p:nvSpPr>
        <p:spPr>
          <a:xfrm>
            <a:off x="3024378" y="3063240"/>
            <a:ext cx="365760" cy="0"/>
          </a:xfrm>
          <a:prstGeom prst="line">
            <a:avLst/>
          </a:prstGeom>
          <a:noFill/>
          <a:ln w="25400">
            <a:solidFill>
              <a:schemeClr val="accent1"/>
            </a:solidFill>
            <a:prstDash val="solid"/>
            <a:tailEnd type="triangle"/>
          </a:ln>
        </p:spPr>
      </p:sp>
      <p:sp>
        <p:nvSpPr>
          <p:cNvPr id="10" name="Paso 2"/>
          <p:cNvSpPr/>
          <p:nvPr/>
        </p:nvSpPr>
        <p:spPr>
          <a:xfrm>
            <a:off x="3435858" y="1691640"/>
            <a:ext cx="2430018" cy="2971800"/>
          </a:xfrm>
          <a:prstGeom prst="rect">
            <a:avLst/>
          </a:prstGeom>
          <a:solidFill>
            <a:schemeClr val="tx2"/>
          </a:solidFill>
          <a:ln w="9525">
            <a:solidFill>
              <a:schemeClr val="accent2"/>
            </a:solidFill>
            <a:prstDash val="solid"/>
          </a:ln>
        </p:spPr>
      </p:sp>
      <p:sp>
        <p:nvSpPr>
          <p:cNvPr id="11" name="Text 8"/>
          <p:cNvSpPr txBox="1"/>
          <p:nvPr/>
        </p:nvSpPr>
        <p:spPr>
          <a:xfrm>
            <a:off x="3664458"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2</a:t>
            </a:r>
            <a:endParaRPr lang="en-US" sz="3000" dirty="0"/>
          </a:p>
        </p:txBody>
      </p:sp>
      <p:sp>
        <p:nvSpPr>
          <p:cNvPr id="12" name="Text 9"/>
          <p:cNvSpPr txBox="1"/>
          <p:nvPr/>
        </p:nvSpPr>
        <p:spPr>
          <a:xfrm>
            <a:off x="3664458"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Usar datos reales</a:t>
            </a:r>
            <a:endParaRPr lang="en-US" sz="1900" dirty="0"/>
          </a:p>
        </p:txBody>
      </p:sp>
      <p:sp>
        <p:nvSpPr>
          <p:cNvPr id="13" name="Text 10"/>
          <p:cNvSpPr txBox="1"/>
          <p:nvPr/>
        </p:nvSpPr>
        <p:spPr>
          <a:xfrm>
            <a:off x="3664458"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ORCID aporta perfiles públicos reales. Los CVN se generan a partir de ellos para no emplear currículos de personas reales.</a:t>
            </a:r>
            <a:endParaRPr lang="en-US" sz="1400" dirty="0"/>
          </a:p>
        </p:txBody>
      </p:sp>
      <p:sp>
        <p:nvSpPr>
          <p:cNvPr id="14" name="Flecha paso 2"/>
          <p:cNvSpPr/>
          <p:nvPr/>
        </p:nvSpPr>
        <p:spPr>
          <a:xfrm>
            <a:off x="5911596" y="3063240"/>
            <a:ext cx="365760" cy="0"/>
          </a:xfrm>
          <a:prstGeom prst="line">
            <a:avLst/>
          </a:prstGeom>
          <a:noFill/>
          <a:ln w="25400">
            <a:solidFill>
              <a:schemeClr val="accent1"/>
            </a:solidFill>
            <a:prstDash val="solid"/>
            <a:tailEnd type="triangle"/>
          </a:ln>
        </p:spPr>
      </p:sp>
      <p:sp>
        <p:nvSpPr>
          <p:cNvPr id="15" name="Paso 3"/>
          <p:cNvSpPr/>
          <p:nvPr/>
        </p:nvSpPr>
        <p:spPr>
          <a:xfrm>
            <a:off x="6323076" y="1691640"/>
            <a:ext cx="2430018" cy="2971800"/>
          </a:xfrm>
          <a:prstGeom prst="rect">
            <a:avLst/>
          </a:prstGeom>
          <a:solidFill>
            <a:schemeClr val="tx2"/>
          </a:solidFill>
          <a:ln w="9525">
            <a:solidFill>
              <a:schemeClr val="accent2"/>
            </a:solidFill>
            <a:prstDash val="solid"/>
          </a:ln>
        </p:spPr>
      </p:sp>
      <p:sp>
        <p:nvSpPr>
          <p:cNvPr id="16" name="Text 13"/>
          <p:cNvSpPr txBox="1"/>
          <p:nvPr/>
        </p:nvSpPr>
        <p:spPr>
          <a:xfrm>
            <a:off x="6551676"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3</a:t>
            </a:r>
            <a:endParaRPr lang="en-US" sz="3000" dirty="0"/>
          </a:p>
        </p:txBody>
      </p:sp>
      <p:sp>
        <p:nvSpPr>
          <p:cNvPr id="17" name="Text 14"/>
          <p:cNvSpPr txBox="1"/>
          <p:nvPr/>
        </p:nvSpPr>
        <p:spPr>
          <a:xfrm>
            <a:off x="6551676"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Verificar cada capa</a:t>
            </a:r>
            <a:endParaRPr lang="en-US" sz="1900" dirty="0"/>
          </a:p>
        </p:txBody>
      </p:sp>
      <p:sp>
        <p:nvSpPr>
          <p:cNvPr id="18" name="Text 15"/>
          <p:cNvSpPr txBox="1"/>
          <p:nvPr/>
        </p:nvSpPr>
        <p:spPr>
          <a:xfrm>
            <a:off x="6551676"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El resultado de cada fase se comprueba por una vía distinta de la que lo produjo.</a:t>
            </a:r>
            <a:endParaRPr lang="en-US" sz="1400" dirty="0"/>
          </a:p>
        </p:txBody>
      </p:sp>
      <p:sp>
        <p:nvSpPr>
          <p:cNvPr id="19" name="Flecha paso 3"/>
          <p:cNvSpPr/>
          <p:nvPr/>
        </p:nvSpPr>
        <p:spPr>
          <a:xfrm>
            <a:off x="8798814" y="3063240"/>
            <a:ext cx="365760" cy="0"/>
          </a:xfrm>
          <a:prstGeom prst="line">
            <a:avLst/>
          </a:prstGeom>
          <a:noFill/>
          <a:ln w="25400">
            <a:solidFill>
              <a:schemeClr val="accent1"/>
            </a:solidFill>
            <a:prstDash val="solid"/>
            <a:tailEnd type="triangle"/>
          </a:ln>
        </p:spPr>
      </p:sp>
      <p:sp>
        <p:nvSpPr>
          <p:cNvPr id="20" name="Paso 4"/>
          <p:cNvSpPr/>
          <p:nvPr/>
        </p:nvSpPr>
        <p:spPr>
          <a:xfrm>
            <a:off x="9210294" y="1691640"/>
            <a:ext cx="2430018" cy="2971800"/>
          </a:xfrm>
          <a:prstGeom prst="rect">
            <a:avLst/>
          </a:prstGeom>
          <a:solidFill>
            <a:schemeClr val="tx2"/>
          </a:solidFill>
          <a:ln w="9525">
            <a:solidFill>
              <a:schemeClr val="accent2"/>
            </a:solidFill>
            <a:prstDash val="solid"/>
          </a:ln>
        </p:spPr>
      </p:sp>
      <p:sp>
        <p:nvSpPr>
          <p:cNvPr id="21" name="Text 18"/>
          <p:cNvSpPr txBox="1"/>
          <p:nvPr/>
        </p:nvSpPr>
        <p:spPr>
          <a:xfrm>
            <a:off x="9438894"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4</a:t>
            </a:r>
            <a:endParaRPr lang="en-US" sz="3000" dirty="0"/>
          </a:p>
        </p:txBody>
      </p:sp>
      <p:sp>
        <p:nvSpPr>
          <p:cNvPr id="22" name="Text 19"/>
          <p:cNvSpPr txBox="1"/>
          <p:nvPr/>
        </p:nvSpPr>
        <p:spPr>
          <a:xfrm>
            <a:off x="9438894"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Reconstruir desde cero</a:t>
            </a:r>
            <a:endParaRPr lang="en-US" sz="1900" dirty="0"/>
          </a:p>
        </p:txBody>
      </p:sp>
      <p:sp>
        <p:nvSpPr>
          <p:cNvPr id="23" name="Text 20"/>
          <p:cNvSpPr txBox="1"/>
          <p:nvPr/>
        </p:nvSpPr>
        <p:spPr>
          <a:xfrm>
            <a:off x="9438894"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Una guía escrita permite levantar toda la plataforma. Se validó reconstruyéndola en un clúster aislado.</a:t>
            </a:r>
            <a:endParaRPr lang="en-US" sz="1400" dirty="0"/>
          </a:p>
        </p:txBody>
      </p:sp>
      <p:sp>
        <p:nvSpPr>
          <p:cNvPr id="24" name="Text 21"/>
          <p:cNvSpPr txBox="1"/>
          <p:nvPr/>
        </p:nvSpPr>
        <p:spPr>
          <a:xfrm>
            <a:off x="548640" y="4892040"/>
            <a:ext cx="73152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VERIFICACIONES QUE SE USAN EN EL TRABAJO</a:t>
            </a:r>
            <a:endParaRPr lang="en-US" sz="1200" dirty="0"/>
          </a:p>
        </p:txBody>
      </p:sp>
      <p:sp>
        <p:nvSpPr>
          <p:cNvPr id="25" name="Verificacion 1"/>
          <p:cNvSpPr/>
          <p:nvPr/>
        </p:nvSpPr>
        <p:spPr>
          <a:xfrm>
            <a:off x="548640" y="5257800"/>
            <a:ext cx="3605784" cy="731520"/>
          </a:xfrm>
          <a:prstGeom prst="rect">
            <a:avLst/>
          </a:prstGeom>
          <a:solidFill>
            <a:schemeClr val="tx1"/>
          </a:solidFill>
          <a:ln w="12700">
            <a:solidFill>
              <a:schemeClr val="accent2"/>
            </a:solidFill>
            <a:prstDash val="solid"/>
          </a:ln>
        </p:spPr>
      </p:sp>
      <p:sp>
        <p:nvSpPr>
          <p:cNvPr id="26" name="Text 23"/>
          <p:cNvSpPr txBox="1"/>
          <p:nvPr/>
        </p:nvSpPr>
        <p:spPr>
          <a:xfrm>
            <a:off x="685800" y="5257800"/>
            <a:ext cx="3331464"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Resultado del propio trabajo</a:t>
            </a:r>
            <a:endParaRPr lang="en-US" sz="1600" dirty="0"/>
          </a:p>
        </p:txBody>
      </p:sp>
      <p:sp>
        <p:nvSpPr>
          <p:cNvPr id="27" name="Verificacion 2"/>
          <p:cNvSpPr/>
          <p:nvPr/>
        </p:nvSpPr>
        <p:spPr>
          <a:xfrm>
            <a:off x="4291584" y="5257800"/>
            <a:ext cx="3605784" cy="731520"/>
          </a:xfrm>
          <a:prstGeom prst="rect">
            <a:avLst/>
          </a:prstGeom>
          <a:solidFill>
            <a:schemeClr val="tx1"/>
          </a:solidFill>
          <a:ln w="12700">
            <a:solidFill>
              <a:schemeClr val="accent2"/>
            </a:solidFill>
            <a:prstDash val="solid"/>
          </a:ln>
        </p:spPr>
      </p:sp>
      <p:sp>
        <p:nvSpPr>
          <p:cNvPr id="28" name="Text 25"/>
          <p:cNvSpPr txBox="1"/>
          <p:nvPr/>
        </p:nvSpPr>
        <p:spPr>
          <a:xfrm>
            <a:off x="4428744" y="5257800"/>
            <a:ext cx="3331464"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Lectura desde otro proceso</a:t>
            </a:r>
            <a:endParaRPr lang="en-US" sz="1600" dirty="0"/>
          </a:p>
        </p:txBody>
      </p:sp>
      <p:sp>
        <p:nvSpPr>
          <p:cNvPr id="29" name="Verificacion 3"/>
          <p:cNvSpPr/>
          <p:nvPr/>
        </p:nvSpPr>
        <p:spPr>
          <a:xfrm>
            <a:off x="8034528" y="5257800"/>
            <a:ext cx="3605784" cy="731520"/>
          </a:xfrm>
          <a:prstGeom prst="rect">
            <a:avLst/>
          </a:prstGeom>
          <a:solidFill>
            <a:schemeClr val="tx1"/>
          </a:solidFill>
          <a:ln w="12700">
            <a:solidFill>
              <a:schemeClr val="accent2"/>
            </a:solidFill>
            <a:prstDash val="solid"/>
          </a:ln>
        </p:spPr>
      </p:sp>
      <p:sp>
        <p:nvSpPr>
          <p:cNvPr id="30" name="Text 27"/>
          <p:cNvSpPr txBox="1"/>
          <p:nvPr/>
        </p:nvSpPr>
        <p:spPr>
          <a:xfrm>
            <a:off x="8171688" y="5257800"/>
            <a:ext cx="3331464"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Recálculo independiente en Python</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3 · METODOLOGÍA Y ARQUITECTURA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Herramientas elegidas para cada requisito</a:t>
            </a:r>
            <a:endParaRPr lang="en-US" sz="3200" dirty="0"/>
          </a:p>
        </p:txBody>
      </p:sp>
      <p:graphicFrame>
        <p:nvGraphicFramePr>
          <p:cNvPr id="8" name="Tabla de herramienta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743200"/>
                <a:gridCol w="2651760"/>
                <a:gridCol w="5696712"/>
              </a:tblGrid>
              <a:tr h="365760">
                <a:tc>
                  <a:txBody>
                    <a:bodyPr/>
                    <a:lstStyle/>
                    <a:p>
                      <a:pPr indent="0" marL="0">
                        <a:buNone/>
                      </a:pPr>
                      <a:r>
                        <a:rPr lang="en-US" sz="1200" b="1" dirty="0">
                          <a:solidFill>
                            <a:schemeClr val="accent1"/>
                          </a:solidFill>
                          <a:latin typeface="Consolas" pitchFamily="34" charset="0"/>
                          <a:ea typeface="Consolas" pitchFamily="34" charset="-122"/>
                          <a:cs typeface="Consolas" pitchFamily="34" charset="-120"/>
                        </a:rPr>
                        <a:t>REQUISITO</a:t>
                      </a:r>
                      <a:endParaRPr lang="en-US" sz="1200" dirty="0">
                        <a:latin typeface="Consolas" charset="0"/>
                        <a:ea typeface="Consolas" charset="0"/>
                        <a:cs typeface="Consolas"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200" b="1" dirty="0">
                          <a:solidFill>
                            <a:schemeClr val="accent1"/>
                          </a:solidFill>
                          <a:latin typeface="Consolas" pitchFamily="34" charset="0"/>
                          <a:ea typeface="Consolas" pitchFamily="34" charset="-122"/>
                          <a:cs typeface="Consolas" pitchFamily="34" charset="-120"/>
                        </a:rPr>
                        <a:t>HERRAMIENTA</a:t>
                      </a:r>
                      <a:endParaRPr lang="en-US" sz="1200" dirty="0">
                        <a:latin typeface="Consolas" charset="0"/>
                        <a:ea typeface="Consolas" charset="0"/>
                        <a:cs typeface="Consolas"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200" b="1" dirty="0">
                          <a:solidFill>
                            <a:schemeClr val="accent1"/>
                          </a:solidFill>
                          <a:latin typeface="Consolas" pitchFamily="34" charset="0"/>
                          <a:ea typeface="Consolas" pitchFamily="34" charset="-122"/>
                          <a:cs typeface="Consolas" pitchFamily="34" charset="-120"/>
                        </a:rPr>
                        <a:t>MOTIVO</a:t>
                      </a:r>
                      <a:endParaRPr lang="en-US" sz="1200" dirty="0">
                        <a:latin typeface="Consolas" charset="0"/>
                        <a:ea typeface="Consolas" charset="0"/>
                        <a:cs typeface="Consolas"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Almacenamiento escalable</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MinIO (protocolo S3)</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Mismo protocolo que un proveedor real, sin coste ni dependencia externa. Frente a HDFS y nube pública.</a:t>
                      </a:r>
                      <a:endParaRPr lang="en-US" sz="14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Formato de tabla con trazabilidad</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Apache Iceberg</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Abierto y consultable desde otros motores sin cambios. Frente a Delta Lake y Hudi.</a:t>
                      </a:r>
                      <a:endParaRPr lang="en-US" sz="14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Orquestación reproducible</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Apache Airflow</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Despliegue nativo en Kubernetes, sin servicios adicionales. Frente a Prefect, Dagster y Luigi.</a:t>
                      </a:r>
                      <a:endParaRPr lang="en-US" sz="14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Procesamiento distribuido</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Apache Spark</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Encaja con el procesamiento por lotes e integra bien con Iceberg. Frente a Flink, Dask y Ray.</a:t>
                      </a:r>
                      <a:endParaRPr lang="en-US" sz="14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Resolución de identidad</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Reglas deterministas</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Dejan evidencia explícita y auditable de cada fusión. Frente a la vinculación probabilística.</a:t>
                      </a:r>
                      <a:endParaRPr lang="en-US" sz="14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Despliegue y consulta</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k3s de un nodo y Superset</a:t>
                      </a:r>
                      <a:endParaRPr lang="en-US" sz="15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Menor coste y más reproducibilidad; panel definido como código. Frente a un clúster real y Trino.</a:t>
                      </a:r>
                      <a:endParaRPr lang="en-US" sz="1400" dirty="0">
                        <a:latin typeface="Calibri" charset="0"/>
                        <a:ea typeface="Calibri" charset="0"/>
                        <a:cs typeface="Calibri" charset="0"/>
                      </a:endParaRPr>
                    </a:p>
                  </a:txBody>
                  <a:tcPr marL="137160" marR="13716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r>
            </a:tbl>
          </a:graphicData>
        </a:graphic>
      </p:graphicFrame>
      <p:sp>
        <p:nvSpPr>
          <p:cNvPr id="6" name="Text 2"/>
          <p:cNvSpPr txBox="1"/>
          <p:nvPr/>
        </p:nvSpPr>
        <p:spPr>
          <a:xfrm>
            <a:off x="548640" y="5486400"/>
            <a:ext cx="11091672" cy="320040"/>
          </a:xfrm>
          <a:prstGeom prst="rect">
            <a:avLst/>
          </a:prstGeom>
          <a:noFill/>
          <a:ln/>
        </p:spPr>
        <p:txBody>
          <a:bodyPr wrap="square" lIns="0" tIns="0" rIns="0" bIns="0" rtlCol="0" anchor="ctr"/>
          <a:lstStyle/>
          <a:p>
            <a:pPr algn="l" indent="0" marL="0">
              <a:buNone/>
            </a:pPr>
            <a:r>
              <a:rPr lang="en-US" sz="1500" i="1" dirty="0">
                <a:solidFill>
                  <a:schemeClr val="accent3"/>
                </a:solidFill>
                <a:latin typeface="Calibri" pitchFamily="34" charset="0"/>
                <a:ea typeface="Calibri" pitchFamily="34" charset="-122"/>
                <a:cs typeface="Calibri" pitchFamily="34" charset="-120"/>
              </a:rPr>
              <a:t>Criterio común: autoalojado, reproducible desde cero y con buen soporte entre componentes.</a:t>
            </a:r>
            <a:endParaRPr lang="en-US" sz="1500" dirty="0"/>
          </a:p>
        </p:txBody>
      </p:sp>
      <p:sp>
        <p:nvSpPr>
          <p:cNvPr id="7" name="Text 3"/>
          <p:cNvSpPr txBox="1"/>
          <p:nvPr/>
        </p:nvSpPr>
        <p:spPr>
          <a:xfrm>
            <a:off x="548640" y="5852160"/>
            <a:ext cx="11091672" cy="320040"/>
          </a:xfrm>
          <a:prstGeom prst="rect">
            <a:avLst/>
          </a:prstGeom>
          <a:noFill/>
          <a:ln/>
        </p:spPr>
        <p:txBody>
          <a:bodyPr wrap="square" lIns="0" tIns="0" rIns="0" bIns="0" rtlCol="0" anchor="ctr"/>
          <a:lstStyle/>
          <a:p>
            <a:pPr algn="l" indent="0" marL="0">
              <a:buNone/>
            </a:pPr>
            <a:r>
              <a:rPr lang="en-US" sz="1500" i="1" dirty="0">
                <a:solidFill>
                  <a:schemeClr val="accent3"/>
                </a:solidFill>
                <a:latin typeface="Calibri" pitchFamily="34" charset="0"/>
                <a:ea typeface="Calibri" pitchFamily="34" charset="-122"/>
                <a:cs typeface="Calibri" pitchFamily="34" charset="-120"/>
              </a:rPr>
              <a:t>Experiencia previa: MinIO, Airflow y Spark, del máster; Airflow y Superset, de mi trabajo diario.</a:t>
            </a:r>
            <a:endParaRPr lang="en-US" sz="15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3 · METODOLOGÍA Y ARQUITECTURA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Arquitectura medallion: bronze, silver y gold</a:t>
            </a:r>
            <a:endParaRPr lang="en-US" sz="3200" dirty="0"/>
          </a:p>
        </p:txBody>
      </p:sp>
      <p:sp>
        <p:nvSpPr>
          <p:cNvPr id="5" name="Capa FUENTES"/>
          <p:cNvSpPr/>
          <p:nvPr/>
        </p:nvSpPr>
        <p:spPr>
          <a:xfrm>
            <a:off x="548640" y="1691640"/>
            <a:ext cx="1984248" cy="2286000"/>
          </a:xfrm>
          <a:prstGeom prst="rect">
            <a:avLst/>
          </a:prstGeom>
          <a:solidFill>
            <a:schemeClr val="tx2"/>
          </a:solidFill>
          <a:ln w="22225">
            <a:solidFill>
              <a:schemeClr val="accent3"/>
            </a:solidFill>
            <a:prstDash val="solid"/>
          </a:ln>
        </p:spPr>
      </p:sp>
      <p:sp>
        <p:nvSpPr>
          <p:cNvPr id="6" name="Text 3"/>
          <p:cNvSpPr txBox="1"/>
          <p:nvPr/>
        </p:nvSpPr>
        <p:spPr>
          <a:xfrm>
            <a:off x="640080"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5</a:t>
            </a:r>
            <a:endParaRPr lang="en-US" sz="1000" dirty="0"/>
          </a:p>
        </p:txBody>
      </p:sp>
      <p:sp>
        <p:nvSpPr>
          <p:cNvPr id="7" name="Text 4"/>
          <p:cNvSpPr txBox="1"/>
          <p:nvPr/>
        </p:nvSpPr>
        <p:spPr>
          <a:xfrm>
            <a:off x="640080" y="2103120"/>
            <a:ext cx="1801368" cy="640080"/>
          </a:xfrm>
          <a:prstGeom prst="rect">
            <a:avLst/>
          </a:prstGeom>
          <a:noFill/>
          <a:ln/>
        </p:spPr>
        <p:txBody>
          <a:bodyPr wrap="square" lIns="0" tIns="0" rIns="0" bIns="0" rtlCol="0" anchor="ctr"/>
          <a:lstStyle/>
          <a:p>
            <a:pPr algn="ctr" indent="0" marL="0">
              <a:buNone/>
            </a:pPr>
            <a:r>
              <a:rPr lang="en-US" sz="1800" b="1" dirty="0">
                <a:solidFill>
                  <a:schemeClr val="accent3"/>
                </a:solidFill>
                <a:latin typeface="Calibri" pitchFamily="34" charset="0"/>
                <a:ea typeface="Calibri" pitchFamily="34" charset="-122"/>
                <a:cs typeface="Calibri" pitchFamily="34" charset="-120"/>
              </a:rPr>
              <a:t>FUENTES</a:t>
            </a:r>
            <a:endParaRPr lang="en-US" sz="1800" dirty="0"/>
          </a:p>
        </p:txBody>
      </p:sp>
      <p:sp>
        <p:nvSpPr>
          <p:cNvPr id="8" name="Text 5"/>
          <p:cNvSpPr txBox="1"/>
          <p:nvPr/>
        </p:nvSpPr>
        <p:spPr>
          <a:xfrm>
            <a:off x="685800"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ORCID y CVN</a:t>
            </a:r>
            <a:endParaRPr lang="en-US" sz="1500" dirty="0"/>
          </a:p>
        </p:txBody>
      </p:sp>
      <p:sp>
        <p:nvSpPr>
          <p:cNvPr id="9" name="Flecha capa 1"/>
          <p:cNvSpPr/>
          <p:nvPr/>
        </p:nvSpPr>
        <p:spPr>
          <a:xfrm>
            <a:off x="2560320" y="2834640"/>
            <a:ext cx="237744" cy="0"/>
          </a:xfrm>
          <a:prstGeom prst="line">
            <a:avLst/>
          </a:prstGeom>
          <a:noFill/>
          <a:ln w="25400">
            <a:solidFill>
              <a:schemeClr val="accent1"/>
            </a:solidFill>
            <a:prstDash val="solid"/>
            <a:tailEnd type="triangle"/>
          </a:ln>
        </p:spPr>
      </p:sp>
      <p:sp>
        <p:nvSpPr>
          <p:cNvPr id="10" name="Capa BRONZE"/>
          <p:cNvSpPr/>
          <p:nvPr/>
        </p:nvSpPr>
        <p:spPr>
          <a:xfrm>
            <a:off x="2825496" y="1691640"/>
            <a:ext cx="1984248" cy="2286000"/>
          </a:xfrm>
          <a:prstGeom prst="rect">
            <a:avLst/>
          </a:prstGeom>
          <a:solidFill>
            <a:schemeClr val="tx2"/>
          </a:solidFill>
          <a:ln w="22225">
            <a:solidFill>
              <a:srgbClr val="A0551E"/>
            </a:solidFill>
            <a:prstDash val="solid"/>
          </a:ln>
        </p:spPr>
      </p:sp>
      <p:sp>
        <p:nvSpPr>
          <p:cNvPr id="11" name="Text 8"/>
          <p:cNvSpPr txBox="1"/>
          <p:nvPr/>
        </p:nvSpPr>
        <p:spPr>
          <a:xfrm>
            <a:off x="2916936"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5</a:t>
            </a:r>
            <a:endParaRPr lang="en-US" sz="1000" dirty="0"/>
          </a:p>
        </p:txBody>
      </p:sp>
      <p:sp>
        <p:nvSpPr>
          <p:cNvPr id="12" name="Text 9"/>
          <p:cNvSpPr txBox="1"/>
          <p:nvPr/>
        </p:nvSpPr>
        <p:spPr>
          <a:xfrm>
            <a:off x="2916936" y="2103120"/>
            <a:ext cx="1801368" cy="640080"/>
          </a:xfrm>
          <a:prstGeom prst="rect">
            <a:avLst/>
          </a:prstGeom>
          <a:noFill/>
          <a:ln/>
        </p:spPr>
        <p:txBody>
          <a:bodyPr wrap="square" lIns="0" tIns="0" rIns="0" bIns="0" rtlCol="0" anchor="ctr"/>
          <a:lstStyle/>
          <a:p>
            <a:pPr algn="ctr" indent="0" marL="0">
              <a:buNone/>
            </a:pPr>
            <a:r>
              <a:rPr lang="en-US" sz="1800" b="1" dirty="0">
                <a:solidFill>
                  <a:srgbClr val="A0551E"/>
                </a:solidFill>
                <a:latin typeface="Calibri" pitchFamily="34" charset="0"/>
                <a:ea typeface="Calibri" pitchFamily="34" charset="-122"/>
                <a:cs typeface="Calibri" pitchFamily="34" charset="-120"/>
              </a:rPr>
              <a:t>BRONZE</a:t>
            </a:r>
            <a:endParaRPr lang="en-US" sz="1800" dirty="0"/>
          </a:p>
        </p:txBody>
      </p:sp>
      <p:sp>
        <p:nvSpPr>
          <p:cNvPr id="13" name="Text 10"/>
          <p:cNvSpPr txBox="1"/>
          <p:nvPr/>
        </p:nvSpPr>
        <p:spPr>
          <a:xfrm>
            <a:off x="2962656"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Datos crudos, tal como llegan, con su procedencia</a:t>
            </a:r>
            <a:endParaRPr lang="en-US" sz="1500" dirty="0"/>
          </a:p>
        </p:txBody>
      </p:sp>
      <p:sp>
        <p:nvSpPr>
          <p:cNvPr id="14" name="Flecha capa 2"/>
          <p:cNvSpPr/>
          <p:nvPr/>
        </p:nvSpPr>
        <p:spPr>
          <a:xfrm>
            <a:off x="4837176" y="2834640"/>
            <a:ext cx="237744" cy="0"/>
          </a:xfrm>
          <a:prstGeom prst="line">
            <a:avLst/>
          </a:prstGeom>
          <a:noFill/>
          <a:ln w="25400">
            <a:solidFill>
              <a:schemeClr val="accent1"/>
            </a:solidFill>
            <a:prstDash val="solid"/>
            <a:tailEnd type="triangle"/>
          </a:ln>
        </p:spPr>
      </p:sp>
      <p:sp>
        <p:nvSpPr>
          <p:cNvPr id="15" name="Capa SILVER"/>
          <p:cNvSpPr/>
          <p:nvPr/>
        </p:nvSpPr>
        <p:spPr>
          <a:xfrm>
            <a:off x="5102352" y="1691640"/>
            <a:ext cx="1984248" cy="2286000"/>
          </a:xfrm>
          <a:prstGeom prst="rect">
            <a:avLst/>
          </a:prstGeom>
          <a:solidFill>
            <a:schemeClr val="tx2"/>
          </a:solidFill>
          <a:ln w="22225">
            <a:solidFill>
              <a:srgbClr val="6B7886"/>
            </a:solidFill>
            <a:prstDash val="solid"/>
          </a:ln>
        </p:spPr>
      </p:sp>
      <p:sp>
        <p:nvSpPr>
          <p:cNvPr id="16" name="Text 13"/>
          <p:cNvSpPr txBox="1"/>
          <p:nvPr/>
        </p:nvSpPr>
        <p:spPr>
          <a:xfrm>
            <a:off x="5193792"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6</a:t>
            </a:r>
            <a:endParaRPr lang="en-US" sz="1000" dirty="0"/>
          </a:p>
        </p:txBody>
      </p:sp>
      <p:sp>
        <p:nvSpPr>
          <p:cNvPr id="17" name="Text 14"/>
          <p:cNvSpPr txBox="1"/>
          <p:nvPr/>
        </p:nvSpPr>
        <p:spPr>
          <a:xfrm>
            <a:off x="5193792" y="2103120"/>
            <a:ext cx="1801368" cy="640080"/>
          </a:xfrm>
          <a:prstGeom prst="rect">
            <a:avLst/>
          </a:prstGeom>
          <a:noFill/>
          <a:ln/>
        </p:spPr>
        <p:txBody>
          <a:bodyPr wrap="square" lIns="0" tIns="0" rIns="0" bIns="0" rtlCol="0" anchor="ctr"/>
          <a:lstStyle/>
          <a:p>
            <a:pPr algn="ctr" indent="0" marL="0">
              <a:buNone/>
            </a:pPr>
            <a:r>
              <a:rPr lang="en-US" sz="1800" b="1" dirty="0">
                <a:solidFill>
                  <a:srgbClr val="6B7886"/>
                </a:solidFill>
                <a:latin typeface="Calibri" pitchFamily="34" charset="0"/>
                <a:ea typeface="Calibri" pitchFamily="34" charset="-122"/>
                <a:cs typeface="Calibri" pitchFamily="34" charset="-120"/>
              </a:rPr>
              <a:t>SILVER</a:t>
            </a:r>
            <a:endParaRPr lang="en-US" sz="1800" dirty="0"/>
          </a:p>
        </p:txBody>
      </p:sp>
      <p:sp>
        <p:nvSpPr>
          <p:cNvPr id="18" name="Text 15"/>
          <p:cNvSpPr txBox="1"/>
          <p:nvPr/>
        </p:nvSpPr>
        <p:spPr>
          <a:xfrm>
            <a:off x="5239512"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Datos validados y con la identidad resuelta, en tablas Iceberg</a:t>
            </a:r>
            <a:endParaRPr lang="en-US" sz="1500" dirty="0"/>
          </a:p>
        </p:txBody>
      </p:sp>
      <p:sp>
        <p:nvSpPr>
          <p:cNvPr id="19" name="Flecha capa 3"/>
          <p:cNvSpPr/>
          <p:nvPr/>
        </p:nvSpPr>
        <p:spPr>
          <a:xfrm>
            <a:off x="7114032" y="2834640"/>
            <a:ext cx="237744" cy="0"/>
          </a:xfrm>
          <a:prstGeom prst="line">
            <a:avLst/>
          </a:prstGeom>
          <a:noFill/>
          <a:ln w="25400">
            <a:solidFill>
              <a:schemeClr val="accent1"/>
            </a:solidFill>
            <a:prstDash val="solid"/>
            <a:tailEnd type="triangle"/>
          </a:ln>
        </p:spPr>
      </p:sp>
      <p:sp>
        <p:nvSpPr>
          <p:cNvPr id="20" name="Capa GOLD"/>
          <p:cNvSpPr/>
          <p:nvPr/>
        </p:nvSpPr>
        <p:spPr>
          <a:xfrm>
            <a:off x="7379208" y="1691640"/>
            <a:ext cx="1984248" cy="2286000"/>
          </a:xfrm>
          <a:prstGeom prst="rect">
            <a:avLst/>
          </a:prstGeom>
          <a:solidFill>
            <a:schemeClr val="tx2"/>
          </a:solidFill>
          <a:ln w="22225">
            <a:solidFill>
              <a:srgbClr val="A87A00"/>
            </a:solidFill>
            <a:prstDash val="solid"/>
          </a:ln>
        </p:spPr>
      </p:sp>
      <p:sp>
        <p:nvSpPr>
          <p:cNvPr id="21" name="Text 18"/>
          <p:cNvSpPr txBox="1"/>
          <p:nvPr/>
        </p:nvSpPr>
        <p:spPr>
          <a:xfrm>
            <a:off x="7470648"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6</a:t>
            </a:r>
            <a:endParaRPr lang="en-US" sz="1000" dirty="0"/>
          </a:p>
        </p:txBody>
      </p:sp>
      <p:sp>
        <p:nvSpPr>
          <p:cNvPr id="22" name="Text 19"/>
          <p:cNvSpPr txBox="1"/>
          <p:nvPr/>
        </p:nvSpPr>
        <p:spPr>
          <a:xfrm>
            <a:off x="7470648" y="2103120"/>
            <a:ext cx="1801368" cy="640080"/>
          </a:xfrm>
          <a:prstGeom prst="rect">
            <a:avLst/>
          </a:prstGeom>
          <a:noFill/>
          <a:ln/>
        </p:spPr>
        <p:txBody>
          <a:bodyPr wrap="square" lIns="0" tIns="0" rIns="0" bIns="0" rtlCol="0" anchor="ctr"/>
          <a:lstStyle/>
          <a:p>
            <a:pPr algn="ctr" indent="0" marL="0">
              <a:buNone/>
            </a:pPr>
            <a:r>
              <a:rPr lang="en-US" sz="1800" b="1" dirty="0">
                <a:solidFill>
                  <a:srgbClr val="A87A00"/>
                </a:solidFill>
                <a:latin typeface="Calibri" pitchFamily="34" charset="0"/>
                <a:ea typeface="Calibri" pitchFamily="34" charset="-122"/>
                <a:cs typeface="Calibri" pitchFamily="34" charset="-120"/>
              </a:rPr>
              <a:t>GOLD</a:t>
            </a:r>
            <a:endParaRPr lang="en-US" sz="1800" dirty="0"/>
          </a:p>
        </p:txBody>
      </p:sp>
      <p:sp>
        <p:nvSpPr>
          <p:cNvPr id="23" name="Text 20"/>
          <p:cNvSpPr txBox="1"/>
          <p:nvPr/>
        </p:nvSpPr>
        <p:spPr>
          <a:xfrm>
            <a:off x="7516368"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Datos agregados para calcular los indicadores, en tablas Iceberg</a:t>
            </a:r>
            <a:endParaRPr lang="en-US" sz="1500" dirty="0"/>
          </a:p>
        </p:txBody>
      </p:sp>
      <p:sp>
        <p:nvSpPr>
          <p:cNvPr id="24" name="Flecha capa 4"/>
          <p:cNvSpPr/>
          <p:nvPr/>
        </p:nvSpPr>
        <p:spPr>
          <a:xfrm>
            <a:off x="9390888" y="2834640"/>
            <a:ext cx="237744" cy="0"/>
          </a:xfrm>
          <a:prstGeom prst="line">
            <a:avLst/>
          </a:prstGeom>
          <a:noFill/>
          <a:ln w="25400">
            <a:solidFill>
              <a:schemeClr val="accent1"/>
            </a:solidFill>
            <a:prstDash val="solid"/>
            <a:tailEnd type="triangle"/>
          </a:ln>
        </p:spPr>
      </p:sp>
      <p:sp>
        <p:nvSpPr>
          <p:cNvPr id="25" name="Capa POSTGRESQL Y PANEL"/>
          <p:cNvSpPr/>
          <p:nvPr/>
        </p:nvSpPr>
        <p:spPr>
          <a:xfrm>
            <a:off x="9656064" y="1691640"/>
            <a:ext cx="1984248" cy="2286000"/>
          </a:xfrm>
          <a:prstGeom prst="rect">
            <a:avLst/>
          </a:prstGeom>
          <a:solidFill>
            <a:schemeClr val="tx2"/>
          </a:solidFill>
          <a:ln w="22225">
            <a:solidFill>
              <a:schemeClr val="accent1"/>
            </a:solidFill>
            <a:prstDash val="solid"/>
          </a:ln>
        </p:spPr>
      </p:sp>
      <p:sp>
        <p:nvSpPr>
          <p:cNvPr id="26" name="Text 23"/>
          <p:cNvSpPr txBox="1"/>
          <p:nvPr/>
        </p:nvSpPr>
        <p:spPr>
          <a:xfrm>
            <a:off x="9747504"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7</a:t>
            </a:r>
            <a:endParaRPr lang="en-US" sz="1000" dirty="0"/>
          </a:p>
        </p:txBody>
      </p:sp>
      <p:sp>
        <p:nvSpPr>
          <p:cNvPr id="27" name="Text 24"/>
          <p:cNvSpPr txBox="1"/>
          <p:nvPr/>
        </p:nvSpPr>
        <p:spPr>
          <a:xfrm>
            <a:off x="9747504" y="2103120"/>
            <a:ext cx="1801368" cy="6400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POSTGRESQL Y PANEL</a:t>
            </a:r>
            <a:endParaRPr lang="en-US" sz="1800" dirty="0"/>
          </a:p>
        </p:txBody>
      </p:sp>
      <p:sp>
        <p:nvSpPr>
          <p:cNvPr id="28" name="Text 25"/>
          <p:cNvSpPr txBox="1"/>
          <p:nvPr/>
        </p:nvSpPr>
        <p:spPr>
          <a:xfrm>
            <a:off x="9793224"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Gold se copia a PostgreSQL y Superset lo lee desde ahí</a:t>
            </a:r>
            <a:endParaRPr lang="en-US" sz="1500" dirty="0"/>
          </a:p>
        </p:txBody>
      </p:sp>
      <p:sp>
        <p:nvSpPr>
          <p:cNvPr id="29" name="Text 26"/>
          <p:cNvSpPr txBox="1"/>
          <p:nvPr/>
        </p:nvSpPr>
        <p:spPr>
          <a:xfrm>
            <a:off x="548640" y="4251960"/>
            <a:ext cx="822960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DOS FLUJOS DE AIRFLOW (DAG) MUEVEN LOS DATOS</a:t>
            </a:r>
            <a:endParaRPr lang="en-US" sz="1100" dirty="0"/>
          </a:p>
        </p:txBody>
      </p:sp>
      <p:sp>
        <p:nvSpPr>
          <p:cNvPr id="30" name="Flujo ingest_validate"/>
          <p:cNvSpPr/>
          <p:nvPr/>
        </p:nvSpPr>
        <p:spPr>
          <a:xfrm>
            <a:off x="548640" y="4617720"/>
            <a:ext cx="4261104" cy="502920"/>
          </a:xfrm>
          <a:prstGeom prst="rect">
            <a:avLst/>
          </a:prstGeom>
          <a:solidFill>
            <a:schemeClr val="tx1"/>
          </a:solidFill>
          <a:ln w="12700">
            <a:solidFill>
              <a:schemeClr val="accent2"/>
            </a:solidFill>
            <a:prstDash val="solid"/>
          </a:ln>
        </p:spPr>
      </p:sp>
      <p:sp>
        <p:nvSpPr>
          <p:cNvPr id="31" name="Text 28"/>
          <p:cNvSpPr txBox="1"/>
          <p:nvPr/>
        </p:nvSpPr>
        <p:spPr>
          <a:xfrm>
            <a:off x="548640" y="4617720"/>
            <a:ext cx="4261104" cy="502920"/>
          </a:xfrm>
          <a:prstGeom prst="rect">
            <a:avLst/>
          </a:prstGeom>
          <a:noFill/>
          <a:ln/>
        </p:spPr>
        <p:txBody>
          <a:bodyPr wrap="square" lIns="0" tIns="0" rIns="0" bIns="0" rtlCol="0" anchor="ctr"/>
          <a:lstStyle/>
          <a:p>
            <a:pPr algn="ctr" indent="0" marL="0">
              <a:buNone/>
            </a:pPr>
            <a:r>
              <a:rPr lang="en-US" sz="1400" spc="100" kern="0" dirty="0">
                <a:solidFill>
                  <a:schemeClr val="accent6"/>
                </a:solidFill>
                <a:latin typeface="Consolas" pitchFamily="34" charset="0"/>
                <a:ea typeface="Consolas" pitchFamily="34" charset="-122"/>
                <a:cs typeface="Consolas" pitchFamily="34" charset="-120"/>
              </a:rPr>
              <a:t>ingest_validate: fuentes → bronze</a:t>
            </a:r>
            <a:endParaRPr lang="en-US" sz="1400" dirty="0"/>
          </a:p>
        </p:txBody>
      </p:sp>
      <p:sp>
        <p:nvSpPr>
          <p:cNvPr id="32" name="Flujo transform_publish"/>
          <p:cNvSpPr/>
          <p:nvPr/>
        </p:nvSpPr>
        <p:spPr>
          <a:xfrm>
            <a:off x="2825496" y="5257800"/>
            <a:ext cx="8814816" cy="502920"/>
          </a:xfrm>
          <a:prstGeom prst="rect">
            <a:avLst/>
          </a:prstGeom>
          <a:solidFill>
            <a:schemeClr val="tx1"/>
          </a:solidFill>
          <a:ln w="12700">
            <a:solidFill>
              <a:schemeClr val="accent2"/>
            </a:solidFill>
            <a:prstDash val="solid"/>
          </a:ln>
        </p:spPr>
      </p:sp>
      <p:sp>
        <p:nvSpPr>
          <p:cNvPr id="33" name="Text 30"/>
          <p:cNvSpPr txBox="1"/>
          <p:nvPr/>
        </p:nvSpPr>
        <p:spPr>
          <a:xfrm>
            <a:off x="2825496" y="5257800"/>
            <a:ext cx="8814816" cy="502920"/>
          </a:xfrm>
          <a:prstGeom prst="rect">
            <a:avLst/>
          </a:prstGeom>
          <a:noFill/>
          <a:ln/>
        </p:spPr>
        <p:txBody>
          <a:bodyPr wrap="square" lIns="0" tIns="0" rIns="0" bIns="0" rtlCol="0" anchor="ctr"/>
          <a:lstStyle/>
          <a:p>
            <a:pPr algn="ctr" indent="0" marL="0">
              <a:buNone/>
            </a:pPr>
            <a:r>
              <a:rPr lang="en-US" sz="1400" spc="100" kern="0" dirty="0">
                <a:solidFill>
                  <a:schemeClr val="accent6"/>
                </a:solidFill>
                <a:latin typeface="Consolas" pitchFamily="34" charset="0"/>
                <a:ea typeface="Consolas" pitchFamily="34" charset="-122"/>
                <a:cs typeface="Consolas" pitchFamily="34" charset="-120"/>
              </a:rPr>
              <a:t>transform_publish: bronze → silver → gold → PostgreSQL</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4 · INFRAESTRUCTURA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Un clúster k3s de un nodo aloja los servicios</a:t>
            </a:r>
            <a:endParaRPr lang="en-US" sz="3200" dirty="0"/>
          </a:p>
        </p:txBody>
      </p:sp>
      <p:sp>
        <p:nvSpPr>
          <p:cNvPr id="5" name="Servicio Airflow"/>
          <p:cNvSpPr/>
          <p:nvPr/>
        </p:nvSpPr>
        <p:spPr>
          <a:xfrm>
            <a:off x="548640" y="1645920"/>
            <a:ext cx="1984248" cy="1417320"/>
          </a:xfrm>
          <a:prstGeom prst="rect">
            <a:avLst/>
          </a:prstGeom>
          <a:solidFill>
            <a:schemeClr val="tx2"/>
          </a:solidFill>
          <a:ln w="9525">
            <a:solidFill>
              <a:schemeClr val="accent2"/>
            </a:solidFill>
            <a:prstDash val="solid"/>
          </a:ln>
        </p:spPr>
      </p:sp>
      <p:sp>
        <p:nvSpPr>
          <p:cNvPr id="6" name="Text 3"/>
          <p:cNvSpPr txBox="1"/>
          <p:nvPr/>
        </p:nvSpPr>
        <p:spPr>
          <a:xfrm>
            <a:off x="640080"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Airflow</a:t>
            </a:r>
            <a:endParaRPr lang="en-US" sz="1600" dirty="0"/>
          </a:p>
        </p:txBody>
      </p:sp>
      <p:sp>
        <p:nvSpPr>
          <p:cNvPr id="7" name="Text 4"/>
          <p:cNvSpPr txBox="1"/>
          <p:nvPr/>
        </p:nvSpPr>
        <p:spPr>
          <a:xfrm>
            <a:off x="640080"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orquestación</a:t>
            </a:r>
            <a:endParaRPr lang="en-US" sz="1500" dirty="0"/>
          </a:p>
        </p:txBody>
      </p:sp>
      <p:sp>
        <p:nvSpPr>
          <p:cNvPr id="8" name="Text 5"/>
          <p:cNvSpPr txBox="1"/>
          <p:nvPr/>
        </p:nvSpPr>
        <p:spPr>
          <a:xfrm>
            <a:off x="640080"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1.22.0</a:t>
            </a:r>
            <a:endParaRPr lang="en-US" sz="1100" dirty="0"/>
          </a:p>
        </p:txBody>
      </p:sp>
      <p:sp>
        <p:nvSpPr>
          <p:cNvPr id="9" name="Flecha servicio 1"/>
          <p:cNvSpPr/>
          <p:nvPr/>
        </p:nvSpPr>
        <p:spPr>
          <a:xfrm>
            <a:off x="2560320" y="2377440"/>
            <a:ext cx="237744" cy="0"/>
          </a:xfrm>
          <a:prstGeom prst="line">
            <a:avLst/>
          </a:prstGeom>
          <a:noFill/>
          <a:ln w="25400">
            <a:solidFill>
              <a:schemeClr val="accent1"/>
            </a:solidFill>
            <a:prstDash val="solid"/>
            <a:tailEnd type="triangle"/>
          </a:ln>
        </p:spPr>
      </p:sp>
      <p:sp>
        <p:nvSpPr>
          <p:cNvPr id="10" name="Servicio Spark"/>
          <p:cNvSpPr/>
          <p:nvPr/>
        </p:nvSpPr>
        <p:spPr>
          <a:xfrm>
            <a:off x="2825496" y="1645920"/>
            <a:ext cx="1984248" cy="1417320"/>
          </a:xfrm>
          <a:prstGeom prst="rect">
            <a:avLst/>
          </a:prstGeom>
          <a:solidFill>
            <a:schemeClr val="tx2"/>
          </a:solidFill>
          <a:ln w="9525">
            <a:solidFill>
              <a:schemeClr val="accent2"/>
            </a:solidFill>
            <a:prstDash val="solid"/>
          </a:ln>
        </p:spPr>
      </p:sp>
      <p:sp>
        <p:nvSpPr>
          <p:cNvPr id="11" name="Text 8"/>
          <p:cNvSpPr txBox="1"/>
          <p:nvPr/>
        </p:nvSpPr>
        <p:spPr>
          <a:xfrm>
            <a:off x="2916936"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Spark</a:t>
            </a:r>
            <a:endParaRPr lang="en-US" sz="1600" dirty="0"/>
          </a:p>
        </p:txBody>
      </p:sp>
      <p:sp>
        <p:nvSpPr>
          <p:cNvPr id="12" name="Text 9"/>
          <p:cNvSpPr txBox="1"/>
          <p:nvPr/>
        </p:nvSpPr>
        <p:spPr>
          <a:xfrm>
            <a:off x="2916936"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sobre Kubernetes</a:t>
            </a:r>
            <a:endParaRPr lang="en-US" sz="1500" dirty="0"/>
          </a:p>
        </p:txBody>
      </p:sp>
      <p:sp>
        <p:nvSpPr>
          <p:cNvPr id="13" name="Text 10"/>
          <p:cNvSpPr txBox="1"/>
          <p:nvPr/>
        </p:nvSpPr>
        <p:spPr>
          <a:xfrm>
            <a:off x="2916936"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versión 3.5.9</a:t>
            </a:r>
            <a:endParaRPr lang="en-US" sz="1100" dirty="0"/>
          </a:p>
        </p:txBody>
      </p:sp>
      <p:sp>
        <p:nvSpPr>
          <p:cNvPr id="14" name="Flecha servicio 2"/>
          <p:cNvSpPr/>
          <p:nvPr/>
        </p:nvSpPr>
        <p:spPr>
          <a:xfrm>
            <a:off x="4837176" y="2377440"/>
            <a:ext cx="237744" cy="0"/>
          </a:xfrm>
          <a:prstGeom prst="line">
            <a:avLst/>
          </a:prstGeom>
          <a:noFill/>
          <a:ln w="25400">
            <a:solidFill>
              <a:schemeClr val="accent1"/>
            </a:solidFill>
            <a:prstDash val="solid"/>
            <a:tailEnd type="triangle"/>
          </a:ln>
        </p:spPr>
      </p:sp>
      <p:sp>
        <p:nvSpPr>
          <p:cNvPr id="15" name="Servicio MinIO + Iceberg"/>
          <p:cNvSpPr/>
          <p:nvPr/>
        </p:nvSpPr>
        <p:spPr>
          <a:xfrm>
            <a:off x="5102352" y="1645920"/>
            <a:ext cx="1984248" cy="1417320"/>
          </a:xfrm>
          <a:prstGeom prst="rect">
            <a:avLst/>
          </a:prstGeom>
          <a:solidFill>
            <a:schemeClr val="tx2"/>
          </a:solidFill>
          <a:ln w="9525">
            <a:solidFill>
              <a:schemeClr val="accent2"/>
            </a:solidFill>
            <a:prstDash val="solid"/>
          </a:ln>
        </p:spPr>
      </p:sp>
      <p:sp>
        <p:nvSpPr>
          <p:cNvPr id="16" name="Text 13"/>
          <p:cNvSpPr txBox="1"/>
          <p:nvPr/>
        </p:nvSpPr>
        <p:spPr>
          <a:xfrm>
            <a:off x="5193792"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MinIO + Iceberg</a:t>
            </a:r>
            <a:endParaRPr lang="en-US" sz="1600" dirty="0"/>
          </a:p>
        </p:txBody>
      </p:sp>
      <p:sp>
        <p:nvSpPr>
          <p:cNvPr id="17" name="Text 14"/>
          <p:cNvSpPr txBox="1"/>
          <p:nvPr/>
        </p:nvSpPr>
        <p:spPr>
          <a:xfrm>
            <a:off x="5193792"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almacenamiento</a:t>
            </a:r>
            <a:endParaRPr lang="en-US" sz="1500" dirty="0"/>
          </a:p>
        </p:txBody>
      </p:sp>
      <p:sp>
        <p:nvSpPr>
          <p:cNvPr id="18" name="Text 15"/>
          <p:cNvSpPr txBox="1"/>
          <p:nvPr/>
        </p:nvSpPr>
        <p:spPr>
          <a:xfrm>
            <a:off x="5193792"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17.0.21 · Iceberg 1.11.0</a:t>
            </a:r>
            <a:endParaRPr lang="en-US" sz="1100" dirty="0"/>
          </a:p>
        </p:txBody>
      </p:sp>
      <p:sp>
        <p:nvSpPr>
          <p:cNvPr id="19" name="Flecha servicio 3"/>
          <p:cNvSpPr/>
          <p:nvPr/>
        </p:nvSpPr>
        <p:spPr>
          <a:xfrm>
            <a:off x="7114032" y="2377440"/>
            <a:ext cx="237744" cy="0"/>
          </a:xfrm>
          <a:prstGeom prst="line">
            <a:avLst/>
          </a:prstGeom>
          <a:noFill/>
          <a:ln w="25400">
            <a:solidFill>
              <a:schemeClr val="accent1"/>
            </a:solidFill>
            <a:prstDash val="solid"/>
            <a:tailEnd type="triangle"/>
          </a:ln>
        </p:spPr>
      </p:sp>
      <p:sp>
        <p:nvSpPr>
          <p:cNvPr id="20" name="Servicio PostgreSQL"/>
          <p:cNvSpPr/>
          <p:nvPr/>
        </p:nvSpPr>
        <p:spPr>
          <a:xfrm>
            <a:off x="7379208" y="1645920"/>
            <a:ext cx="1984248" cy="1417320"/>
          </a:xfrm>
          <a:prstGeom prst="rect">
            <a:avLst/>
          </a:prstGeom>
          <a:solidFill>
            <a:schemeClr val="tx2"/>
          </a:solidFill>
          <a:ln w="9525">
            <a:solidFill>
              <a:schemeClr val="accent2"/>
            </a:solidFill>
            <a:prstDash val="solid"/>
          </a:ln>
        </p:spPr>
      </p:sp>
      <p:sp>
        <p:nvSpPr>
          <p:cNvPr id="21" name="Text 18"/>
          <p:cNvSpPr txBox="1"/>
          <p:nvPr/>
        </p:nvSpPr>
        <p:spPr>
          <a:xfrm>
            <a:off x="7470648"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PostgreSQL</a:t>
            </a:r>
            <a:endParaRPr lang="en-US" sz="1600" dirty="0"/>
          </a:p>
        </p:txBody>
      </p:sp>
      <p:sp>
        <p:nvSpPr>
          <p:cNvPr id="22" name="Text 19"/>
          <p:cNvSpPr txBox="1"/>
          <p:nvPr/>
        </p:nvSpPr>
        <p:spPr>
          <a:xfrm>
            <a:off x="7470648"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capa gold</a:t>
            </a:r>
            <a:endParaRPr lang="en-US" sz="1500" dirty="0"/>
          </a:p>
        </p:txBody>
      </p:sp>
      <p:sp>
        <p:nvSpPr>
          <p:cNvPr id="23" name="Text 20"/>
          <p:cNvSpPr txBox="1"/>
          <p:nvPr/>
        </p:nvSpPr>
        <p:spPr>
          <a:xfrm>
            <a:off x="7470648"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18.11.3</a:t>
            </a:r>
            <a:endParaRPr lang="en-US" sz="1100" dirty="0"/>
          </a:p>
        </p:txBody>
      </p:sp>
      <p:sp>
        <p:nvSpPr>
          <p:cNvPr id="24" name="Flecha servicio 4"/>
          <p:cNvSpPr/>
          <p:nvPr/>
        </p:nvSpPr>
        <p:spPr>
          <a:xfrm>
            <a:off x="9390888" y="2377440"/>
            <a:ext cx="237744" cy="0"/>
          </a:xfrm>
          <a:prstGeom prst="line">
            <a:avLst/>
          </a:prstGeom>
          <a:noFill/>
          <a:ln w="25400">
            <a:solidFill>
              <a:schemeClr val="accent1"/>
            </a:solidFill>
            <a:prstDash val="solid"/>
            <a:tailEnd type="triangle"/>
          </a:ln>
        </p:spPr>
      </p:sp>
      <p:sp>
        <p:nvSpPr>
          <p:cNvPr id="25" name="Servicio Superset"/>
          <p:cNvSpPr/>
          <p:nvPr/>
        </p:nvSpPr>
        <p:spPr>
          <a:xfrm>
            <a:off x="9656064" y="1645920"/>
            <a:ext cx="1984248" cy="1417320"/>
          </a:xfrm>
          <a:prstGeom prst="rect">
            <a:avLst/>
          </a:prstGeom>
          <a:solidFill>
            <a:schemeClr val="tx2"/>
          </a:solidFill>
          <a:ln w="9525">
            <a:solidFill>
              <a:schemeClr val="accent2"/>
            </a:solidFill>
            <a:prstDash val="solid"/>
          </a:ln>
        </p:spPr>
      </p:sp>
      <p:sp>
        <p:nvSpPr>
          <p:cNvPr id="26" name="Text 23"/>
          <p:cNvSpPr txBox="1"/>
          <p:nvPr/>
        </p:nvSpPr>
        <p:spPr>
          <a:xfrm>
            <a:off x="9747504"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Superset</a:t>
            </a:r>
            <a:endParaRPr lang="en-US" sz="1600" dirty="0"/>
          </a:p>
        </p:txBody>
      </p:sp>
      <p:sp>
        <p:nvSpPr>
          <p:cNvPr id="27" name="Text 24"/>
          <p:cNvSpPr txBox="1"/>
          <p:nvPr/>
        </p:nvSpPr>
        <p:spPr>
          <a:xfrm>
            <a:off x="9747504"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visualización</a:t>
            </a:r>
            <a:endParaRPr lang="en-US" sz="1500" dirty="0"/>
          </a:p>
        </p:txBody>
      </p:sp>
      <p:sp>
        <p:nvSpPr>
          <p:cNvPr id="28" name="Text 25"/>
          <p:cNvSpPr txBox="1"/>
          <p:nvPr/>
        </p:nvSpPr>
        <p:spPr>
          <a:xfrm>
            <a:off x="9747504"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de Helm</a:t>
            </a:r>
            <a:endParaRPr lang="en-US" sz="1100" dirty="0"/>
          </a:p>
        </p:txBody>
      </p:sp>
      <p:sp>
        <p:nvSpPr>
          <p:cNvPr id="29" name="Banda del cluster y namespace"/>
          <p:cNvSpPr/>
          <p:nvPr/>
        </p:nvSpPr>
        <p:spPr>
          <a:xfrm>
            <a:off x="548640" y="3246120"/>
            <a:ext cx="11091672" cy="1188720"/>
          </a:xfrm>
          <a:prstGeom prst="rect">
            <a:avLst/>
          </a:prstGeom>
          <a:solidFill>
            <a:schemeClr val="tx2"/>
          </a:solidFill>
          <a:ln w="9525">
            <a:solidFill>
              <a:schemeClr val="accent2"/>
            </a:solidFill>
            <a:prstDash val="solid"/>
          </a:ln>
        </p:spPr>
      </p:sp>
      <p:sp>
        <p:nvSpPr>
          <p:cNvPr id="30" name="Text 27"/>
          <p:cNvSpPr txBox="1"/>
          <p:nvPr/>
        </p:nvSpPr>
        <p:spPr>
          <a:xfrm>
            <a:off x="822960" y="3337560"/>
            <a:ext cx="10543032" cy="274320"/>
          </a:xfrm>
          <a:prstGeom prst="rect">
            <a:avLst/>
          </a:prstGeom>
          <a:noFill/>
          <a:ln/>
        </p:spPr>
        <p:txBody>
          <a:bodyPr wrap="square" lIns="0" tIns="0" rIns="0" bIns="0" rtlCol="0" anchor="t"/>
          <a:lstStyle/>
          <a:p>
            <a:pPr algn="l" indent="0" marL="0">
              <a:buNone/>
            </a:pPr>
            <a:r>
              <a:rPr lang="en-US" sz="1300" spc="100" kern="0" dirty="0">
                <a:solidFill>
                  <a:schemeClr val="accent6"/>
                </a:solidFill>
                <a:latin typeface="Consolas" pitchFamily="34" charset="0"/>
                <a:ea typeface="Consolas" pitchFamily="34" charset="-122"/>
                <a:cs typeface="Consolas" pitchFamily="34" charset="-120"/>
              </a:rPr>
              <a:t>k3s v1.36.4 · un único nodo local</a:t>
            </a:r>
            <a:endParaRPr lang="en-US" sz="1300" dirty="0"/>
          </a:p>
        </p:txBody>
      </p:sp>
      <p:sp>
        <p:nvSpPr>
          <p:cNvPr id="31" name="Text 28"/>
          <p:cNvSpPr txBox="1"/>
          <p:nvPr/>
        </p:nvSpPr>
        <p:spPr>
          <a:xfrm>
            <a:off x="822960" y="3657600"/>
            <a:ext cx="10543032" cy="685800"/>
          </a:xfrm>
          <a:prstGeom prst="rect">
            <a:avLst/>
          </a:prstGeom>
          <a:noFill/>
          <a:ln/>
        </p:spPr>
        <p:txBody>
          <a:bodyPr wrap="square" lIns="0" tIns="0" rIns="0" bIns="0" rtlCol="0" anchor="t"/>
          <a:lstStyle/>
          <a:p>
            <a:pPr algn="l" indent="0" marL="0">
              <a:spcAft>
                <a:spcPts val="800"/>
              </a:spcAft>
              <a:buNone/>
            </a:pPr>
            <a:r>
              <a:rPr lang="en-US" sz="1600" b="1" dirty="0">
                <a:solidFill>
                  <a:schemeClr val="accent1"/>
                </a:solidFill>
                <a:latin typeface="Calibri" pitchFamily="34" charset="0"/>
                <a:ea typeface="Calibri" pitchFamily="34" charset="-122"/>
                <a:cs typeface="Calibri" pitchFamily="34" charset="-120"/>
              </a:rPr>
              <a:t>Namespace tfm-lakehouse. </a:t>
            </a:r>
            <a:pPr algn="l" indent="0" marL="0">
              <a:spcAft>
                <a:spcPts val="800"/>
              </a:spcAft>
              <a:buNone/>
            </a:pPr>
            <a:r>
              <a:rPr lang="en-US" sz="1600" dirty="0">
                <a:solidFill>
                  <a:schemeClr val="accent6"/>
                </a:solidFill>
                <a:latin typeface="Calibri" pitchFamily="34" charset="0"/>
                <a:ea typeface="Calibri" pitchFamily="34" charset="-122"/>
                <a:cs typeface="Calibri" pitchFamily="34" charset="-120"/>
              </a:rPr>
              <a:t>Espacio dentro del clúster que agrupa y aísla todos los recursos de la plataforma: pods, servicios y secretos.</a:t>
            </a:r>
            <a:endParaRPr lang="en-US" sz="1600" dirty="0"/>
          </a:p>
        </p:txBody>
      </p:sp>
      <p:sp>
        <p:nvSpPr>
          <p:cNvPr id="32" name="Nota 1"/>
          <p:cNvSpPr/>
          <p:nvPr/>
        </p:nvSpPr>
        <p:spPr>
          <a:xfrm>
            <a:off x="548640" y="4617720"/>
            <a:ext cx="3605784" cy="1508760"/>
          </a:xfrm>
          <a:prstGeom prst="rect">
            <a:avLst/>
          </a:prstGeom>
          <a:solidFill>
            <a:schemeClr val="tx2"/>
          </a:solidFill>
          <a:ln w="9525">
            <a:solidFill>
              <a:schemeClr val="accent2"/>
            </a:solidFill>
            <a:prstDash val="solid"/>
          </a:ln>
        </p:spPr>
      </p:sp>
      <p:sp>
        <p:nvSpPr>
          <p:cNvPr id="33" name="Text 30"/>
          <p:cNvSpPr txBox="1"/>
          <p:nvPr/>
        </p:nvSpPr>
        <p:spPr>
          <a:xfrm>
            <a:off x="731520" y="4681728"/>
            <a:ext cx="3240024"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Un pod por tarea</a:t>
            </a:r>
            <a:endParaRPr lang="en-US" sz="1600" dirty="0"/>
          </a:p>
        </p:txBody>
      </p:sp>
      <p:sp>
        <p:nvSpPr>
          <p:cNvPr id="34" name="Text 31"/>
          <p:cNvSpPr txBox="1"/>
          <p:nvPr/>
        </p:nvSpPr>
        <p:spPr>
          <a:xfrm>
            <a:off x="731520" y="5029200"/>
            <a:ext cx="3240024"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Airflow usa KubernetesExecutor: cada tarea y cada trabajo de Spark se lanza como un pod propio dentro del namespace.</a:t>
            </a:r>
            <a:endParaRPr lang="en-US" sz="1400" dirty="0"/>
          </a:p>
        </p:txBody>
      </p:sp>
      <p:sp>
        <p:nvSpPr>
          <p:cNvPr id="35" name="Nota 2"/>
          <p:cNvSpPr/>
          <p:nvPr/>
        </p:nvSpPr>
        <p:spPr>
          <a:xfrm>
            <a:off x="4291584" y="4617720"/>
            <a:ext cx="3605784" cy="1508760"/>
          </a:xfrm>
          <a:prstGeom prst="rect">
            <a:avLst/>
          </a:prstGeom>
          <a:solidFill>
            <a:schemeClr val="tx2"/>
          </a:solidFill>
          <a:ln w="9525">
            <a:solidFill>
              <a:schemeClr val="accent2"/>
            </a:solidFill>
            <a:prstDash val="solid"/>
          </a:ln>
        </p:spPr>
      </p:sp>
      <p:sp>
        <p:nvSpPr>
          <p:cNvPr id="36" name="Text 33"/>
          <p:cNvSpPr txBox="1"/>
          <p:nvPr/>
        </p:nvSpPr>
        <p:spPr>
          <a:xfrm>
            <a:off x="4474464" y="4681728"/>
            <a:ext cx="3240024"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Reproducible con Helm</a:t>
            </a:r>
            <a:endParaRPr lang="en-US" sz="1600" dirty="0"/>
          </a:p>
        </p:txBody>
      </p:sp>
      <p:sp>
        <p:nvSpPr>
          <p:cNvPr id="37" name="Text 34"/>
          <p:cNvSpPr txBox="1"/>
          <p:nvPr/>
        </p:nvSpPr>
        <p:spPr>
          <a:xfrm>
            <a:off x="4474464" y="5029200"/>
            <a:ext cx="3240024"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Helm es el gestor de paquetes de Kubernetes. Cada servicio se instala desde un chart, con las versiones de cada imagen fijadas.</a:t>
            </a:r>
            <a:endParaRPr lang="en-US" sz="1400" dirty="0"/>
          </a:p>
        </p:txBody>
      </p:sp>
      <p:sp>
        <p:nvSpPr>
          <p:cNvPr id="38" name="Nota 3"/>
          <p:cNvSpPr/>
          <p:nvPr/>
        </p:nvSpPr>
        <p:spPr>
          <a:xfrm>
            <a:off x="8034528" y="4617720"/>
            <a:ext cx="3605784" cy="1508760"/>
          </a:xfrm>
          <a:prstGeom prst="rect">
            <a:avLst/>
          </a:prstGeom>
          <a:solidFill>
            <a:schemeClr val="tx2"/>
          </a:solidFill>
          <a:ln w="9525">
            <a:solidFill>
              <a:schemeClr val="accent2"/>
            </a:solidFill>
            <a:prstDash val="solid"/>
          </a:ln>
        </p:spPr>
      </p:sp>
      <p:sp>
        <p:nvSpPr>
          <p:cNvPr id="39" name="Text 36"/>
          <p:cNvSpPr txBox="1"/>
          <p:nvPr/>
        </p:nvSpPr>
        <p:spPr>
          <a:xfrm>
            <a:off x="8217408" y="4681728"/>
            <a:ext cx="3240024"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Mecanismo verificado</a:t>
            </a:r>
            <a:endParaRPr lang="en-US" sz="1600" dirty="0"/>
          </a:p>
        </p:txBody>
      </p:sp>
      <p:sp>
        <p:nvSpPr>
          <p:cNvPr id="40" name="Text 37"/>
          <p:cNvSpPr txBox="1"/>
          <p:nvPr/>
        </p:nvSpPr>
        <p:spPr>
          <a:xfrm>
            <a:off x="8217408" y="5029200"/>
            <a:ext cx="3240024"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Antes de construir los flujos se comprobó que Spark, lanzado desde Airflow, escribe y lee tablas Iceberg en MinIO.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4 · INFRAESTRUCTURA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Almacenamiento: dentro y fuera de Iceberg</a:t>
            </a:r>
            <a:endParaRPr lang="en-US" sz="3200" dirty="0"/>
          </a:p>
        </p:txBody>
      </p:sp>
      <p:sp>
        <p:nvSpPr>
          <p:cNvPr id="5" name="Text 2"/>
          <p:cNvSpPr txBox="1"/>
          <p:nvPr/>
        </p:nvSpPr>
        <p:spPr>
          <a:xfrm>
            <a:off x="548640" y="1600200"/>
            <a:ext cx="557784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ORGANIZACIÓN DEL CUBO lakehouse EN MINIO</a:t>
            </a:r>
            <a:endParaRPr lang="en-US" sz="1100" dirty="0"/>
          </a:p>
        </p:txBody>
      </p:sp>
      <p:sp>
        <p:nvSpPr>
          <p:cNvPr id="6" name="Cubo lakehouse"/>
          <p:cNvSpPr/>
          <p:nvPr/>
        </p:nvSpPr>
        <p:spPr>
          <a:xfrm>
            <a:off x="548640" y="1920240"/>
            <a:ext cx="5669280" cy="4160520"/>
          </a:xfrm>
          <a:prstGeom prst="rect">
            <a:avLst/>
          </a:prstGeom>
          <a:solidFill>
            <a:schemeClr val="tx1"/>
          </a:solidFill>
          <a:ln w="15875">
            <a:solidFill>
              <a:schemeClr val="accent2"/>
            </a:solidFill>
            <a:prstDash val="solid"/>
          </a:ln>
        </p:spPr>
      </p:sp>
      <p:sp>
        <p:nvSpPr>
          <p:cNvPr id="7" name="Zona fuera de Iceberg"/>
          <p:cNvSpPr/>
          <p:nvPr/>
        </p:nvSpPr>
        <p:spPr>
          <a:xfrm>
            <a:off x="731520" y="2103120"/>
            <a:ext cx="2011680" cy="3794760"/>
          </a:xfrm>
          <a:prstGeom prst="rect">
            <a:avLst/>
          </a:prstGeom>
          <a:solidFill>
            <a:schemeClr val="tx2"/>
          </a:solidFill>
          <a:ln w="15875">
            <a:solidFill>
              <a:schemeClr val="accent3"/>
            </a:solidFill>
            <a:prstDash val="dash"/>
          </a:ln>
        </p:spPr>
      </p:sp>
      <p:sp>
        <p:nvSpPr>
          <p:cNvPr id="8" name="Text 5"/>
          <p:cNvSpPr txBox="1"/>
          <p:nvPr/>
        </p:nvSpPr>
        <p:spPr>
          <a:xfrm>
            <a:off x="731520" y="2194560"/>
            <a:ext cx="2011680" cy="27432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FUERA DE ICEBERG</a:t>
            </a:r>
            <a:endParaRPr lang="en-US" sz="1100" dirty="0"/>
          </a:p>
        </p:txBody>
      </p:sp>
      <p:sp>
        <p:nvSpPr>
          <p:cNvPr id="9" name="bronze fuera de Iceberg"/>
          <p:cNvSpPr/>
          <p:nvPr/>
        </p:nvSpPr>
        <p:spPr>
          <a:xfrm>
            <a:off x="914400" y="2606040"/>
            <a:ext cx="1645920" cy="1737360"/>
          </a:xfrm>
          <a:prstGeom prst="rect">
            <a:avLst/>
          </a:prstGeom>
          <a:solidFill>
            <a:schemeClr val="tx1"/>
          </a:solidFill>
          <a:ln w="25400">
            <a:solidFill>
              <a:srgbClr val="A0551E"/>
            </a:solidFill>
            <a:prstDash val="solid"/>
          </a:ln>
        </p:spPr>
      </p:sp>
      <p:sp>
        <p:nvSpPr>
          <p:cNvPr id="10" name="Text 7"/>
          <p:cNvSpPr txBox="1"/>
          <p:nvPr/>
        </p:nvSpPr>
        <p:spPr>
          <a:xfrm>
            <a:off x="914400" y="2697480"/>
            <a:ext cx="1645920" cy="320040"/>
          </a:xfrm>
          <a:prstGeom prst="rect">
            <a:avLst/>
          </a:prstGeom>
          <a:noFill/>
          <a:ln/>
        </p:spPr>
        <p:txBody>
          <a:bodyPr wrap="square" lIns="0" tIns="0" rIns="0" bIns="0" rtlCol="0" anchor="t"/>
          <a:lstStyle/>
          <a:p>
            <a:pPr algn="ctr" indent="0" marL="0">
              <a:buNone/>
            </a:pPr>
            <a:r>
              <a:rPr lang="en-US" sz="1400" b="1" spc="100" kern="0" dirty="0">
                <a:solidFill>
                  <a:srgbClr val="A0551E"/>
                </a:solidFill>
                <a:latin typeface="Consolas" pitchFamily="34" charset="0"/>
                <a:ea typeface="Consolas" pitchFamily="34" charset="-122"/>
                <a:cs typeface="Consolas" pitchFamily="34" charset="-120"/>
              </a:rPr>
              <a:t>bronze/</a:t>
            </a:r>
            <a:endParaRPr lang="en-US" sz="1400" dirty="0"/>
          </a:p>
        </p:txBody>
      </p:sp>
      <p:sp>
        <p:nvSpPr>
          <p:cNvPr id="11" name="Text 8"/>
          <p:cNvSpPr txBox="1"/>
          <p:nvPr/>
        </p:nvSpPr>
        <p:spPr>
          <a:xfrm>
            <a:off x="1005840" y="3063240"/>
            <a:ext cx="1463040" cy="118872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Ficheros crudos (JSON Lines), tal como llegan de las fuentes</a:t>
            </a:r>
            <a:endParaRPr lang="en-US" sz="1300" dirty="0"/>
          </a:p>
        </p:txBody>
      </p:sp>
      <p:sp>
        <p:nvSpPr>
          <p:cNvPr id="12" name="Zona dentro de Iceberg"/>
          <p:cNvSpPr/>
          <p:nvPr/>
        </p:nvSpPr>
        <p:spPr>
          <a:xfrm>
            <a:off x="2926080" y="2103120"/>
            <a:ext cx="3108960" cy="3794760"/>
          </a:xfrm>
          <a:prstGeom prst="rect">
            <a:avLst/>
          </a:prstGeom>
          <a:solidFill>
            <a:schemeClr val="tx2"/>
          </a:solidFill>
          <a:ln w="22225">
            <a:solidFill>
              <a:schemeClr val="accent1"/>
            </a:solidFill>
            <a:prstDash val="solid"/>
          </a:ln>
        </p:spPr>
      </p:sp>
      <p:sp>
        <p:nvSpPr>
          <p:cNvPr id="13" name="Text 10"/>
          <p:cNvSpPr txBox="1"/>
          <p:nvPr/>
        </p:nvSpPr>
        <p:spPr>
          <a:xfrm>
            <a:off x="2926080" y="2194560"/>
            <a:ext cx="3108960" cy="274320"/>
          </a:xfrm>
          <a:prstGeom prst="rect">
            <a:avLst/>
          </a:prstGeom>
          <a:noFill/>
          <a:ln/>
        </p:spPr>
        <p:txBody>
          <a:bodyPr wrap="square" lIns="0" tIns="0" rIns="0" bIns="0" rtlCol="0" anchor="t"/>
          <a:lstStyle/>
          <a:p>
            <a:pPr algn="ctr" indent="0" marL="0">
              <a:buNone/>
            </a:pPr>
            <a:r>
              <a:rPr lang="en-US" sz="1100" spc="100" kern="0" dirty="0">
                <a:solidFill>
                  <a:schemeClr val="accent1"/>
                </a:solidFill>
                <a:latin typeface="Consolas" pitchFamily="34" charset="0"/>
                <a:ea typeface="Consolas" pitchFamily="34" charset="-122"/>
                <a:cs typeface="Consolas" pitchFamily="34" charset="-120"/>
              </a:rPr>
              <a:t>DENTRO DE ICEBERG</a:t>
            </a:r>
            <a:endParaRPr lang="en-US" sz="1100" dirty="0"/>
          </a:p>
        </p:txBody>
      </p:sp>
      <p:sp>
        <p:nvSpPr>
          <p:cNvPr id="14" name="Text 11"/>
          <p:cNvSpPr txBox="1"/>
          <p:nvPr/>
        </p:nvSpPr>
        <p:spPr>
          <a:xfrm>
            <a:off x="2926080" y="2487168"/>
            <a:ext cx="3108960" cy="274320"/>
          </a:xfrm>
          <a:prstGeom prst="rect">
            <a:avLst/>
          </a:prstGeom>
          <a:noFill/>
          <a:ln/>
        </p:spPr>
        <p:txBody>
          <a:bodyPr wrap="square" lIns="0" tIns="0" rIns="0" bIns="0" rtlCol="0" anchor="t"/>
          <a:lstStyle/>
          <a:p>
            <a:pPr algn="ctr" indent="0" marL="0">
              <a:buNone/>
            </a:pPr>
            <a:r>
              <a:rPr lang="en-US" sz="1200" b="1" spc="100" kern="0" dirty="0">
                <a:solidFill>
                  <a:schemeClr val="accent6"/>
                </a:solidFill>
                <a:latin typeface="Consolas" pitchFamily="34" charset="0"/>
                <a:ea typeface="Consolas" pitchFamily="34" charset="-122"/>
                <a:cs typeface="Consolas" pitchFamily="34" charset="-120"/>
              </a:rPr>
              <a:t>warehouse/ · catálogo</a:t>
            </a:r>
            <a:endParaRPr lang="en-US" sz="1200" dirty="0"/>
          </a:p>
        </p:txBody>
      </p:sp>
      <p:sp>
        <p:nvSpPr>
          <p:cNvPr id="15" name="Namespace lakehouse.bronze"/>
          <p:cNvSpPr/>
          <p:nvPr/>
        </p:nvSpPr>
        <p:spPr>
          <a:xfrm>
            <a:off x="3108960" y="2880360"/>
            <a:ext cx="2743200" cy="841248"/>
          </a:xfrm>
          <a:prstGeom prst="rect">
            <a:avLst/>
          </a:prstGeom>
          <a:solidFill>
            <a:schemeClr val="tx1"/>
          </a:solidFill>
          <a:ln w="25400">
            <a:solidFill>
              <a:srgbClr val="A0551E"/>
            </a:solidFill>
            <a:prstDash val="dash"/>
          </a:ln>
        </p:spPr>
      </p:sp>
      <p:sp>
        <p:nvSpPr>
          <p:cNvPr id="16" name="Text 13"/>
          <p:cNvSpPr txBox="1"/>
          <p:nvPr/>
        </p:nvSpPr>
        <p:spPr>
          <a:xfrm>
            <a:off x="3108960" y="2971800"/>
            <a:ext cx="2743200" cy="320040"/>
          </a:xfrm>
          <a:prstGeom prst="rect">
            <a:avLst/>
          </a:prstGeom>
          <a:noFill/>
          <a:ln/>
        </p:spPr>
        <p:txBody>
          <a:bodyPr wrap="square" lIns="0" tIns="0" rIns="0" bIns="0" rtlCol="0" anchor="t"/>
          <a:lstStyle/>
          <a:p>
            <a:pPr algn="ctr" indent="0" marL="0">
              <a:buNone/>
            </a:pPr>
            <a:r>
              <a:rPr lang="en-US" sz="1300" b="1" spc="100" kern="0" dirty="0">
                <a:solidFill>
                  <a:srgbClr val="A0551E"/>
                </a:solidFill>
                <a:latin typeface="Consolas" pitchFamily="34" charset="0"/>
                <a:ea typeface="Consolas" pitchFamily="34" charset="-122"/>
                <a:cs typeface="Consolas" pitchFamily="34" charset="-120"/>
              </a:rPr>
              <a:t>lakehouse.bronze</a:t>
            </a:r>
            <a:endParaRPr lang="en-US" sz="1300" dirty="0"/>
          </a:p>
        </p:txBody>
      </p:sp>
      <p:sp>
        <p:nvSpPr>
          <p:cNvPr id="17" name="Text 14"/>
          <p:cNvSpPr txBox="1"/>
          <p:nvPr/>
        </p:nvSpPr>
        <p:spPr>
          <a:xfrm>
            <a:off x="3108960" y="3319272"/>
            <a:ext cx="274320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reservado, sin tablas</a:t>
            </a:r>
            <a:endParaRPr lang="en-US" sz="1300" dirty="0"/>
          </a:p>
        </p:txBody>
      </p:sp>
      <p:sp>
        <p:nvSpPr>
          <p:cNvPr id="18" name="Namespace lakehouse.silver"/>
          <p:cNvSpPr/>
          <p:nvPr/>
        </p:nvSpPr>
        <p:spPr>
          <a:xfrm>
            <a:off x="3108960" y="3858768"/>
            <a:ext cx="2743200" cy="841248"/>
          </a:xfrm>
          <a:prstGeom prst="rect">
            <a:avLst/>
          </a:prstGeom>
          <a:solidFill>
            <a:schemeClr val="tx1"/>
          </a:solidFill>
          <a:ln w="25400">
            <a:solidFill>
              <a:srgbClr val="6B7886"/>
            </a:solidFill>
            <a:prstDash val="solid"/>
          </a:ln>
        </p:spPr>
      </p:sp>
      <p:sp>
        <p:nvSpPr>
          <p:cNvPr id="19" name="Text 16"/>
          <p:cNvSpPr txBox="1"/>
          <p:nvPr/>
        </p:nvSpPr>
        <p:spPr>
          <a:xfrm>
            <a:off x="3108960" y="3950208"/>
            <a:ext cx="2743200" cy="320040"/>
          </a:xfrm>
          <a:prstGeom prst="rect">
            <a:avLst/>
          </a:prstGeom>
          <a:noFill/>
          <a:ln/>
        </p:spPr>
        <p:txBody>
          <a:bodyPr wrap="square" lIns="0" tIns="0" rIns="0" bIns="0" rtlCol="0" anchor="t"/>
          <a:lstStyle/>
          <a:p>
            <a:pPr algn="ctr" indent="0" marL="0">
              <a:buNone/>
            </a:pPr>
            <a:r>
              <a:rPr lang="en-US" sz="1300" b="1" spc="100" kern="0" dirty="0">
                <a:solidFill>
                  <a:srgbClr val="6B7886"/>
                </a:solidFill>
                <a:latin typeface="Consolas" pitchFamily="34" charset="0"/>
                <a:ea typeface="Consolas" pitchFamily="34" charset="-122"/>
                <a:cs typeface="Consolas" pitchFamily="34" charset="-120"/>
              </a:rPr>
              <a:t>lakehouse.silver</a:t>
            </a:r>
            <a:endParaRPr lang="en-US" sz="1300" dirty="0"/>
          </a:p>
        </p:txBody>
      </p:sp>
      <p:sp>
        <p:nvSpPr>
          <p:cNvPr id="20" name="Text 17"/>
          <p:cNvSpPr txBox="1"/>
          <p:nvPr/>
        </p:nvSpPr>
        <p:spPr>
          <a:xfrm>
            <a:off x="3108960" y="4297680"/>
            <a:ext cx="274320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tablas Iceberg</a:t>
            </a:r>
            <a:endParaRPr lang="en-US" sz="1300" dirty="0"/>
          </a:p>
        </p:txBody>
      </p:sp>
      <p:sp>
        <p:nvSpPr>
          <p:cNvPr id="21" name="Namespace lakehouse.gold"/>
          <p:cNvSpPr/>
          <p:nvPr/>
        </p:nvSpPr>
        <p:spPr>
          <a:xfrm>
            <a:off x="3108960" y="4837176"/>
            <a:ext cx="2743200" cy="841248"/>
          </a:xfrm>
          <a:prstGeom prst="rect">
            <a:avLst/>
          </a:prstGeom>
          <a:solidFill>
            <a:schemeClr val="tx1"/>
          </a:solidFill>
          <a:ln w="25400">
            <a:solidFill>
              <a:srgbClr val="A87A00"/>
            </a:solidFill>
            <a:prstDash val="solid"/>
          </a:ln>
        </p:spPr>
      </p:sp>
      <p:sp>
        <p:nvSpPr>
          <p:cNvPr id="22" name="Text 19"/>
          <p:cNvSpPr txBox="1"/>
          <p:nvPr/>
        </p:nvSpPr>
        <p:spPr>
          <a:xfrm>
            <a:off x="3108960" y="4928616"/>
            <a:ext cx="2743200" cy="320040"/>
          </a:xfrm>
          <a:prstGeom prst="rect">
            <a:avLst/>
          </a:prstGeom>
          <a:noFill/>
          <a:ln/>
        </p:spPr>
        <p:txBody>
          <a:bodyPr wrap="square" lIns="0" tIns="0" rIns="0" bIns="0" rtlCol="0" anchor="t"/>
          <a:lstStyle/>
          <a:p>
            <a:pPr algn="ctr" indent="0" marL="0">
              <a:buNone/>
            </a:pPr>
            <a:r>
              <a:rPr lang="en-US" sz="1300" b="1" spc="100" kern="0" dirty="0">
                <a:solidFill>
                  <a:srgbClr val="A87A00"/>
                </a:solidFill>
                <a:latin typeface="Consolas" pitchFamily="34" charset="0"/>
                <a:ea typeface="Consolas" pitchFamily="34" charset="-122"/>
                <a:cs typeface="Consolas" pitchFamily="34" charset="-120"/>
              </a:rPr>
              <a:t>lakehouse.gold</a:t>
            </a:r>
            <a:endParaRPr lang="en-US" sz="1300" dirty="0"/>
          </a:p>
        </p:txBody>
      </p:sp>
      <p:sp>
        <p:nvSpPr>
          <p:cNvPr id="23" name="Text 20"/>
          <p:cNvSpPr txBox="1"/>
          <p:nvPr/>
        </p:nvSpPr>
        <p:spPr>
          <a:xfrm>
            <a:off x="3108960" y="5276088"/>
            <a:ext cx="274320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tablas Iceberg</a:t>
            </a:r>
            <a:endParaRPr lang="en-US" sz="1300" dirty="0"/>
          </a:p>
        </p:txBody>
      </p:sp>
      <p:sp>
        <p:nvSpPr>
          <p:cNvPr id="24" name="Por que se separan"/>
          <p:cNvSpPr/>
          <p:nvPr/>
        </p:nvSpPr>
        <p:spPr>
          <a:xfrm>
            <a:off x="6400800" y="1645920"/>
            <a:ext cx="5239512" cy="2514600"/>
          </a:xfrm>
          <a:prstGeom prst="rect">
            <a:avLst/>
          </a:prstGeom>
          <a:solidFill>
            <a:schemeClr val="tx2"/>
          </a:solidFill>
          <a:ln w="9525">
            <a:solidFill>
              <a:schemeClr val="accent2"/>
            </a:solidFill>
            <a:prstDash val="solid"/>
          </a:ln>
        </p:spPr>
      </p:sp>
      <p:sp>
        <p:nvSpPr>
          <p:cNvPr id="25" name="Text 22"/>
          <p:cNvSpPr txBox="1"/>
          <p:nvPr/>
        </p:nvSpPr>
        <p:spPr>
          <a:xfrm>
            <a:off x="6629400" y="1737360"/>
            <a:ext cx="475488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POR QUÉ SE SEPARAN</a:t>
            </a:r>
            <a:endParaRPr lang="en-US" sz="1100" dirty="0"/>
          </a:p>
        </p:txBody>
      </p:sp>
      <p:sp>
        <p:nvSpPr>
          <p:cNvPr id="26" name="Text 23"/>
          <p:cNvSpPr txBox="1"/>
          <p:nvPr/>
        </p:nvSpPr>
        <p:spPr>
          <a:xfrm>
            <a:off x="6629400" y="2057400"/>
            <a:ext cx="4800600" cy="205740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Fuera: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los ficheros crudos los escriben directamente las tareas de ingesta, sin pasar por Iceberg.</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Dentro: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solo hay tablas gestionadas por el catálogo, que escriben los trabajos de Spark.</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Separados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para que Iceberg no encuentre ficheros ajenos entre sus tablas.</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Bronze: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el real es el de fuera; el namespace bronze del catálogo está reservado, pero el pipeline lee los ficheros directamente.</a:t>
            </a:r>
            <a:endParaRPr lang="en-US" sz="1400" dirty="0"/>
          </a:p>
        </p:txBody>
      </p:sp>
      <p:sp>
        <p:nvSpPr>
          <p:cNvPr id="27" name="Imagenes y versiones fijadas"/>
          <p:cNvSpPr/>
          <p:nvPr/>
        </p:nvSpPr>
        <p:spPr>
          <a:xfrm>
            <a:off x="6400800" y="4297680"/>
            <a:ext cx="5239512" cy="1143000"/>
          </a:xfrm>
          <a:prstGeom prst="rect">
            <a:avLst/>
          </a:prstGeom>
          <a:solidFill>
            <a:schemeClr val="tx2"/>
          </a:solidFill>
          <a:ln w="9525">
            <a:solidFill>
              <a:schemeClr val="accent2"/>
            </a:solidFill>
            <a:prstDash val="solid"/>
          </a:ln>
        </p:spPr>
      </p:sp>
      <p:sp>
        <p:nvSpPr>
          <p:cNvPr id="28" name="Text 25"/>
          <p:cNvSpPr txBox="1"/>
          <p:nvPr/>
        </p:nvSpPr>
        <p:spPr>
          <a:xfrm>
            <a:off x="6629400" y="4370832"/>
            <a:ext cx="4800600" cy="100584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Imágenes y versiones fijadas.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Las de MinIO y PostgreSQL se obtienen de forma gratuita; las de Spark, Iceberg y Hadoop son compatibles entre sí.</a:t>
            </a:r>
            <a:endParaRPr lang="en-US" sz="1400" dirty="0"/>
          </a:p>
        </p:txBody>
      </p:sp>
      <p:sp>
        <p:nvSpPr>
          <p:cNvPr id="29" name="WSL2"/>
          <p:cNvSpPr/>
          <p:nvPr/>
        </p:nvSpPr>
        <p:spPr>
          <a:xfrm>
            <a:off x="6400800" y="5532120"/>
            <a:ext cx="5239512" cy="594360"/>
          </a:xfrm>
          <a:prstGeom prst="rect">
            <a:avLst/>
          </a:prstGeom>
          <a:solidFill>
            <a:schemeClr val="tx2"/>
          </a:solidFill>
          <a:ln w="9525">
            <a:solidFill>
              <a:schemeClr val="accent2"/>
            </a:solidFill>
            <a:prstDash val="solid"/>
          </a:ln>
        </p:spPr>
      </p:sp>
      <p:sp>
        <p:nvSpPr>
          <p:cNvPr id="30" name="Text 27"/>
          <p:cNvSpPr txBox="1"/>
          <p:nvPr/>
        </p:nvSpPr>
        <p:spPr>
          <a:xfrm>
            <a:off x="6629400" y="5532120"/>
            <a:ext cx="4800600" cy="59436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WSL2.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k3s necesita systemd y la red host-gw.</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5 · INGESTA DE DATOS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ORCID aporta el volumen y los CVN, el enlace</a:t>
            </a:r>
            <a:endParaRPr lang="en-US" sz="3200" dirty="0"/>
          </a:p>
        </p:txBody>
      </p:sp>
      <p:sp>
        <p:nvSpPr>
          <p:cNvPr id="5" name="Columna ORCID · DATOS REALES"/>
          <p:cNvSpPr/>
          <p:nvPr/>
        </p:nvSpPr>
        <p:spPr>
          <a:xfrm>
            <a:off x="548640" y="1645920"/>
            <a:ext cx="5468112" cy="3108960"/>
          </a:xfrm>
          <a:prstGeom prst="rect">
            <a:avLst/>
          </a:prstGeom>
          <a:solidFill>
            <a:schemeClr val="tx2"/>
          </a:solidFill>
          <a:ln w="9525">
            <a:solidFill>
              <a:schemeClr val="accent2"/>
            </a:solidFill>
            <a:prstDash val="solid"/>
          </a:ln>
        </p:spPr>
      </p:sp>
      <p:sp>
        <p:nvSpPr>
          <p:cNvPr id="6" name="Text 3"/>
          <p:cNvSpPr txBox="1"/>
          <p:nvPr/>
        </p:nvSpPr>
        <p:spPr>
          <a:xfrm>
            <a:off x="822960" y="1737360"/>
            <a:ext cx="4919472"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ORCID · DATOS REALES</a:t>
            </a:r>
            <a:endParaRPr lang="en-US" sz="1100" dirty="0"/>
          </a:p>
        </p:txBody>
      </p:sp>
      <p:sp>
        <p:nvSpPr>
          <p:cNvPr id="7" name="Text 4"/>
          <p:cNvSpPr txBox="1"/>
          <p:nvPr/>
        </p:nvSpPr>
        <p:spPr>
          <a:xfrm>
            <a:off x="822960" y="2057400"/>
            <a:ext cx="4919472" cy="123444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API pública: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consulta un perfil concreto por su identificador, para actualizar los datos de las personas que declaran los CVN.</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Fichero anual: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volcado de todos los perfiles públicos. Da el volumen real de partida.</a:t>
            </a:r>
            <a:endParaRPr lang="en-US" sz="1400" dirty="0"/>
          </a:p>
        </p:txBody>
      </p:sp>
      <p:sp>
        <p:nvSpPr>
          <p:cNvPr id="8" name="Dato 26.078.951"/>
          <p:cNvSpPr/>
          <p:nvPr/>
        </p:nvSpPr>
        <p:spPr>
          <a:xfrm>
            <a:off x="822960" y="3337560"/>
            <a:ext cx="2331720" cy="1280160"/>
          </a:xfrm>
          <a:prstGeom prst="rect">
            <a:avLst/>
          </a:prstGeom>
          <a:solidFill>
            <a:schemeClr val="tx1"/>
          </a:solidFill>
          <a:ln w="9525">
            <a:solidFill>
              <a:schemeClr val="accent2"/>
            </a:solidFill>
            <a:prstDash val="solid"/>
          </a:ln>
        </p:spPr>
      </p:sp>
      <p:sp>
        <p:nvSpPr>
          <p:cNvPr id="9" name="Text 6"/>
          <p:cNvSpPr txBox="1"/>
          <p:nvPr/>
        </p:nvSpPr>
        <p:spPr>
          <a:xfrm>
            <a:off x="96012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26.078.951</a:t>
            </a:r>
            <a:endParaRPr lang="en-US" sz="2600" dirty="0"/>
          </a:p>
        </p:txBody>
      </p:sp>
      <p:sp>
        <p:nvSpPr>
          <p:cNvPr id="10" name="Text 7"/>
          <p:cNvSpPr txBox="1"/>
          <p:nvPr/>
        </p:nvSpPr>
        <p:spPr>
          <a:xfrm>
            <a:off x="96012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perfiles en el fichero de ORCID</a:t>
            </a:r>
            <a:endParaRPr lang="en-US" sz="1300" dirty="0"/>
          </a:p>
        </p:txBody>
      </p:sp>
      <p:sp>
        <p:nvSpPr>
          <p:cNvPr id="11" name="Dato 301.763"/>
          <p:cNvSpPr/>
          <p:nvPr/>
        </p:nvSpPr>
        <p:spPr>
          <a:xfrm>
            <a:off x="3291840" y="3337560"/>
            <a:ext cx="2331720" cy="1280160"/>
          </a:xfrm>
          <a:prstGeom prst="rect">
            <a:avLst/>
          </a:prstGeom>
          <a:solidFill>
            <a:schemeClr val="tx1"/>
          </a:solidFill>
          <a:ln w="9525">
            <a:solidFill>
              <a:schemeClr val="accent2"/>
            </a:solidFill>
            <a:prstDash val="solid"/>
          </a:ln>
        </p:spPr>
      </p:sp>
      <p:sp>
        <p:nvSpPr>
          <p:cNvPr id="12" name="Text 9"/>
          <p:cNvSpPr txBox="1"/>
          <p:nvPr/>
        </p:nvSpPr>
        <p:spPr>
          <a:xfrm>
            <a:off x="342900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301.763</a:t>
            </a:r>
            <a:endParaRPr lang="en-US" sz="2600" dirty="0"/>
          </a:p>
        </p:txBody>
      </p:sp>
      <p:sp>
        <p:nvSpPr>
          <p:cNvPr id="13" name="Text 10"/>
          <p:cNvSpPr txBox="1"/>
          <p:nvPr/>
        </p:nvSpPr>
        <p:spPr>
          <a:xfrm>
            <a:off x="342900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perfiles con afiliación en España, los que nos quedamos</a:t>
            </a:r>
            <a:endParaRPr lang="en-US" sz="1300" dirty="0"/>
          </a:p>
        </p:txBody>
      </p:sp>
      <p:sp>
        <p:nvSpPr>
          <p:cNvPr id="14" name="Columna CVN · GENERADOS A PARTIR DE ORCID"/>
          <p:cNvSpPr/>
          <p:nvPr/>
        </p:nvSpPr>
        <p:spPr>
          <a:xfrm>
            <a:off x="6172200" y="1645920"/>
            <a:ext cx="5468112" cy="3108960"/>
          </a:xfrm>
          <a:prstGeom prst="rect">
            <a:avLst/>
          </a:prstGeom>
          <a:solidFill>
            <a:schemeClr val="tx2"/>
          </a:solidFill>
          <a:ln w="9525">
            <a:solidFill>
              <a:schemeClr val="accent2"/>
            </a:solidFill>
            <a:prstDash val="solid"/>
          </a:ln>
        </p:spPr>
      </p:sp>
      <p:sp>
        <p:nvSpPr>
          <p:cNvPr id="15" name="Text 12"/>
          <p:cNvSpPr txBox="1"/>
          <p:nvPr/>
        </p:nvSpPr>
        <p:spPr>
          <a:xfrm>
            <a:off x="6446520" y="1737360"/>
            <a:ext cx="4919472"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CVN · GENERADOS A PARTIR DE ORCID</a:t>
            </a:r>
            <a:endParaRPr lang="en-US" sz="1100" dirty="0"/>
          </a:p>
        </p:txBody>
      </p:sp>
      <p:sp>
        <p:nvSpPr>
          <p:cNvPr id="16" name="Text 13"/>
          <p:cNvSpPr txBox="1"/>
          <p:nvPr/>
        </p:nvSpPr>
        <p:spPr>
          <a:xfrm>
            <a:off x="6446520" y="2057400"/>
            <a:ext cx="4919472" cy="123444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Generación: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parte de los perfiles filtrados y reutiliza su nombre, afiliaciones y obras públicas.</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Enlace: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el 70 % declara el ORCID del perfil de origen; el resto solo conserva nombre y afiliaciones.</a:t>
            </a:r>
            <a:endParaRPr lang="en-US" sz="1400" dirty="0"/>
          </a:p>
        </p:txBody>
      </p:sp>
      <p:sp>
        <p:nvSpPr>
          <p:cNvPr id="17" name="Dato 10.000"/>
          <p:cNvSpPr/>
          <p:nvPr/>
        </p:nvSpPr>
        <p:spPr>
          <a:xfrm>
            <a:off x="6446520" y="3337560"/>
            <a:ext cx="2331720" cy="1280160"/>
          </a:xfrm>
          <a:prstGeom prst="rect">
            <a:avLst/>
          </a:prstGeom>
          <a:solidFill>
            <a:schemeClr val="tx1"/>
          </a:solidFill>
          <a:ln w="9525">
            <a:solidFill>
              <a:schemeClr val="accent2"/>
            </a:solidFill>
            <a:prstDash val="solid"/>
          </a:ln>
        </p:spPr>
      </p:sp>
      <p:sp>
        <p:nvSpPr>
          <p:cNvPr id="18" name="Text 15"/>
          <p:cNvSpPr txBox="1"/>
          <p:nvPr/>
        </p:nvSpPr>
        <p:spPr>
          <a:xfrm>
            <a:off x="658368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10.000</a:t>
            </a:r>
            <a:endParaRPr lang="en-US" sz="2600" dirty="0"/>
          </a:p>
        </p:txBody>
      </p:sp>
      <p:sp>
        <p:nvSpPr>
          <p:cNvPr id="19" name="Text 16"/>
          <p:cNvSpPr txBox="1"/>
          <p:nvPr/>
        </p:nvSpPr>
        <p:spPr>
          <a:xfrm>
            <a:off x="658368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CVN para evaluar la fusión a escala (por defecto, 1.000)</a:t>
            </a:r>
            <a:endParaRPr lang="en-US" sz="1300" dirty="0"/>
          </a:p>
        </p:txBody>
      </p:sp>
      <p:sp>
        <p:nvSpPr>
          <p:cNvPr id="20" name="Dato 70 %"/>
          <p:cNvSpPr/>
          <p:nvPr/>
        </p:nvSpPr>
        <p:spPr>
          <a:xfrm>
            <a:off x="8915400" y="3337560"/>
            <a:ext cx="2331720" cy="1280160"/>
          </a:xfrm>
          <a:prstGeom prst="rect">
            <a:avLst/>
          </a:prstGeom>
          <a:solidFill>
            <a:schemeClr val="tx1"/>
          </a:solidFill>
          <a:ln w="9525">
            <a:solidFill>
              <a:schemeClr val="accent2"/>
            </a:solidFill>
            <a:prstDash val="solid"/>
          </a:ln>
        </p:spPr>
      </p:sp>
      <p:sp>
        <p:nvSpPr>
          <p:cNvPr id="21" name="Text 18"/>
          <p:cNvSpPr txBox="1"/>
          <p:nvPr/>
        </p:nvSpPr>
        <p:spPr>
          <a:xfrm>
            <a:off x="905256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70 %</a:t>
            </a:r>
            <a:endParaRPr lang="en-US" sz="2600" dirty="0"/>
          </a:p>
        </p:txBody>
      </p:sp>
      <p:sp>
        <p:nvSpPr>
          <p:cNvPr id="22" name="Text 19"/>
          <p:cNvSpPr txBox="1"/>
          <p:nvPr/>
        </p:nvSpPr>
        <p:spPr>
          <a:xfrm>
            <a:off x="905256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declaran el ORCID del perfil del que parten</a:t>
            </a:r>
            <a:endParaRPr lang="en-US" sz="1300" dirty="0"/>
          </a:p>
        </p:txBody>
      </p:sp>
      <p:sp>
        <p:nvSpPr>
          <p:cNvPr id="23" name="Text 20"/>
          <p:cNvSpPr txBox="1"/>
          <p:nvPr/>
        </p:nvSpPr>
        <p:spPr>
          <a:xfrm>
            <a:off x="548640" y="4864608"/>
            <a:ext cx="731520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TRES TÉRMINOS QUE SE USAN EN ADELANTE</a:t>
            </a:r>
            <a:endParaRPr lang="en-US" sz="1100" dirty="0"/>
          </a:p>
        </p:txBody>
      </p:sp>
      <p:sp>
        <p:nvSpPr>
          <p:cNvPr id="24" name="Definicion Perfil"/>
          <p:cNvSpPr/>
          <p:nvPr/>
        </p:nvSpPr>
        <p:spPr>
          <a:xfrm>
            <a:off x="548640" y="5166360"/>
            <a:ext cx="3605784" cy="1005840"/>
          </a:xfrm>
          <a:prstGeom prst="rect">
            <a:avLst/>
          </a:prstGeom>
          <a:solidFill>
            <a:schemeClr val="tx2"/>
          </a:solidFill>
          <a:ln w="9525">
            <a:solidFill>
              <a:schemeClr val="accent2"/>
            </a:solidFill>
            <a:prstDash val="solid"/>
          </a:ln>
        </p:spPr>
      </p:sp>
      <p:sp>
        <p:nvSpPr>
          <p:cNvPr id="25" name="Text 22"/>
          <p:cNvSpPr txBox="1"/>
          <p:nvPr/>
        </p:nvSpPr>
        <p:spPr>
          <a:xfrm>
            <a:off x="731520" y="5212080"/>
            <a:ext cx="3240024" cy="914400"/>
          </a:xfrm>
          <a:prstGeom prst="rect">
            <a:avLst/>
          </a:prstGeom>
          <a:noFill/>
          <a:ln/>
        </p:spPr>
        <p:txBody>
          <a:bodyPr wrap="square" lIns="0" tIns="0" rIns="0" bIns="0" rtlCol="0" anchor="ctr"/>
          <a:lstStyle/>
          <a:p>
            <a:pPr algn="l" indent="0" marL="0">
              <a:spcAft>
                <a:spcPts val="800"/>
              </a:spcAft>
              <a:buNone/>
            </a:pPr>
            <a:r>
              <a:rPr lang="en-US" sz="1300" b="1" dirty="0">
                <a:solidFill>
                  <a:schemeClr val="accent1"/>
                </a:solidFill>
                <a:latin typeface="Calibri" pitchFamily="34" charset="0"/>
                <a:ea typeface="Calibri" pitchFamily="34" charset="-122"/>
                <a:cs typeface="Calibri" pitchFamily="34" charset="-120"/>
              </a:rPr>
              <a:t>Perfil: </a:t>
            </a:r>
            <a:pPr algn="l" indent="0" marL="0">
              <a:spcAft>
                <a:spcPts val="800"/>
              </a:spcAft>
              <a:buNone/>
            </a:pPr>
            <a:r>
              <a:rPr lang="en-US" sz="1300" dirty="0">
                <a:solidFill>
                  <a:schemeClr val="accent6"/>
                </a:solidFill>
                <a:latin typeface="Calibri" pitchFamily="34" charset="0"/>
                <a:ea typeface="Calibri" pitchFamily="34" charset="-122"/>
                <a:cs typeface="Calibri" pitchFamily="34" charset="-120"/>
              </a:rPr>
              <a:t>Ficha pública de una persona en ORCID: nombre, afiliaciones y obras.</a:t>
            </a:r>
            <a:endParaRPr lang="en-US" sz="1300" dirty="0"/>
          </a:p>
        </p:txBody>
      </p:sp>
      <p:sp>
        <p:nvSpPr>
          <p:cNvPr id="26" name="Definicion Registro"/>
          <p:cNvSpPr/>
          <p:nvPr/>
        </p:nvSpPr>
        <p:spPr>
          <a:xfrm>
            <a:off x="4291584" y="5166360"/>
            <a:ext cx="3605784" cy="1005840"/>
          </a:xfrm>
          <a:prstGeom prst="rect">
            <a:avLst/>
          </a:prstGeom>
          <a:solidFill>
            <a:schemeClr val="tx2"/>
          </a:solidFill>
          <a:ln w="9525">
            <a:solidFill>
              <a:schemeClr val="accent2"/>
            </a:solidFill>
            <a:prstDash val="solid"/>
          </a:ln>
        </p:spPr>
      </p:sp>
      <p:sp>
        <p:nvSpPr>
          <p:cNvPr id="27" name="Text 24"/>
          <p:cNvSpPr txBox="1"/>
          <p:nvPr/>
        </p:nvSpPr>
        <p:spPr>
          <a:xfrm>
            <a:off x="4474464" y="5212080"/>
            <a:ext cx="3240024" cy="914400"/>
          </a:xfrm>
          <a:prstGeom prst="rect">
            <a:avLst/>
          </a:prstGeom>
          <a:noFill/>
          <a:ln/>
        </p:spPr>
        <p:txBody>
          <a:bodyPr wrap="square" lIns="0" tIns="0" rIns="0" bIns="0" rtlCol="0" anchor="ctr"/>
          <a:lstStyle/>
          <a:p>
            <a:pPr algn="l" indent="0" marL="0">
              <a:spcAft>
                <a:spcPts val="800"/>
              </a:spcAft>
              <a:buNone/>
            </a:pPr>
            <a:r>
              <a:rPr lang="en-US" sz="1300" b="1" dirty="0">
                <a:solidFill>
                  <a:schemeClr val="accent1"/>
                </a:solidFill>
                <a:latin typeface="Calibri" pitchFamily="34" charset="0"/>
                <a:ea typeface="Calibri" pitchFamily="34" charset="-122"/>
                <a:cs typeface="Calibri" pitchFamily="34" charset="-120"/>
              </a:rPr>
              <a:t>Registro: </a:t>
            </a:r>
            <a:pPr algn="l" indent="0" marL="0">
              <a:spcAft>
                <a:spcPts val="800"/>
              </a:spcAft>
              <a:buNone/>
            </a:pPr>
            <a:r>
              <a:rPr lang="en-US" sz="1300" dirty="0">
                <a:solidFill>
                  <a:schemeClr val="accent6"/>
                </a:solidFill>
                <a:latin typeface="Calibri" pitchFamily="34" charset="0"/>
                <a:ea typeface="Calibri" pitchFamily="34" charset="-122"/>
                <a:cs typeface="Calibri" pitchFamily="34" charset="-120"/>
              </a:rPr>
              <a:t>Cada documento que se guarda en bronze: un perfil de ORCID, una respuesta de la API o un CVN.</a:t>
            </a:r>
            <a:endParaRPr lang="en-US" sz="1300" dirty="0"/>
          </a:p>
        </p:txBody>
      </p:sp>
      <p:sp>
        <p:nvSpPr>
          <p:cNvPr id="28" name="Definicion Publicación"/>
          <p:cNvSpPr/>
          <p:nvPr/>
        </p:nvSpPr>
        <p:spPr>
          <a:xfrm>
            <a:off x="8034528" y="5166360"/>
            <a:ext cx="3605784" cy="1005840"/>
          </a:xfrm>
          <a:prstGeom prst="rect">
            <a:avLst/>
          </a:prstGeom>
          <a:solidFill>
            <a:schemeClr val="tx2"/>
          </a:solidFill>
          <a:ln w="9525">
            <a:solidFill>
              <a:schemeClr val="accent2"/>
            </a:solidFill>
            <a:prstDash val="solid"/>
          </a:ln>
        </p:spPr>
      </p:sp>
      <p:sp>
        <p:nvSpPr>
          <p:cNvPr id="29" name="Text 26"/>
          <p:cNvSpPr txBox="1"/>
          <p:nvPr/>
        </p:nvSpPr>
        <p:spPr>
          <a:xfrm>
            <a:off x="8217408" y="5212080"/>
            <a:ext cx="3240024" cy="914400"/>
          </a:xfrm>
          <a:prstGeom prst="rect">
            <a:avLst/>
          </a:prstGeom>
          <a:noFill/>
          <a:ln/>
        </p:spPr>
        <p:txBody>
          <a:bodyPr wrap="square" lIns="0" tIns="0" rIns="0" bIns="0" rtlCol="0" anchor="ctr"/>
          <a:lstStyle/>
          <a:p>
            <a:pPr algn="l" indent="0" marL="0">
              <a:spcAft>
                <a:spcPts val="800"/>
              </a:spcAft>
              <a:buNone/>
            </a:pPr>
            <a:r>
              <a:rPr lang="en-US" sz="1300" b="1" dirty="0">
                <a:solidFill>
                  <a:schemeClr val="accent1"/>
                </a:solidFill>
                <a:latin typeface="Calibri" pitchFamily="34" charset="0"/>
                <a:ea typeface="Calibri" pitchFamily="34" charset="-122"/>
                <a:cs typeface="Calibri" pitchFamily="34" charset="-120"/>
              </a:rPr>
              <a:t>Publicación: </a:t>
            </a:r>
            <a:pPr algn="l" indent="0" marL="0">
              <a:spcAft>
                <a:spcPts val="800"/>
              </a:spcAft>
              <a:buNone/>
            </a:pPr>
            <a:r>
              <a:rPr lang="en-US" sz="1300" dirty="0">
                <a:solidFill>
                  <a:schemeClr val="accent6"/>
                </a:solidFill>
                <a:latin typeface="Calibri" pitchFamily="34" charset="0"/>
                <a:ea typeface="Calibri" pitchFamily="34" charset="-122"/>
                <a:cs typeface="Calibri" pitchFamily="34" charset="-120"/>
              </a:rPr>
              <a:t>Una obra (artículo, libro…) que figura dentro de un perfil o de un CVN.</a:t>
            </a:r>
            <a:endParaRPr lang="en-US" sz="13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5 · INGESTA DE DATOS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Todo aterriza en bronze con su procedencia</a:t>
            </a:r>
            <a:endParaRPr lang="en-US" sz="3200" dirty="0"/>
          </a:p>
        </p:txBody>
      </p:sp>
      <p:sp>
        <p:nvSpPr>
          <p:cNvPr id="5" name="Text 2"/>
          <p:cNvSpPr txBox="1"/>
          <p:nvPr/>
        </p:nvSpPr>
        <p:spPr>
          <a:xfrm>
            <a:off x="548640" y="1645920"/>
            <a:ext cx="512064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FLUJO ingest_validate · UN POD POR TAREA</a:t>
            </a:r>
            <a:endParaRPr lang="en-US" sz="1100" dirty="0"/>
          </a:p>
        </p:txBody>
      </p:sp>
      <p:sp>
        <p:nvSpPr>
          <p:cNvPr id="6" name="Tarea 1"/>
          <p:cNvSpPr/>
          <p:nvPr/>
        </p:nvSpPr>
        <p:spPr>
          <a:xfrm>
            <a:off x="548640" y="2011680"/>
            <a:ext cx="4846320" cy="685800"/>
          </a:xfrm>
          <a:prstGeom prst="rect">
            <a:avLst/>
          </a:prstGeom>
          <a:solidFill>
            <a:schemeClr val="tx2"/>
          </a:solidFill>
          <a:ln w="9525">
            <a:solidFill>
              <a:schemeClr val="accent2"/>
            </a:solidFill>
            <a:prstDash val="solid"/>
          </a:ln>
        </p:spPr>
      </p:sp>
      <p:sp>
        <p:nvSpPr>
          <p:cNvPr id="7" name="Text 4"/>
          <p:cNvSpPr txBox="1"/>
          <p:nvPr/>
        </p:nvSpPr>
        <p:spPr>
          <a:xfrm>
            <a:off x="731520" y="201168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1</a:t>
            </a:r>
            <a:endParaRPr lang="en-US" sz="1800" dirty="0"/>
          </a:p>
        </p:txBody>
      </p:sp>
      <p:sp>
        <p:nvSpPr>
          <p:cNvPr id="8" name="Text 5"/>
          <p:cNvSpPr txBox="1"/>
          <p:nvPr/>
        </p:nvSpPr>
        <p:spPr>
          <a:xfrm>
            <a:off x="1188720" y="201168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Subconjunto ORCID masivo</a:t>
            </a:r>
            <a:endParaRPr lang="en-US" sz="1600" dirty="0"/>
          </a:p>
        </p:txBody>
      </p:sp>
      <p:sp>
        <p:nvSpPr>
          <p:cNvPr id="9" name="Flecha tarea 1"/>
          <p:cNvSpPr/>
          <p:nvPr/>
        </p:nvSpPr>
        <p:spPr>
          <a:xfrm>
            <a:off x="2971800" y="2724912"/>
            <a:ext cx="0" cy="265176"/>
          </a:xfrm>
          <a:prstGeom prst="line">
            <a:avLst/>
          </a:prstGeom>
          <a:noFill/>
          <a:ln w="25400">
            <a:solidFill>
              <a:schemeClr val="accent1"/>
            </a:solidFill>
            <a:prstDash val="solid"/>
            <a:tailEnd type="triangle"/>
          </a:ln>
        </p:spPr>
      </p:sp>
      <p:sp>
        <p:nvSpPr>
          <p:cNvPr id="10" name="Tarea 2"/>
          <p:cNvSpPr/>
          <p:nvPr/>
        </p:nvSpPr>
        <p:spPr>
          <a:xfrm>
            <a:off x="548640" y="3017520"/>
            <a:ext cx="4846320" cy="685800"/>
          </a:xfrm>
          <a:prstGeom prst="rect">
            <a:avLst/>
          </a:prstGeom>
          <a:solidFill>
            <a:schemeClr val="tx2"/>
          </a:solidFill>
          <a:ln w="9525">
            <a:solidFill>
              <a:schemeClr val="accent2"/>
            </a:solidFill>
            <a:prstDash val="solid"/>
          </a:ln>
        </p:spPr>
      </p:sp>
      <p:sp>
        <p:nvSpPr>
          <p:cNvPr id="11" name="Text 8"/>
          <p:cNvSpPr txBox="1"/>
          <p:nvPr/>
        </p:nvSpPr>
        <p:spPr>
          <a:xfrm>
            <a:off x="731520" y="301752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2</a:t>
            </a:r>
            <a:endParaRPr lang="en-US" sz="1800" dirty="0"/>
          </a:p>
        </p:txBody>
      </p:sp>
      <p:sp>
        <p:nvSpPr>
          <p:cNvPr id="12" name="Text 9"/>
          <p:cNvSpPr txBox="1"/>
          <p:nvPr/>
        </p:nvSpPr>
        <p:spPr>
          <a:xfrm>
            <a:off x="1188720" y="301752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Generación de CVN</a:t>
            </a:r>
            <a:endParaRPr lang="en-US" sz="1600" dirty="0"/>
          </a:p>
        </p:txBody>
      </p:sp>
      <p:sp>
        <p:nvSpPr>
          <p:cNvPr id="13" name="Flecha tarea 2"/>
          <p:cNvSpPr/>
          <p:nvPr/>
        </p:nvSpPr>
        <p:spPr>
          <a:xfrm>
            <a:off x="2971800" y="3730752"/>
            <a:ext cx="0" cy="265176"/>
          </a:xfrm>
          <a:prstGeom prst="line">
            <a:avLst/>
          </a:prstGeom>
          <a:noFill/>
          <a:ln w="25400">
            <a:solidFill>
              <a:schemeClr val="accent1"/>
            </a:solidFill>
            <a:prstDash val="solid"/>
            <a:tailEnd type="triangle"/>
          </a:ln>
        </p:spPr>
      </p:sp>
      <p:sp>
        <p:nvSpPr>
          <p:cNvPr id="14" name="Tarea 3"/>
          <p:cNvSpPr/>
          <p:nvPr/>
        </p:nvSpPr>
        <p:spPr>
          <a:xfrm>
            <a:off x="548640" y="4023360"/>
            <a:ext cx="4846320" cy="685800"/>
          </a:xfrm>
          <a:prstGeom prst="rect">
            <a:avLst/>
          </a:prstGeom>
          <a:solidFill>
            <a:schemeClr val="tx2"/>
          </a:solidFill>
          <a:ln w="9525">
            <a:solidFill>
              <a:schemeClr val="accent2"/>
            </a:solidFill>
            <a:prstDash val="solid"/>
          </a:ln>
        </p:spPr>
      </p:sp>
      <p:sp>
        <p:nvSpPr>
          <p:cNvPr id="15" name="Text 12"/>
          <p:cNvSpPr txBox="1"/>
          <p:nvPr/>
        </p:nvSpPr>
        <p:spPr>
          <a:xfrm>
            <a:off x="731520" y="402336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3</a:t>
            </a:r>
            <a:endParaRPr lang="en-US" sz="1800" dirty="0"/>
          </a:p>
        </p:txBody>
      </p:sp>
      <p:sp>
        <p:nvSpPr>
          <p:cNvPr id="16" name="Text 13"/>
          <p:cNvSpPr txBox="1"/>
          <p:nvPr/>
        </p:nvSpPr>
        <p:spPr>
          <a:xfrm>
            <a:off x="1188720" y="402336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Enriquecimiento vía API de ORCID</a:t>
            </a:r>
            <a:endParaRPr lang="en-US" sz="1600" dirty="0"/>
          </a:p>
        </p:txBody>
      </p:sp>
      <p:sp>
        <p:nvSpPr>
          <p:cNvPr id="17" name="Flecha tarea 3"/>
          <p:cNvSpPr/>
          <p:nvPr/>
        </p:nvSpPr>
        <p:spPr>
          <a:xfrm>
            <a:off x="2971800" y="4736592"/>
            <a:ext cx="0" cy="265176"/>
          </a:xfrm>
          <a:prstGeom prst="line">
            <a:avLst/>
          </a:prstGeom>
          <a:noFill/>
          <a:ln w="25400">
            <a:solidFill>
              <a:schemeClr val="accent1"/>
            </a:solidFill>
            <a:prstDash val="solid"/>
            <a:tailEnd type="triangle"/>
          </a:ln>
        </p:spPr>
      </p:sp>
      <p:sp>
        <p:nvSpPr>
          <p:cNvPr id="18" name="Tarea 4"/>
          <p:cNvSpPr/>
          <p:nvPr/>
        </p:nvSpPr>
        <p:spPr>
          <a:xfrm>
            <a:off x="548640" y="5029200"/>
            <a:ext cx="4846320" cy="685800"/>
          </a:xfrm>
          <a:prstGeom prst="rect">
            <a:avLst/>
          </a:prstGeom>
          <a:solidFill>
            <a:schemeClr val="tx2"/>
          </a:solidFill>
          <a:ln w="9525">
            <a:solidFill>
              <a:schemeClr val="accent2"/>
            </a:solidFill>
            <a:prstDash val="solid"/>
          </a:ln>
        </p:spPr>
      </p:sp>
      <p:sp>
        <p:nvSpPr>
          <p:cNvPr id="19" name="Text 16"/>
          <p:cNvSpPr txBox="1"/>
          <p:nvPr/>
        </p:nvSpPr>
        <p:spPr>
          <a:xfrm>
            <a:off x="731520" y="502920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4</a:t>
            </a:r>
            <a:endParaRPr lang="en-US" sz="1800" dirty="0"/>
          </a:p>
        </p:txBody>
      </p:sp>
      <p:sp>
        <p:nvSpPr>
          <p:cNvPr id="20" name="Text 17"/>
          <p:cNvSpPr txBox="1"/>
          <p:nvPr/>
        </p:nvSpPr>
        <p:spPr>
          <a:xfrm>
            <a:off x="1188720" y="502920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Validación y aterrizaje en bronze</a:t>
            </a:r>
            <a:endParaRPr lang="en-US" sz="1600" dirty="0"/>
          </a:p>
        </p:txBody>
      </p:sp>
      <p:sp>
        <p:nvSpPr>
          <p:cNvPr id="21" name="Text 18"/>
          <p:cNvSpPr txBox="1"/>
          <p:nvPr/>
        </p:nvSpPr>
        <p:spPr>
          <a:xfrm>
            <a:off x="5852160" y="1645920"/>
            <a:ext cx="5788152" cy="251460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Procedencia.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Cada registro lleva consigo de qué fuente viene, cuándo se obtuvo y se guardó, qué ejecución lo guardó y si superó la comprobación.</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Límite por ejecución.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Se procesan 20.000 de los 301.763 perfiles filtrados, para mantener cada ejecución en un tamaño manejable. Es configurable.</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Rechazos.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Los registros rechazados van a una zona aparte con sus errores. Si superan el 5 % de una fuente, la tarea falla.</a:t>
            </a:r>
            <a:endParaRPr lang="en-US" sz="1400" dirty="0"/>
          </a:p>
        </p:txBody>
      </p:sp>
      <p:sp>
        <p:nvSpPr>
          <p:cNvPr id="22" name="Cifra 19.469"/>
          <p:cNvSpPr/>
          <p:nvPr/>
        </p:nvSpPr>
        <p:spPr>
          <a:xfrm>
            <a:off x="5852160" y="4251960"/>
            <a:ext cx="1801368" cy="1828800"/>
          </a:xfrm>
          <a:prstGeom prst="rect">
            <a:avLst/>
          </a:prstGeom>
          <a:solidFill>
            <a:schemeClr val="tx2"/>
          </a:solidFill>
          <a:ln w="9525">
            <a:solidFill>
              <a:schemeClr val="accent2"/>
            </a:solidFill>
            <a:prstDash val="solid"/>
          </a:ln>
        </p:spPr>
      </p:sp>
      <p:sp>
        <p:nvSpPr>
          <p:cNvPr id="23" name="Text 20"/>
          <p:cNvSpPr txBox="1"/>
          <p:nvPr/>
        </p:nvSpPr>
        <p:spPr>
          <a:xfrm>
            <a:off x="6035040" y="4389120"/>
            <a:ext cx="1435608" cy="59436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19.469</a:t>
            </a:r>
            <a:endParaRPr lang="en-US" sz="2600" dirty="0"/>
          </a:p>
        </p:txBody>
      </p:sp>
      <p:sp>
        <p:nvSpPr>
          <p:cNvPr id="24" name="Text 21"/>
          <p:cNvSpPr txBox="1"/>
          <p:nvPr/>
        </p:nvSpPr>
        <p:spPr>
          <a:xfrm>
            <a:off x="6035040" y="5029200"/>
            <a:ext cx="1435608" cy="9601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ORCID aceptados de los 20.000 procesados</a:t>
            </a:r>
            <a:endParaRPr lang="en-US" sz="1400" dirty="0"/>
          </a:p>
        </p:txBody>
      </p:sp>
      <p:sp>
        <p:nvSpPr>
          <p:cNvPr id="25" name="Cifra 531"/>
          <p:cNvSpPr/>
          <p:nvPr/>
        </p:nvSpPr>
        <p:spPr>
          <a:xfrm>
            <a:off x="7845552" y="4251960"/>
            <a:ext cx="1801368" cy="1828800"/>
          </a:xfrm>
          <a:prstGeom prst="rect">
            <a:avLst/>
          </a:prstGeom>
          <a:solidFill>
            <a:schemeClr val="tx2"/>
          </a:solidFill>
          <a:ln w="9525">
            <a:solidFill>
              <a:schemeClr val="accent2"/>
            </a:solidFill>
            <a:prstDash val="solid"/>
          </a:ln>
        </p:spPr>
      </p:sp>
      <p:sp>
        <p:nvSpPr>
          <p:cNvPr id="26" name="Text 23"/>
          <p:cNvSpPr txBox="1"/>
          <p:nvPr/>
        </p:nvSpPr>
        <p:spPr>
          <a:xfrm>
            <a:off x="8028432" y="4389120"/>
            <a:ext cx="1435608" cy="59436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531</a:t>
            </a:r>
            <a:endParaRPr lang="en-US" sz="2600" dirty="0"/>
          </a:p>
        </p:txBody>
      </p:sp>
      <p:sp>
        <p:nvSpPr>
          <p:cNvPr id="27" name="Text 24"/>
          <p:cNvSpPr txBox="1"/>
          <p:nvPr/>
        </p:nvSpPr>
        <p:spPr>
          <a:xfrm>
            <a:off x="8028432" y="5029200"/>
            <a:ext cx="1435608" cy="9601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rechazados</a:t>
            </a:r>
            <a:endParaRPr lang="en-US" sz="1400" dirty="0"/>
          </a:p>
        </p:txBody>
      </p:sp>
      <p:sp>
        <p:nvSpPr>
          <p:cNvPr id="28" name="Cifra 1.000"/>
          <p:cNvSpPr/>
          <p:nvPr/>
        </p:nvSpPr>
        <p:spPr>
          <a:xfrm>
            <a:off x="9838944" y="4251960"/>
            <a:ext cx="1801368" cy="1828800"/>
          </a:xfrm>
          <a:prstGeom prst="rect">
            <a:avLst/>
          </a:prstGeom>
          <a:solidFill>
            <a:schemeClr val="tx2"/>
          </a:solidFill>
          <a:ln w="9525">
            <a:solidFill>
              <a:schemeClr val="accent2"/>
            </a:solidFill>
            <a:prstDash val="solid"/>
          </a:ln>
        </p:spPr>
      </p:sp>
      <p:sp>
        <p:nvSpPr>
          <p:cNvPr id="29" name="Text 26"/>
          <p:cNvSpPr txBox="1"/>
          <p:nvPr/>
        </p:nvSpPr>
        <p:spPr>
          <a:xfrm>
            <a:off x="10021824" y="4389120"/>
            <a:ext cx="1435608" cy="59436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1.000</a:t>
            </a:r>
            <a:endParaRPr lang="en-US" sz="2600" dirty="0"/>
          </a:p>
        </p:txBody>
      </p:sp>
      <p:sp>
        <p:nvSpPr>
          <p:cNvPr id="30" name="Text 27"/>
          <p:cNvSpPr txBox="1"/>
          <p:nvPr/>
        </p:nvSpPr>
        <p:spPr>
          <a:xfrm>
            <a:off x="10021824" y="5029200"/>
            <a:ext cx="1435608" cy="9601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CVN por defecto (10.000 en la evaluación)</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6 · PROCESAMIENTO DISTRIBUIDO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Silver: solo entra lo validado, con rastro</a:t>
            </a:r>
            <a:endParaRPr lang="en-US" sz="3200" dirty="0"/>
          </a:p>
        </p:txBody>
      </p:sp>
      <p:sp>
        <p:nvSpPr>
          <p:cNvPr id="5" name="Comprobacion 1"/>
          <p:cNvSpPr/>
          <p:nvPr/>
        </p:nvSpPr>
        <p:spPr>
          <a:xfrm>
            <a:off x="548640" y="1645920"/>
            <a:ext cx="3392424" cy="1463040"/>
          </a:xfrm>
          <a:prstGeom prst="rect">
            <a:avLst/>
          </a:prstGeom>
          <a:solidFill>
            <a:schemeClr val="tx2"/>
          </a:solidFill>
          <a:ln w="9525">
            <a:solidFill>
              <a:schemeClr val="accent2"/>
            </a:solidFill>
            <a:prstDash val="solid"/>
          </a:ln>
        </p:spPr>
      </p:sp>
      <p:sp>
        <p:nvSpPr>
          <p:cNvPr id="6" name="Text 3"/>
          <p:cNvSpPr txBox="1"/>
          <p:nvPr/>
        </p:nvSpPr>
        <p:spPr>
          <a:xfrm>
            <a:off x="731520" y="1737360"/>
            <a:ext cx="3026664" cy="228600"/>
          </a:xfrm>
          <a:prstGeom prst="rect">
            <a:avLst/>
          </a:prstGeom>
          <a:noFill/>
          <a:ln/>
        </p:spPr>
        <p:txBody>
          <a:bodyPr wrap="square" lIns="0" tIns="0" rIns="0" bIns="0" rtlCol="0" anchor="t"/>
          <a:lstStyle/>
          <a:p>
            <a:pPr algn="l" indent="0" marL="0">
              <a:buNone/>
            </a:pPr>
            <a:r>
              <a:rPr lang="en-US" sz="1000" spc="100" kern="0" dirty="0">
                <a:solidFill>
                  <a:schemeClr val="accent1"/>
                </a:solidFill>
                <a:latin typeface="Consolas" pitchFamily="34" charset="0"/>
                <a:ea typeface="Consolas" pitchFamily="34" charset="-122"/>
                <a:cs typeface="Consolas" pitchFamily="34" charset="-120"/>
              </a:rPr>
              <a:t>COMPROBACIÓN 1 · FORMATO</a:t>
            </a:r>
            <a:endParaRPr lang="en-US" sz="1000" dirty="0"/>
          </a:p>
        </p:txBody>
      </p:sp>
      <p:sp>
        <p:nvSpPr>
          <p:cNvPr id="7" name="Text 4"/>
          <p:cNvSpPr txBox="1"/>
          <p:nvPr/>
        </p:nvSpPr>
        <p:spPr>
          <a:xfrm>
            <a:off x="731520" y="1993392"/>
            <a:ext cx="3026664" cy="36576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Formato</a:t>
            </a:r>
            <a:endParaRPr lang="en-US" sz="1900" dirty="0"/>
          </a:p>
        </p:txBody>
      </p:sp>
      <p:sp>
        <p:nvSpPr>
          <p:cNvPr id="8" name="Text 5"/>
          <p:cNvSpPr txBox="1"/>
          <p:nvPr/>
        </p:nvSpPr>
        <p:spPr>
          <a:xfrm>
            <a:off x="731520" y="2395728"/>
            <a:ext cx="3026664" cy="6858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El documento cumple el esquema Open CVN</a:t>
            </a:r>
            <a:endParaRPr lang="en-US" sz="1400" dirty="0"/>
          </a:p>
        </p:txBody>
      </p:sp>
      <p:sp>
        <p:nvSpPr>
          <p:cNvPr id="9" name="Flecha comprobacion 1"/>
          <p:cNvSpPr/>
          <p:nvPr/>
        </p:nvSpPr>
        <p:spPr>
          <a:xfrm>
            <a:off x="3986784" y="2377440"/>
            <a:ext cx="365760" cy="0"/>
          </a:xfrm>
          <a:prstGeom prst="line">
            <a:avLst/>
          </a:prstGeom>
          <a:noFill/>
          <a:ln w="25400">
            <a:solidFill>
              <a:schemeClr val="accent1"/>
            </a:solidFill>
            <a:prstDash val="solid"/>
            <a:tailEnd type="triangle"/>
          </a:ln>
        </p:spPr>
      </p:sp>
      <p:sp>
        <p:nvSpPr>
          <p:cNvPr id="10" name="Comprobacion 2"/>
          <p:cNvSpPr/>
          <p:nvPr/>
        </p:nvSpPr>
        <p:spPr>
          <a:xfrm>
            <a:off x="4398264" y="1645920"/>
            <a:ext cx="3392424" cy="1463040"/>
          </a:xfrm>
          <a:prstGeom prst="rect">
            <a:avLst/>
          </a:prstGeom>
          <a:solidFill>
            <a:schemeClr val="tx2"/>
          </a:solidFill>
          <a:ln w="9525">
            <a:solidFill>
              <a:schemeClr val="accent2"/>
            </a:solidFill>
            <a:prstDash val="solid"/>
          </a:ln>
        </p:spPr>
      </p:sp>
      <p:sp>
        <p:nvSpPr>
          <p:cNvPr id="11" name="Text 8"/>
          <p:cNvSpPr txBox="1"/>
          <p:nvPr/>
        </p:nvSpPr>
        <p:spPr>
          <a:xfrm>
            <a:off x="4581144" y="1737360"/>
            <a:ext cx="3026664" cy="228600"/>
          </a:xfrm>
          <a:prstGeom prst="rect">
            <a:avLst/>
          </a:prstGeom>
          <a:noFill/>
          <a:ln/>
        </p:spPr>
        <p:txBody>
          <a:bodyPr wrap="square" lIns="0" tIns="0" rIns="0" bIns="0" rtlCol="0" anchor="t"/>
          <a:lstStyle/>
          <a:p>
            <a:pPr algn="l" indent="0" marL="0">
              <a:buNone/>
            </a:pPr>
            <a:r>
              <a:rPr lang="en-US" sz="1000" spc="100" kern="0" dirty="0">
                <a:solidFill>
                  <a:schemeClr val="accent1"/>
                </a:solidFill>
                <a:latin typeface="Consolas" pitchFamily="34" charset="0"/>
                <a:ea typeface="Consolas" pitchFamily="34" charset="-122"/>
                <a:cs typeface="Consolas" pitchFamily="34" charset="-120"/>
              </a:rPr>
              <a:t>COMPROBACIÓN 2 · CONTENIDO</a:t>
            </a:r>
            <a:endParaRPr lang="en-US" sz="1000" dirty="0"/>
          </a:p>
        </p:txBody>
      </p:sp>
      <p:sp>
        <p:nvSpPr>
          <p:cNvPr id="12" name="Text 9"/>
          <p:cNvSpPr txBox="1"/>
          <p:nvPr/>
        </p:nvSpPr>
        <p:spPr>
          <a:xfrm>
            <a:off x="4581144" y="1993392"/>
            <a:ext cx="3026664" cy="36576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Contenido</a:t>
            </a:r>
            <a:endParaRPr lang="en-US" sz="1900" dirty="0"/>
          </a:p>
        </p:txBody>
      </p:sp>
      <p:sp>
        <p:nvSpPr>
          <p:cNvPr id="13" name="Text 10"/>
          <p:cNvSpPr txBox="1"/>
          <p:nvPr/>
        </p:nvSpPr>
        <p:spPr>
          <a:xfrm>
            <a:off x="4581144" y="2395728"/>
            <a:ext cx="3026664" cy="6858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Cada elemento (publicación, formación…) tiene los campos propios de su tipo</a:t>
            </a:r>
            <a:endParaRPr lang="en-US" sz="1400" dirty="0"/>
          </a:p>
        </p:txBody>
      </p:sp>
      <p:sp>
        <p:nvSpPr>
          <p:cNvPr id="14" name="Flecha comprobacion 2"/>
          <p:cNvSpPr/>
          <p:nvPr/>
        </p:nvSpPr>
        <p:spPr>
          <a:xfrm>
            <a:off x="7836408" y="2377440"/>
            <a:ext cx="365760" cy="0"/>
          </a:xfrm>
          <a:prstGeom prst="line">
            <a:avLst/>
          </a:prstGeom>
          <a:noFill/>
          <a:ln w="25400">
            <a:solidFill>
              <a:schemeClr val="accent1"/>
            </a:solidFill>
            <a:prstDash val="solid"/>
            <a:tailEnd type="triangle"/>
          </a:ln>
        </p:spPr>
      </p:sp>
      <p:sp>
        <p:nvSpPr>
          <p:cNvPr id="15" name="Comprobacion 3"/>
          <p:cNvSpPr/>
          <p:nvPr/>
        </p:nvSpPr>
        <p:spPr>
          <a:xfrm>
            <a:off x="8247888" y="1645920"/>
            <a:ext cx="3392424" cy="1463040"/>
          </a:xfrm>
          <a:prstGeom prst="rect">
            <a:avLst/>
          </a:prstGeom>
          <a:solidFill>
            <a:schemeClr val="tx2"/>
          </a:solidFill>
          <a:ln w="9525">
            <a:solidFill>
              <a:schemeClr val="accent2"/>
            </a:solidFill>
            <a:prstDash val="solid"/>
          </a:ln>
        </p:spPr>
      </p:sp>
      <p:sp>
        <p:nvSpPr>
          <p:cNvPr id="16" name="Text 13"/>
          <p:cNvSpPr txBox="1"/>
          <p:nvPr/>
        </p:nvSpPr>
        <p:spPr>
          <a:xfrm>
            <a:off x="8430768" y="1737360"/>
            <a:ext cx="3026664" cy="228600"/>
          </a:xfrm>
          <a:prstGeom prst="rect">
            <a:avLst/>
          </a:prstGeom>
          <a:noFill/>
          <a:ln/>
        </p:spPr>
        <p:txBody>
          <a:bodyPr wrap="square" lIns="0" tIns="0" rIns="0" bIns="0" rtlCol="0" anchor="t"/>
          <a:lstStyle/>
          <a:p>
            <a:pPr algn="l" indent="0" marL="0">
              <a:buNone/>
            </a:pPr>
            <a:r>
              <a:rPr lang="en-US" sz="1000" spc="100" kern="0" dirty="0">
                <a:solidFill>
                  <a:schemeClr val="accent1"/>
                </a:solidFill>
                <a:latin typeface="Consolas" pitchFamily="34" charset="0"/>
                <a:ea typeface="Consolas" pitchFamily="34" charset="-122"/>
                <a:cs typeface="Consolas" pitchFamily="34" charset="-120"/>
              </a:rPr>
              <a:t>COMPROBACIÓN 3 · REGLAS</a:t>
            </a:r>
            <a:endParaRPr lang="en-US" sz="1000" dirty="0"/>
          </a:p>
        </p:txBody>
      </p:sp>
      <p:sp>
        <p:nvSpPr>
          <p:cNvPr id="17" name="Text 14"/>
          <p:cNvSpPr txBox="1"/>
          <p:nvPr/>
        </p:nvSpPr>
        <p:spPr>
          <a:xfrm>
            <a:off x="8430768" y="1993392"/>
            <a:ext cx="3026664" cy="36576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Reglas</a:t>
            </a:r>
            <a:endParaRPr lang="en-US" sz="1900" dirty="0"/>
          </a:p>
        </p:txBody>
      </p:sp>
      <p:sp>
        <p:nvSpPr>
          <p:cNvPr id="18" name="Text 15"/>
          <p:cNvSpPr txBox="1"/>
          <p:nvPr/>
        </p:nvSpPr>
        <p:spPr>
          <a:xfrm>
            <a:off x="8430768" y="2395728"/>
            <a:ext cx="3026664" cy="6858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ORCID con dígito de control válido y fechas coherentes</a:t>
            </a:r>
            <a:endParaRPr lang="en-US" sz="1400" dirty="0"/>
          </a:p>
        </p:txBody>
      </p:sp>
      <p:sp>
        <p:nvSpPr>
          <p:cNvPr id="19" name="Normalizacion"/>
          <p:cNvSpPr/>
          <p:nvPr/>
        </p:nvSpPr>
        <p:spPr>
          <a:xfrm>
            <a:off x="548640" y="3246120"/>
            <a:ext cx="6858000" cy="1463040"/>
          </a:xfrm>
          <a:prstGeom prst="rect">
            <a:avLst/>
          </a:prstGeom>
          <a:solidFill>
            <a:schemeClr val="tx2"/>
          </a:solidFill>
          <a:ln w="9525">
            <a:solidFill>
              <a:schemeClr val="accent2"/>
            </a:solidFill>
            <a:prstDash val="solid"/>
          </a:ln>
        </p:spPr>
      </p:sp>
      <p:sp>
        <p:nvSpPr>
          <p:cNvPr id="20" name="Text 17"/>
          <p:cNvSpPr txBox="1"/>
          <p:nvPr/>
        </p:nvSpPr>
        <p:spPr>
          <a:xfrm>
            <a:off x="777240" y="3319272"/>
            <a:ext cx="54864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NORMALIZACIÓN: PARA PODER COMPARAR</a:t>
            </a:r>
            <a:endParaRPr lang="en-US" sz="1100" dirty="0"/>
          </a:p>
        </p:txBody>
      </p:sp>
      <p:sp>
        <p:nvSpPr>
          <p:cNvPr id="21" name="Text 18"/>
          <p:cNvSpPr txBox="1"/>
          <p:nvPr/>
        </p:nvSpPr>
        <p:spPr>
          <a:xfrm>
            <a:off x="777240" y="3611880"/>
            <a:ext cx="6400800" cy="105156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Nombres: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sin acentos ni partículas. «de la Torre, Ana» pasa a la clave «torre, a».</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Organizaciones: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solo las palabras con significado, sin importar el orden. «Universidad de Granada» y «Granada, Universidad de» quedan iguales.</a:t>
            </a:r>
            <a:endParaRPr lang="en-US" sz="1400" dirty="0"/>
          </a:p>
        </p:txBody>
      </p:sp>
      <p:sp>
        <p:nvSpPr>
          <p:cNvPr id="22" name="Rechazados"/>
          <p:cNvSpPr/>
          <p:nvPr/>
        </p:nvSpPr>
        <p:spPr>
          <a:xfrm>
            <a:off x="7543800" y="3246120"/>
            <a:ext cx="4096512" cy="1463040"/>
          </a:xfrm>
          <a:prstGeom prst="rect">
            <a:avLst/>
          </a:prstGeom>
          <a:solidFill>
            <a:schemeClr val="tx2"/>
          </a:solidFill>
          <a:ln w="9525">
            <a:solidFill>
              <a:schemeClr val="accent2"/>
            </a:solidFill>
            <a:prstDash val="solid"/>
          </a:ln>
        </p:spPr>
      </p:sp>
      <p:sp>
        <p:nvSpPr>
          <p:cNvPr id="23" name="Text 20"/>
          <p:cNvSpPr txBox="1"/>
          <p:nvPr/>
        </p:nvSpPr>
        <p:spPr>
          <a:xfrm>
            <a:off x="7772400" y="3319272"/>
            <a:ext cx="27432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LO QUE FALLA</a:t>
            </a:r>
            <a:endParaRPr lang="en-US" sz="1100" dirty="0"/>
          </a:p>
        </p:txBody>
      </p:sp>
      <p:sp>
        <p:nvSpPr>
          <p:cNvPr id="24" name="Text 21"/>
          <p:cNvSpPr txBox="1"/>
          <p:nvPr/>
        </p:nvSpPr>
        <p:spPr>
          <a:xfrm>
            <a:off x="7772400" y="3611880"/>
            <a:ext cx="3639312"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Va a una tabla de rechazados con la regla incumplida. Si supera el 5 % de una fuente, el trabajo falla.</a:t>
            </a:r>
            <a:endParaRPr lang="en-US" sz="1400" dirty="0"/>
          </a:p>
        </p:txBody>
      </p:sp>
      <p:sp>
        <p:nvSpPr>
          <p:cNvPr id="25" name="Cifra silver 30.868"/>
          <p:cNvSpPr/>
          <p:nvPr/>
        </p:nvSpPr>
        <p:spPr>
          <a:xfrm>
            <a:off x="548640" y="4846320"/>
            <a:ext cx="2670048" cy="1371600"/>
          </a:xfrm>
          <a:prstGeom prst="rect">
            <a:avLst/>
          </a:prstGeom>
          <a:solidFill>
            <a:schemeClr val="tx2"/>
          </a:solidFill>
          <a:ln w="9525">
            <a:solidFill>
              <a:schemeClr val="accent2"/>
            </a:solidFill>
            <a:prstDash val="solid"/>
          </a:ln>
        </p:spPr>
      </p:sp>
      <p:sp>
        <p:nvSpPr>
          <p:cNvPr id="26" name="Text 23"/>
          <p:cNvSpPr txBox="1"/>
          <p:nvPr/>
        </p:nvSpPr>
        <p:spPr>
          <a:xfrm>
            <a:off x="731520"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30.868</a:t>
            </a:r>
            <a:endParaRPr lang="en-US" sz="3200" dirty="0"/>
          </a:p>
        </p:txBody>
      </p:sp>
      <p:sp>
        <p:nvSpPr>
          <p:cNvPr id="27" name="Text 24"/>
          <p:cNvSpPr txBox="1"/>
          <p:nvPr/>
        </p:nvSpPr>
        <p:spPr>
          <a:xfrm>
            <a:off x="731520"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de persona: 19.469 ORCID, 399 API y 11.000 CVN</a:t>
            </a:r>
            <a:endParaRPr lang="en-US" sz="1400" dirty="0"/>
          </a:p>
        </p:txBody>
      </p:sp>
      <p:sp>
        <p:nvSpPr>
          <p:cNvPr id="28" name="Cifra silver 99.979"/>
          <p:cNvSpPr/>
          <p:nvPr/>
        </p:nvSpPr>
        <p:spPr>
          <a:xfrm>
            <a:off x="3355848" y="4846320"/>
            <a:ext cx="2670048" cy="1371600"/>
          </a:xfrm>
          <a:prstGeom prst="rect">
            <a:avLst/>
          </a:prstGeom>
          <a:solidFill>
            <a:schemeClr val="tx2"/>
          </a:solidFill>
          <a:ln w="9525">
            <a:solidFill>
              <a:schemeClr val="accent2"/>
            </a:solidFill>
            <a:prstDash val="solid"/>
          </a:ln>
        </p:spPr>
      </p:sp>
      <p:sp>
        <p:nvSpPr>
          <p:cNvPr id="29" name="Text 26"/>
          <p:cNvSpPr txBox="1"/>
          <p:nvPr/>
        </p:nvSpPr>
        <p:spPr>
          <a:xfrm>
            <a:off x="3538728"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99.979</a:t>
            </a:r>
            <a:endParaRPr lang="en-US" sz="3200" dirty="0"/>
          </a:p>
        </p:txBody>
      </p:sp>
      <p:sp>
        <p:nvSpPr>
          <p:cNvPr id="30" name="Text 27"/>
          <p:cNvSpPr txBox="1"/>
          <p:nvPr/>
        </p:nvSpPr>
        <p:spPr>
          <a:xfrm>
            <a:off x="3538728"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afiliaciones dentro de esos registros</a:t>
            </a:r>
            <a:endParaRPr lang="en-US" sz="1400" dirty="0"/>
          </a:p>
        </p:txBody>
      </p:sp>
      <p:sp>
        <p:nvSpPr>
          <p:cNvPr id="31" name="Cifra silver 543.879"/>
          <p:cNvSpPr/>
          <p:nvPr/>
        </p:nvSpPr>
        <p:spPr>
          <a:xfrm>
            <a:off x="6163056" y="4846320"/>
            <a:ext cx="2670048" cy="1371600"/>
          </a:xfrm>
          <a:prstGeom prst="rect">
            <a:avLst/>
          </a:prstGeom>
          <a:solidFill>
            <a:schemeClr val="tx2"/>
          </a:solidFill>
          <a:ln w="9525">
            <a:solidFill>
              <a:schemeClr val="accent2"/>
            </a:solidFill>
            <a:prstDash val="solid"/>
          </a:ln>
        </p:spPr>
      </p:sp>
      <p:sp>
        <p:nvSpPr>
          <p:cNvPr id="32" name="Text 29"/>
          <p:cNvSpPr txBox="1"/>
          <p:nvPr/>
        </p:nvSpPr>
        <p:spPr>
          <a:xfrm>
            <a:off x="6345936"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543.879</a:t>
            </a:r>
            <a:endParaRPr lang="en-US" sz="3200" dirty="0"/>
          </a:p>
        </p:txBody>
      </p:sp>
      <p:sp>
        <p:nvSpPr>
          <p:cNvPr id="33" name="Text 30"/>
          <p:cNvSpPr txBox="1"/>
          <p:nvPr/>
        </p:nvSpPr>
        <p:spPr>
          <a:xfrm>
            <a:off x="6345936"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publicaciones dentro de esos registros</a:t>
            </a:r>
            <a:endParaRPr lang="en-US" sz="1400" dirty="0"/>
          </a:p>
        </p:txBody>
      </p:sp>
      <p:sp>
        <p:nvSpPr>
          <p:cNvPr id="34" name="Cifra silver 0"/>
          <p:cNvSpPr/>
          <p:nvPr/>
        </p:nvSpPr>
        <p:spPr>
          <a:xfrm>
            <a:off x="8970264" y="4846320"/>
            <a:ext cx="2670048" cy="1371600"/>
          </a:xfrm>
          <a:prstGeom prst="rect">
            <a:avLst/>
          </a:prstGeom>
          <a:solidFill>
            <a:schemeClr val="tx2"/>
          </a:solidFill>
          <a:ln w="9525">
            <a:solidFill>
              <a:schemeClr val="accent2"/>
            </a:solidFill>
            <a:prstDash val="solid"/>
          </a:ln>
        </p:spPr>
      </p:sp>
      <p:sp>
        <p:nvSpPr>
          <p:cNvPr id="35" name="Text 32"/>
          <p:cNvSpPr txBox="1"/>
          <p:nvPr/>
        </p:nvSpPr>
        <p:spPr>
          <a:xfrm>
            <a:off x="9153144"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0</a:t>
            </a:r>
            <a:endParaRPr lang="en-US" sz="3200" dirty="0"/>
          </a:p>
        </p:txBody>
      </p:sp>
      <p:sp>
        <p:nvSpPr>
          <p:cNvPr id="36" name="Text 33"/>
          <p:cNvSpPr txBox="1"/>
          <p:nvPr/>
        </p:nvSpPr>
        <p:spPr>
          <a:xfrm>
            <a:off x="9153144"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rechazados</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6 · PROCESAMIENTO DISTRIBUIDO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Fusión de identidades: precisión medida</a:t>
            </a:r>
            <a:endParaRPr lang="en-US" sz="3200" dirty="0"/>
          </a:p>
        </p:txBody>
      </p:sp>
      <p:sp>
        <p:nvSpPr>
          <p:cNvPr id="5" name="Regla R1"/>
          <p:cNvSpPr/>
          <p:nvPr/>
        </p:nvSpPr>
        <p:spPr>
          <a:xfrm>
            <a:off x="548640" y="1645920"/>
            <a:ext cx="5212080" cy="960120"/>
          </a:xfrm>
          <a:prstGeom prst="rect">
            <a:avLst/>
          </a:prstGeom>
          <a:solidFill>
            <a:schemeClr val="tx2"/>
          </a:solidFill>
          <a:ln w="9525">
            <a:solidFill>
              <a:schemeClr val="accent2"/>
            </a:solidFill>
            <a:prstDash val="solid"/>
          </a:ln>
        </p:spPr>
      </p:sp>
      <p:sp>
        <p:nvSpPr>
          <p:cNvPr id="6" name="Text 3"/>
          <p:cNvSpPr txBox="1"/>
          <p:nvPr/>
        </p:nvSpPr>
        <p:spPr>
          <a:xfrm>
            <a:off x="731520" y="171907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R1 · EVIDENCIA FUERTE</a:t>
            </a:r>
            <a:endParaRPr lang="en-US" sz="1100" dirty="0"/>
          </a:p>
        </p:txBody>
      </p:sp>
      <p:sp>
        <p:nvSpPr>
          <p:cNvPr id="7" name="Text 4"/>
          <p:cNvSpPr txBox="1"/>
          <p:nvPr/>
        </p:nvSpPr>
        <p:spPr>
          <a:xfrm>
            <a:off x="731520" y="2011680"/>
            <a:ext cx="4846320" cy="50292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Mismo identificador ORCID válido: fusiona.</a:t>
            </a:r>
            <a:endParaRPr lang="en-US" sz="1400" dirty="0"/>
          </a:p>
        </p:txBody>
      </p:sp>
      <p:sp>
        <p:nvSpPr>
          <p:cNvPr id="8" name="Regla R2"/>
          <p:cNvSpPr/>
          <p:nvPr/>
        </p:nvSpPr>
        <p:spPr>
          <a:xfrm>
            <a:off x="548640" y="2743200"/>
            <a:ext cx="5212080" cy="2331720"/>
          </a:xfrm>
          <a:prstGeom prst="rect">
            <a:avLst/>
          </a:prstGeom>
          <a:solidFill>
            <a:schemeClr val="tx2"/>
          </a:solidFill>
          <a:ln w="9525">
            <a:solidFill>
              <a:schemeClr val="accent2"/>
            </a:solidFill>
            <a:prstDash val="solid"/>
          </a:ln>
        </p:spPr>
      </p:sp>
      <p:sp>
        <p:nvSpPr>
          <p:cNvPr id="9" name="Text 6"/>
          <p:cNvSpPr txBox="1"/>
          <p:nvPr/>
        </p:nvSpPr>
        <p:spPr>
          <a:xfrm>
            <a:off x="731520" y="281635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R2 · CVN SIN ORCID</a:t>
            </a:r>
            <a:endParaRPr lang="en-US" sz="1100" dirty="0"/>
          </a:p>
        </p:txBody>
      </p:sp>
      <p:sp>
        <p:nvSpPr>
          <p:cNvPr id="10" name="Text 7"/>
          <p:cNvSpPr txBox="1"/>
          <p:nvPr/>
        </p:nvSpPr>
        <p:spPr>
          <a:xfrm>
            <a:off x="731520" y="3090672"/>
            <a:ext cx="4846320" cy="27432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Busca una persona ya identificada por R1 que cumpla todo esto:</a:t>
            </a:r>
            <a:endParaRPr lang="en-US" sz="1400" dirty="0"/>
          </a:p>
        </p:txBody>
      </p:sp>
      <p:sp>
        <p:nvSpPr>
          <p:cNvPr id="11" name="Text 8"/>
          <p:cNvSpPr txBox="1"/>
          <p:nvPr/>
        </p:nvSpPr>
        <p:spPr>
          <a:xfrm>
            <a:off x="731520" y="3401568"/>
            <a:ext cx="4846320" cy="1600200"/>
          </a:xfrm>
          <a:prstGeom prst="rect">
            <a:avLst/>
          </a:prstGeom>
          <a:noFill/>
          <a:ln/>
        </p:spPr>
        <p:txBody>
          <a:bodyPr wrap="square" lIns="0" tIns="0" rIns="0" bIns="0" rtlCol="0" anchor="t"/>
          <a:lstStyle/>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Misma clave de bloqueo: apellido normalizado + inicial del nombre</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Nombre compatible: puede variar el nombre o el apellido, no ambos</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Alguna organización en común</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Una única candidata</a:t>
            </a:r>
            <a:endParaRPr lang="en-US" sz="1400" dirty="0"/>
          </a:p>
        </p:txBody>
      </p:sp>
      <p:sp>
        <p:nvSpPr>
          <p:cNvPr id="12" name="Regla R3"/>
          <p:cNvSpPr/>
          <p:nvPr/>
        </p:nvSpPr>
        <p:spPr>
          <a:xfrm>
            <a:off x="548640" y="5212080"/>
            <a:ext cx="5212080" cy="868680"/>
          </a:xfrm>
          <a:prstGeom prst="rect">
            <a:avLst/>
          </a:prstGeom>
          <a:solidFill>
            <a:schemeClr val="tx2"/>
          </a:solidFill>
          <a:ln w="9525">
            <a:solidFill>
              <a:schemeClr val="accent2"/>
            </a:solidFill>
            <a:prstDash val="solid"/>
          </a:ln>
        </p:spPr>
      </p:sp>
      <p:sp>
        <p:nvSpPr>
          <p:cNvPr id="13" name="Text 10"/>
          <p:cNvSpPr txBox="1"/>
          <p:nvPr/>
        </p:nvSpPr>
        <p:spPr>
          <a:xfrm>
            <a:off x="731520" y="528523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R3 · SIN EVIDENCIA</a:t>
            </a:r>
            <a:endParaRPr lang="en-US" sz="1100" dirty="0"/>
          </a:p>
        </p:txBody>
      </p:sp>
      <p:sp>
        <p:nvSpPr>
          <p:cNvPr id="14" name="Text 11"/>
          <p:cNvSpPr txBox="1"/>
          <p:nvPr/>
        </p:nvSpPr>
        <p:spPr>
          <a:xfrm>
            <a:off x="731520" y="5577840"/>
            <a:ext cx="4846320" cy="45720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Ninguna de las anteriores: entidad propia.</a:t>
            </a:r>
            <a:endParaRPr lang="en-US" sz="1400" dirty="0"/>
          </a:p>
        </p:txBody>
      </p:sp>
      <p:graphicFrame>
        <p:nvGraphicFramePr>
          <p:cNvPr id="15" name="Resultados de la resolucion"/>
          <p:cNvGraphicFramePr>
            <a:graphicFrameLocks noGrp="1"/>
          </p:cNvGraphicFramePr>
          <p:nvPr>
            <p:extLst>
              <p:ext uri="{D42A27DB-BD31-4B8C-83A1-F6EECF244321}">
                <p14:modId xmlns:p14="http://schemas.microsoft.com/office/powerpoint/2010/main" val="1579011935"/>
              </p:ext>
            </p:extLst>
          </p:nvPr>
        </p:nvGraphicFramePr>
        <p:xfrm>
          <a:off x="5943600" y="1645920"/>
          <a:ext cx="5696712" cy="914400"/>
        </p:xfrm>
        <a:graphic>
          <a:graphicData uri="http://schemas.openxmlformats.org/drawingml/2006/table">
            <a:tbl>
              <a:tblPr/>
              <a:tblGrid>
                <a:gridCol w="731520"/>
                <a:gridCol w="1234440"/>
                <a:gridCol w="1143000"/>
                <a:gridCol w="1188720"/>
                <a:gridCol w="1399032"/>
              </a:tblGrid>
              <a:tr h="457200">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REGLA</a:t>
                      </a:r>
                      <a:endParaRPr lang="en-US" sz="1100" dirty="0">
                        <a:latin typeface="Consolas" charset="0"/>
                        <a:ea typeface="Consolas" charset="0"/>
                        <a:cs typeface="Consolas" charset="0"/>
                      </a:endParaRPr>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EVALUABLES</a:t>
                      </a:r>
                      <a:endParaRPr lang="en-US" sz="1100" dirty="0">
                        <a:latin typeface="Consolas" charset="0"/>
                        <a:ea typeface="Consolas" charset="0"/>
                        <a:cs typeface="Consolas" charset="0"/>
                      </a:endParaRPr>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CORRECTAS</a:t>
                      </a:r>
                      <a:endParaRPr lang="en-US" sz="1100" dirty="0">
                        <a:latin typeface="Consolas" charset="0"/>
                        <a:ea typeface="Consolas" charset="0"/>
                        <a:cs typeface="Consolas" charset="0"/>
                      </a:endParaRPr>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PRECISIÓN</a:t>
                      </a:r>
                      <a:endParaRPr lang="en-US" sz="1100" dirty="0">
                        <a:latin typeface="Consolas" charset="0"/>
                        <a:ea typeface="Consolas" charset="0"/>
                        <a:cs typeface="Consolas" charset="0"/>
                      </a:endParaRPr>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COBERTURA</a:t>
                      </a:r>
                      <a:endParaRPr lang="en-US" sz="1100" dirty="0">
                        <a:latin typeface="Consolas" charset="0"/>
                        <a:ea typeface="Consolas" charset="0"/>
                        <a:cs typeface="Consolas" charset="0"/>
                      </a:endParaRPr>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1"/>
                    </a:solidFill>
                  </a:tcPr>
                </a:tc>
              </a:tr>
              <a:tr h="457200">
                <a:tc>
                  <a:txBody>
                    <a:bodyPr/>
                    <a:lstStyle/>
                    <a:p>
                      <a:pPr algn="ctr" indent="0" marL="0">
                        <a:buNone/>
                      </a:pPr>
                      <a:r>
                        <a:rPr lang="en-US" sz="1500" b="1" dirty="0">
                          <a:solidFill>
                            <a:schemeClr val="bg1"/>
                          </a:solidFill>
                        </a:rPr>
                        <a:t>R1</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7.098</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7.098</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4"/>
                          </a:solidFill>
                        </a:rPr>
                        <a:t>100 %</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4"/>
                          </a:solidFill>
                        </a:rPr>
                        <a:t>100 %</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r>
              <a:tr h="457200">
                <a:tc>
                  <a:txBody>
                    <a:bodyPr/>
                    <a:lstStyle/>
                    <a:p>
                      <a:pPr algn="ctr" indent="0" marL="0">
                        <a:buNone/>
                      </a:pPr>
                      <a:r>
                        <a:rPr lang="en-US" sz="1500" b="1" dirty="0">
                          <a:solidFill>
                            <a:schemeClr val="bg1"/>
                          </a:solidFill>
                        </a:rPr>
                        <a:t>R2</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186</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138</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95,8 %</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74,2 %</a:t>
                      </a:r>
                      <a:endParaRPr lang="en-US" sz="1500" dirty="0"/>
                    </a:p>
                  </a:txBody>
                  <a:tcPr marL="45720" marR="45720" marT="0" marB="0" anchor="ctr">
                    <a:lnL w="9525" cap="flat" cmpd="sng" algn="ctr">
                      <a:solidFill>
                        <a:srgbClr val="7A93AE"/>
                      </a:solidFill>
                      <a:prstDash val="solid"/>
                      <a:round/>
                      <a:headEnd type="none" w="med" len="med"/>
                      <a:tailEnd type="none" w="med" len="med"/>
                    </a:lnL>
                    <a:lnR w="9525" cap="flat" cmpd="sng" algn="ctr">
                      <a:solidFill>
                        <a:srgbClr val="7A93AE"/>
                      </a:solidFill>
                      <a:prstDash val="solid"/>
                      <a:round/>
                      <a:headEnd type="none" w="med" len="med"/>
                      <a:tailEnd type="none" w="med" len="med"/>
                    </a:lnR>
                    <a:lnT w="9525" cap="flat" cmpd="sng" algn="ctr">
                      <a:solidFill>
                        <a:srgbClr val="7A93AE"/>
                      </a:solidFill>
                      <a:prstDash val="solid"/>
                      <a:round/>
                      <a:headEnd type="none" w="med" len="med"/>
                      <a:tailEnd type="none" w="med" len="med"/>
                    </a:lnT>
                    <a:lnB w="9525" cap="flat" cmpd="sng" algn="ctr">
                      <a:solidFill>
                        <a:srgbClr val="7A93AE"/>
                      </a:solidFill>
                      <a:prstDash val="solid"/>
                      <a:round/>
                      <a:headEnd type="none" w="med" len="med"/>
                      <a:tailEnd type="none" w="med" len="med"/>
                    </a:lnB>
                    <a:solidFill>
                      <a:schemeClr val="tx2"/>
                    </a:solidFill>
                  </a:tcPr>
                </a:tc>
              </a:tr>
            </a:tbl>
          </a:graphicData>
        </a:graphic>
      </p:graphicFrame>
      <p:sp>
        <p:nvSpPr>
          <p:cNvPr id="16" name="Text 12"/>
          <p:cNvSpPr txBox="1"/>
          <p:nvPr/>
        </p:nvSpPr>
        <p:spPr>
          <a:xfrm>
            <a:off x="5943600" y="3090672"/>
            <a:ext cx="5696712"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SOBRE 10.000 CVN · VERDAD DE REFERENCIA DEL GENERADOR</a:t>
            </a:r>
            <a:endParaRPr lang="en-US" sz="1000" dirty="0"/>
          </a:p>
        </p:txBody>
      </p:sp>
      <p:sp>
        <p:nvSpPr>
          <p:cNvPr id="17" name="Definiciones"/>
          <p:cNvSpPr/>
          <p:nvPr/>
        </p:nvSpPr>
        <p:spPr>
          <a:xfrm>
            <a:off x="5943600" y="3429000"/>
            <a:ext cx="5696712" cy="1325880"/>
          </a:xfrm>
          <a:prstGeom prst="rect">
            <a:avLst/>
          </a:prstGeom>
          <a:solidFill>
            <a:schemeClr val="tx2"/>
          </a:solidFill>
          <a:ln w="9525">
            <a:solidFill>
              <a:schemeClr val="accent2"/>
            </a:solidFill>
            <a:prstDash val="solid"/>
          </a:ln>
        </p:spPr>
      </p:sp>
      <p:sp>
        <p:nvSpPr>
          <p:cNvPr id="18" name="Text 14"/>
          <p:cNvSpPr txBox="1"/>
          <p:nvPr/>
        </p:nvSpPr>
        <p:spPr>
          <a:xfrm>
            <a:off x="6126480" y="3520440"/>
            <a:ext cx="5330952" cy="118872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Precisión: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de las fusiones que hace R2, cuántas son correctas (138 de 144).</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Cobertura: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de los casos que R2 puede resolver, cuántos resuelve (138 de 186).</a:t>
            </a:r>
            <a:endParaRPr lang="en-US" sz="1400" dirty="0"/>
          </a:p>
        </p:txBody>
      </p:sp>
      <p:sp>
        <p:nvSpPr>
          <p:cNvPr id="19" name="Resultado frente al objetivo"/>
          <p:cNvSpPr/>
          <p:nvPr/>
        </p:nvSpPr>
        <p:spPr>
          <a:xfrm>
            <a:off x="5943600" y="4892040"/>
            <a:ext cx="5696712" cy="1188720"/>
          </a:xfrm>
          <a:prstGeom prst="rect">
            <a:avLst/>
          </a:prstGeom>
          <a:solidFill>
            <a:schemeClr val="tx2"/>
          </a:solidFill>
          <a:ln w="9525">
            <a:solidFill>
              <a:schemeClr val="accent2"/>
            </a:solidFill>
            <a:prstDash val="solid"/>
          </a:ln>
        </p:spPr>
      </p:sp>
      <p:sp>
        <p:nvSpPr>
          <p:cNvPr id="20" name="Text 16"/>
          <p:cNvSpPr txBox="1"/>
          <p:nvPr/>
        </p:nvSpPr>
        <p:spPr>
          <a:xfrm>
            <a:off x="6126480" y="4937760"/>
            <a:ext cx="5330952" cy="109728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Objetivo: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el 99 % de precisión no se alcanza en R2.</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Cobertura: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47 de los 186 casos no tienen afiliación y R2 necesita una organización para comparar.</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6 · PROCESAMIENTO DISTRIBUIDO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Gold: indicadores publicados de forma atómica</a:t>
            </a:r>
            <a:endParaRPr lang="en-US" sz="3200" dirty="0"/>
          </a:p>
        </p:txBody>
      </p:sp>
      <p:sp>
        <p:nvSpPr>
          <p:cNvPr id="5" name="Indicador I1"/>
          <p:cNvSpPr/>
          <p:nvPr/>
        </p:nvSpPr>
        <p:spPr>
          <a:xfrm>
            <a:off x="548640" y="1645920"/>
            <a:ext cx="3605784" cy="1097280"/>
          </a:xfrm>
          <a:prstGeom prst="rect">
            <a:avLst/>
          </a:prstGeom>
          <a:solidFill>
            <a:schemeClr val="tx2"/>
          </a:solidFill>
          <a:ln w="9525">
            <a:solidFill>
              <a:schemeClr val="accent2"/>
            </a:solidFill>
            <a:prstDash val="solid"/>
          </a:ln>
        </p:spPr>
      </p:sp>
      <p:sp>
        <p:nvSpPr>
          <p:cNvPr id="6" name="Text 3"/>
          <p:cNvSpPr txBox="1"/>
          <p:nvPr/>
        </p:nvSpPr>
        <p:spPr>
          <a:xfrm>
            <a:off x="777240" y="1719072"/>
            <a:ext cx="914400" cy="274320"/>
          </a:xfrm>
          <a:prstGeom prst="rect">
            <a:avLst/>
          </a:prstGeom>
          <a:noFill/>
          <a:ln/>
        </p:spPr>
        <p:txBody>
          <a:bodyPr wrap="square" lIns="0" tIns="0" rIns="0" bIns="0" rtlCol="0" anchor="t"/>
          <a:lstStyle/>
          <a:p>
            <a:pPr algn="l" indent="0" marL="0">
              <a:buNone/>
            </a:pPr>
            <a:r>
              <a:rPr lang="en-US" sz="1500" spc="100" kern="0" dirty="0">
                <a:solidFill>
                  <a:schemeClr val="accent1"/>
                </a:solidFill>
                <a:latin typeface="Consolas" pitchFamily="34" charset="0"/>
                <a:ea typeface="Consolas" pitchFamily="34" charset="-122"/>
                <a:cs typeface="Consolas" pitchFamily="34" charset="-120"/>
              </a:rPr>
              <a:t>I1</a:t>
            </a:r>
            <a:endParaRPr lang="en-US" sz="1500" dirty="0"/>
          </a:p>
        </p:txBody>
      </p:sp>
      <p:sp>
        <p:nvSpPr>
          <p:cNvPr id="7" name="Text 4"/>
          <p:cNvSpPr txBox="1"/>
          <p:nvPr/>
        </p:nvSpPr>
        <p:spPr>
          <a:xfrm>
            <a:off x="777240" y="2011680"/>
            <a:ext cx="3148584" cy="68580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Publicaciones por año</a:t>
            </a:r>
            <a:endParaRPr lang="en-US" sz="1500" dirty="0"/>
          </a:p>
        </p:txBody>
      </p:sp>
      <p:sp>
        <p:nvSpPr>
          <p:cNvPr id="8" name="Indicador I2"/>
          <p:cNvSpPr/>
          <p:nvPr/>
        </p:nvSpPr>
        <p:spPr>
          <a:xfrm>
            <a:off x="4291584" y="1645920"/>
            <a:ext cx="3605784" cy="1097280"/>
          </a:xfrm>
          <a:prstGeom prst="rect">
            <a:avLst/>
          </a:prstGeom>
          <a:solidFill>
            <a:schemeClr val="tx2"/>
          </a:solidFill>
          <a:ln w="9525">
            <a:solidFill>
              <a:schemeClr val="accent2"/>
            </a:solidFill>
            <a:prstDash val="solid"/>
          </a:ln>
        </p:spPr>
      </p:sp>
      <p:sp>
        <p:nvSpPr>
          <p:cNvPr id="9" name="Text 6"/>
          <p:cNvSpPr txBox="1"/>
          <p:nvPr/>
        </p:nvSpPr>
        <p:spPr>
          <a:xfrm>
            <a:off x="4520184" y="1719072"/>
            <a:ext cx="914400" cy="274320"/>
          </a:xfrm>
          <a:prstGeom prst="rect">
            <a:avLst/>
          </a:prstGeom>
          <a:noFill/>
          <a:ln/>
        </p:spPr>
        <p:txBody>
          <a:bodyPr wrap="square" lIns="0" tIns="0" rIns="0" bIns="0" rtlCol="0" anchor="t"/>
          <a:lstStyle/>
          <a:p>
            <a:pPr algn="l" indent="0" marL="0">
              <a:buNone/>
            </a:pPr>
            <a:r>
              <a:rPr lang="en-US" sz="1500" spc="100" kern="0" dirty="0">
                <a:solidFill>
                  <a:schemeClr val="accent1"/>
                </a:solidFill>
                <a:latin typeface="Consolas" pitchFamily="34" charset="0"/>
                <a:ea typeface="Consolas" pitchFamily="34" charset="-122"/>
                <a:cs typeface="Consolas" pitchFamily="34" charset="-120"/>
              </a:rPr>
              <a:t>I2</a:t>
            </a:r>
            <a:endParaRPr lang="en-US" sz="1500" dirty="0"/>
          </a:p>
        </p:txBody>
      </p:sp>
      <p:sp>
        <p:nvSpPr>
          <p:cNvPr id="10" name="Text 7"/>
          <p:cNvSpPr txBox="1"/>
          <p:nvPr/>
        </p:nvSpPr>
        <p:spPr>
          <a:xfrm>
            <a:off x="4520184" y="2011680"/>
            <a:ext cx="3148584" cy="68580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Pares de colaboración entre personas que comparten una obra</a:t>
            </a:r>
            <a:endParaRPr lang="en-US" sz="1500" dirty="0"/>
          </a:p>
        </p:txBody>
      </p:sp>
      <p:sp>
        <p:nvSpPr>
          <p:cNvPr id="11" name="Indicador I3"/>
          <p:cNvSpPr/>
          <p:nvPr/>
        </p:nvSpPr>
        <p:spPr>
          <a:xfrm>
            <a:off x="8034528" y="1645920"/>
            <a:ext cx="3605784" cy="1097280"/>
          </a:xfrm>
          <a:prstGeom prst="rect">
            <a:avLst/>
          </a:prstGeom>
          <a:solidFill>
            <a:schemeClr val="tx2"/>
          </a:solidFill>
          <a:ln w="9525">
            <a:solidFill>
              <a:schemeClr val="accent2"/>
            </a:solidFill>
            <a:prstDash val="solid"/>
          </a:ln>
        </p:spPr>
      </p:sp>
      <p:sp>
        <p:nvSpPr>
          <p:cNvPr id="12" name="Text 9"/>
          <p:cNvSpPr txBox="1"/>
          <p:nvPr/>
        </p:nvSpPr>
        <p:spPr>
          <a:xfrm>
            <a:off x="8263128" y="1719072"/>
            <a:ext cx="914400" cy="274320"/>
          </a:xfrm>
          <a:prstGeom prst="rect">
            <a:avLst/>
          </a:prstGeom>
          <a:noFill/>
          <a:ln/>
        </p:spPr>
        <p:txBody>
          <a:bodyPr wrap="square" lIns="0" tIns="0" rIns="0" bIns="0" rtlCol="0" anchor="t"/>
          <a:lstStyle/>
          <a:p>
            <a:pPr algn="l" indent="0" marL="0">
              <a:buNone/>
            </a:pPr>
            <a:r>
              <a:rPr lang="en-US" sz="1500" spc="100" kern="0" dirty="0">
                <a:solidFill>
                  <a:schemeClr val="accent1"/>
                </a:solidFill>
                <a:latin typeface="Consolas" pitchFamily="34" charset="0"/>
                <a:ea typeface="Consolas" pitchFamily="34" charset="-122"/>
                <a:cs typeface="Consolas" pitchFamily="34" charset="-120"/>
              </a:rPr>
              <a:t>I3</a:t>
            </a:r>
            <a:endParaRPr lang="en-US" sz="1500" dirty="0"/>
          </a:p>
        </p:txBody>
      </p:sp>
      <p:sp>
        <p:nvSpPr>
          <p:cNvPr id="13" name="Text 10"/>
          <p:cNvSpPr txBox="1"/>
          <p:nvPr/>
        </p:nvSpPr>
        <p:spPr>
          <a:xfrm>
            <a:off x="8263128" y="2011680"/>
            <a:ext cx="3148584" cy="68580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Línea temporal de afiliaciones</a:t>
            </a:r>
            <a:endParaRPr lang="en-US" sz="1500" dirty="0"/>
          </a:p>
        </p:txBody>
      </p:sp>
      <p:sp>
        <p:nvSpPr>
          <p:cNvPr id="14" name="Text 11"/>
          <p:cNvSpPr txBox="1"/>
          <p:nvPr/>
        </p:nvSpPr>
        <p:spPr>
          <a:xfrm>
            <a:off x="548640" y="2880360"/>
            <a:ext cx="11091672" cy="228600"/>
          </a:xfrm>
          <a:prstGeom prst="rect">
            <a:avLst/>
          </a:prstGeom>
          <a:noFill/>
          <a:ln/>
        </p:spPr>
        <p:txBody>
          <a:bodyPr wrap="square" lIns="0" tIns="0" rIns="0" bIns="0" rtlCol="0" anchor="t"/>
          <a:lstStyle/>
          <a:p>
            <a:pPr algn="l" indent="0" marL="0">
              <a:buNone/>
            </a:pPr>
            <a:r>
              <a:rPr lang="en-US" sz="1100" spc="100" kern="0" dirty="0">
                <a:solidFill>
                  <a:schemeClr val="accent3"/>
                </a:solidFill>
                <a:latin typeface="Consolas" pitchFamily="34" charset="0"/>
                <a:ea typeface="Consolas" pitchFamily="34" charset="-122"/>
                <a:cs typeface="Consolas" pitchFamily="34" charset="-120"/>
              </a:rPr>
              <a:t>COPIA DE GOLD A POSTGRESQL: SUPERSET LEE DE AHÍ DIRECTAMENTE, SIN MOTOR DE CONSULTA INTERMEDIO</a:t>
            </a:r>
            <a:endParaRPr lang="en-US" sz="1100" dirty="0"/>
          </a:p>
        </p:txBody>
      </p:sp>
      <p:sp>
        <p:nvSpPr>
          <p:cNvPr id="15" name="Paso 1"/>
          <p:cNvSpPr/>
          <p:nvPr/>
        </p:nvSpPr>
        <p:spPr>
          <a:xfrm>
            <a:off x="548640" y="3200400"/>
            <a:ext cx="3605784" cy="1325880"/>
          </a:xfrm>
          <a:prstGeom prst="rect">
            <a:avLst/>
          </a:prstGeom>
          <a:solidFill>
            <a:schemeClr val="tx1"/>
          </a:solidFill>
          <a:ln w="12700">
            <a:solidFill>
              <a:schemeClr val="accent2"/>
            </a:solidFill>
            <a:prstDash val="solid"/>
          </a:ln>
        </p:spPr>
      </p:sp>
      <p:sp>
        <p:nvSpPr>
          <p:cNvPr id="16" name="Text 13"/>
          <p:cNvSpPr txBox="1"/>
          <p:nvPr/>
        </p:nvSpPr>
        <p:spPr>
          <a:xfrm>
            <a:off x="731520" y="3273552"/>
            <a:ext cx="3240024" cy="32004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1 · Carga aparte</a:t>
            </a:r>
            <a:endParaRPr lang="en-US" sz="1500" dirty="0"/>
          </a:p>
        </p:txBody>
      </p:sp>
      <p:sp>
        <p:nvSpPr>
          <p:cNvPr id="17" name="Text 14"/>
          <p:cNvSpPr txBox="1"/>
          <p:nvPr/>
        </p:nvSpPr>
        <p:spPr>
          <a:xfrm>
            <a:off x="731520" y="3630168"/>
            <a:ext cx="3240024" cy="86868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Los datos nuevos se cargan en tablas temporales, sin tocar las ya publicadas.</a:t>
            </a:r>
            <a:endParaRPr lang="en-US" sz="1400" dirty="0"/>
          </a:p>
        </p:txBody>
      </p:sp>
      <p:sp>
        <p:nvSpPr>
          <p:cNvPr id="18" name="Paso 2"/>
          <p:cNvSpPr/>
          <p:nvPr/>
        </p:nvSpPr>
        <p:spPr>
          <a:xfrm>
            <a:off x="4291584" y="3200400"/>
            <a:ext cx="3605784" cy="1325880"/>
          </a:xfrm>
          <a:prstGeom prst="rect">
            <a:avLst/>
          </a:prstGeom>
          <a:solidFill>
            <a:schemeClr val="tx1"/>
          </a:solidFill>
          <a:ln w="12700">
            <a:solidFill>
              <a:schemeClr val="accent2"/>
            </a:solidFill>
            <a:prstDash val="solid"/>
          </a:ln>
        </p:spPr>
      </p:sp>
      <p:sp>
        <p:nvSpPr>
          <p:cNvPr id="19" name="Text 16"/>
          <p:cNvSpPr txBox="1"/>
          <p:nvPr/>
        </p:nvSpPr>
        <p:spPr>
          <a:xfrm>
            <a:off x="4474464" y="3273552"/>
            <a:ext cx="3240024" cy="32004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2 · Comprobación</a:t>
            </a:r>
            <a:endParaRPr lang="en-US" sz="1500" dirty="0"/>
          </a:p>
        </p:txBody>
      </p:sp>
      <p:sp>
        <p:nvSpPr>
          <p:cNvPr id="20" name="Text 17"/>
          <p:cNvSpPr txBox="1"/>
          <p:nvPr/>
        </p:nvSpPr>
        <p:spPr>
          <a:xfrm>
            <a:off x="4474464" y="3630168"/>
            <a:ext cx="3240024" cy="86868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Se verifica que PostgreSQL tiene las mismas filas que gold en Iceberg.</a:t>
            </a:r>
            <a:endParaRPr lang="en-US" sz="1400" dirty="0"/>
          </a:p>
        </p:txBody>
      </p:sp>
      <p:sp>
        <p:nvSpPr>
          <p:cNvPr id="21" name="Paso 3"/>
          <p:cNvSpPr/>
          <p:nvPr/>
        </p:nvSpPr>
        <p:spPr>
          <a:xfrm>
            <a:off x="8034528" y="3200400"/>
            <a:ext cx="3605784" cy="1325880"/>
          </a:xfrm>
          <a:prstGeom prst="rect">
            <a:avLst/>
          </a:prstGeom>
          <a:solidFill>
            <a:schemeClr val="tx1"/>
          </a:solidFill>
          <a:ln w="12700">
            <a:solidFill>
              <a:schemeClr val="accent2"/>
            </a:solidFill>
            <a:prstDash val="solid"/>
          </a:ln>
        </p:spPr>
      </p:sp>
      <p:sp>
        <p:nvSpPr>
          <p:cNvPr id="22" name="Text 19"/>
          <p:cNvSpPr txBox="1"/>
          <p:nvPr/>
        </p:nvSpPr>
        <p:spPr>
          <a:xfrm>
            <a:off x="8217408" y="3273552"/>
            <a:ext cx="3240024" cy="32004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3 · Intercambio único</a:t>
            </a:r>
            <a:endParaRPr lang="en-US" sz="1500" dirty="0"/>
          </a:p>
        </p:txBody>
      </p:sp>
      <p:sp>
        <p:nvSpPr>
          <p:cNvPr id="23" name="Text 20"/>
          <p:cNvSpPr txBox="1"/>
          <p:nvPr/>
        </p:nvSpPr>
        <p:spPr>
          <a:xfrm>
            <a:off x="8217408" y="3630168"/>
            <a:ext cx="3240024" cy="86868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Las tablas nuevas sustituyen a las anteriores en una sola transacción: el panel nunca queda vacío ni a medio cargar.</a:t>
            </a:r>
            <a:endParaRPr lang="en-US" sz="1400" dirty="0"/>
          </a:p>
        </p:txBody>
      </p:sp>
      <p:sp>
        <p:nvSpPr>
          <p:cNvPr id="24" name="Cifra gold 1"/>
          <p:cNvSpPr/>
          <p:nvPr/>
        </p:nvSpPr>
        <p:spPr>
          <a:xfrm>
            <a:off x="548640" y="4663440"/>
            <a:ext cx="3605784" cy="1508760"/>
          </a:xfrm>
          <a:prstGeom prst="rect">
            <a:avLst/>
          </a:prstGeom>
          <a:solidFill>
            <a:schemeClr val="tx2"/>
          </a:solidFill>
          <a:ln w="9525">
            <a:solidFill>
              <a:schemeClr val="accent2"/>
            </a:solidFill>
            <a:prstDash val="solid"/>
          </a:ln>
        </p:spPr>
      </p:sp>
      <p:sp>
        <p:nvSpPr>
          <p:cNvPr id="25" name="Text 22"/>
          <p:cNvSpPr txBox="1"/>
          <p:nvPr/>
        </p:nvSpPr>
        <p:spPr>
          <a:xfrm>
            <a:off x="731520" y="4800600"/>
            <a:ext cx="3240024"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5,1 %</a:t>
            </a:r>
            <a:endParaRPr lang="en-US" sz="3200" dirty="0"/>
          </a:p>
        </p:txBody>
      </p:sp>
      <p:sp>
        <p:nvSpPr>
          <p:cNvPr id="26" name="Text 23"/>
          <p:cNvSpPr txBox="1"/>
          <p:nvPr/>
        </p:nvSpPr>
        <p:spPr>
          <a:xfrm>
            <a:off x="731520" y="5440680"/>
            <a:ext cx="3240024" cy="64008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de publicaciones se contaría de más sin deduplicar: una misma obra figura en el CVN y en el perfil ORCID de la persona</a:t>
            </a:r>
            <a:endParaRPr lang="en-US" sz="1400" dirty="0"/>
          </a:p>
        </p:txBody>
      </p:sp>
      <p:sp>
        <p:nvSpPr>
          <p:cNvPr id="27" name="Cifra gold 2"/>
          <p:cNvSpPr/>
          <p:nvPr/>
        </p:nvSpPr>
        <p:spPr>
          <a:xfrm>
            <a:off x="4291584" y="4663440"/>
            <a:ext cx="3605784" cy="1508760"/>
          </a:xfrm>
          <a:prstGeom prst="rect">
            <a:avLst/>
          </a:prstGeom>
          <a:solidFill>
            <a:schemeClr val="tx2"/>
          </a:solidFill>
          <a:ln w="9525">
            <a:solidFill>
              <a:schemeClr val="accent2"/>
            </a:solidFill>
            <a:prstDash val="solid"/>
          </a:ln>
        </p:spPr>
      </p:sp>
      <p:sp>
        <p:nvSpPr>
          <p:cNvPr id="28" name="Text 25"/>
          <p:cNvSpPr txBox="1"/>
          <p:nvPr/>
        </p:nvSpPr>
        <p:spPr>
          <a:xfrm>
            <a:off x="4474464" y="4800600"/>
            <a:ext cx="3240024"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0</a:t>
            </a:r>
            <a:endParaRPr lang="en-US" sz="3200" dirty="0"/>
          </a:p>
        </p:txBody>
      </p:sp>
      <p:sp>
        <p:nvSpPr>
          <p:cNvPr id="29" name="Text 26"/>
          <p:cNvSpPr txBox="1"/>
          <p:nvPr/>
        </p:nvSpPr>
        <p:spPr>
          <a:xfrm>
            <a:off x="4474464" y="5440680"/>
            <a:ext cx="3240024" cy="64008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discrepancias en 306.599 filas frente a un recálculo independiente</a:t>
            </a:r>
            <a:endParaRPr lang="en-US" sz="1400" dirty="0"/>
          </a:p>
        </p:txBody>
      </p:sp>
      <p:sp>
        <p:nvSpPr>
          <p:cNvPr id="30" name="Cifra gold 3"/>
          <p:cNvSpPr/>
          <p:nvPr/>
        </p:nvSpPr>
        <p:spPr>
          <a:xfrm>
            <a:off x="8034528" y="4663440"/>
            <a:ext cx="3605784" cy="1508760"/>
          </a:xfrm>
          <a:prstGeom prst="rect">
            <a:avLst/>
          </a:prstGeom>
          <a:solidFill>
            <a:schemeClr val="tx2"/>
          </a:solidFill>
          <a:ln w="9525">
            <a:solidFill>
              <a:schemeClr val="accent2"/>
            </a:solidFill>
            <a:prstDash val="solid"/>
          </a:ln>
        </p:spPr>
      </p:sp>
      <p:sp>
        <p:nvSpPr>
          <p:cNvPr id="31" name="Text 28"/>
          <p:cNvSpPr txBox="1"/>
          <p:nvPr/>
        </p:nvSpPr>
        <p:spPr>
          <a:xfrm>
            <a:off x="8217408" y="4800600"/>
            <a:ext cx="3240024"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0,58 %</a:t>
            </a:r>
            <a:endParaRPr lang="en-US" sz="3200" dirty="0"/>
          </a:p>
        </p:txBody>
      </p:sp>
      <p:sp>
        <p:nvSpPr>
          <p:cNvPr id="32" name="Text 29"/>
          <p:cNvSpPr txBox="1"/>
          <p:nvPr/>
        </p:nvSpPr>
        <p:spPr>
          <a:xfrm>
            <a:off x="8217408" y="5440680"/>
            <a:ext cx="3240024" cy="64008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desplazamiento máximo al deshacer las fusiones de R2 con evidencia más débil</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Panel de indicadores sin estados intermedios</a:t>
            </a:r>
            <a:endParaRPr lang="en-US" sz="3200" dirty="0"/>
          </a:p>
        </p:txBody>
      </p:sp>
      <p:sp>
        <p:nvSpPr>
          <p:cNvPr id="5" name="Placa de la figura"/>
          <p:cNvSpPr/>
          <p:nvPr/>
        </p:nvSpPr>
        <p:spPr>
          <a:xfrm>
            <a:off x="548640" y="1645920"/>
            <a:ext cx="7406640" cy="3639312"/>
          </a:xfrm>
          <a:prstGeom prst="rect">
            <a:avLst/>
          </a:prstGeom>
          <a:solidFill>
            <a:srgbClr val="FFFFFF"/>
          </a:solidFill>
          <a:ln w="12700">
            <a:solidFill>
              <a:schemeClr val="accent2"/>
            </a:solidFill>
            <a:prstDash val="solid"/>
          </a:ln>
        </p:spPr>
      </p:sp>
      <p:pic>
        <p:nvPicPr>
          <p:cNvPr id="6" name="Captura del panel" descr="Panel de Superset con publicaciones por año, afiliaciones, pares de colaboración y procedencia">    </p:cNvPr>
          <p:cNvPicPr>
            <a:picLocks noChangeAspect="1"/>
          </p:cNvPicPr>
          <p:nvPr/>
        </p:nvPicPr>
        <p:blipFill>
          <a:blip r:embed="rId1"/>
          <a:stretch>
            <a:fillRect/>
          </a:stretch>
        </p:blipFill>
        <p:spPr>
          <a:xfrm>
            <a:off x="640080" y="1737360"/>
            <a:ext cx="7223760" cy="3455022"/>
          </a:xfrm>
          <a:prstGeom prst="rect">
            <a:avLst/>
          </a:prstGeom>
        </p:spPr>
      </p:pic>
      <p:sp>
        <p:nvSpPr>
          <p:cNvPr id="7" name="Text 3"/>
          <p:cNvSpPr txBox="1"/>
          <p:nvPr/>
        </p:nvSpPr>
        <p:spPr>
          <a:xfrm>
            <a:off x="548640" y="5394960"/>
            <a:ext cx="7406640" cy="777240"/>
          </a:xfrm>
          <a:prstGeom prst="rect">
            <a:avLst/>
          </a:prstGeom>
          <a:noFill/>
          <a:ln/>
        </p:spPr>
        <p:txBody>
          <a:bodyPr wrap="square" lIns="0" tIns="0" rIns="0" bIns="0" rtlCol="0" anchor="t"/>
          <a:lstStyle/>
          <a:p>
            <a:pPr algn="l"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Solo agregados, </a:t>
            </a:r>
            <a:pPr algn="l" indent="0" marL="0">
              <a:spcAft>
                <a:spcPts val="400"/>
              </a:spcAft>
              <a:buNone/>
            </a:pPr>
            <a:r>
              <a:rPr lang="en-US" sz="1300" dirty="0">
                <a:solidFill>
                  <a:schemeClr val="accent6"/>
                </a:solidFill>
                <a:latin typeface="Calibri" pitchFamily="34" charset="0"/>
                <a:ea typeface="Calibri" pitchFamily="34" charset="-122"/>
                <a:cs typeface="Calibri" pitchFamily="34" charset="-120"/>
              </a:rPr>
              <a:t>nunca nombres de personas.</a:t>
            </a:r>
            <a:endParaRPr lang="en-US" sz="1300" dirty="0"/>
          </a:p>
          <a:p>
            <a:pPr algn="l"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Superset consulta PostgreSQL, </a:t>
            </a:r>
            <a:pPr algn="l" indent="0" marL="0">
              <a:spcAft>
                <a:spcPts val="400"/>
              </a:spcAft>
              <a:buNone/>
            </a:pPr>
            <a:r>
              <a:rPr lang="en-US" sz="1300" dirty="0">
                <a:solidFill>
                  <a:schemeClr val="accent6"/>
                </a:solidFill>
                <a:latin typeface="Calibri" pitchFamily="34" charset="0"/>
                <a:ea typeface="Calibri" pitchFamily="34" charset="-122"/>
                <a:cs typeface="Calibri" pitchFamily="34" charset="-120"/>
              </a:rPr>
              <a:t>no Iceberg ni Spark: se conecta a ella directamente. Leer Iceberg exigiría un motor de consulta intermedio, como Trino o Spark.</a:t>
            </a:r>
            <a:endParaRPr lang="en-US" sz="1300" dirty="0"/>
          </a:p>
        </p:txBody>
      </p:sp>
      <p:sp>
        <p:nvSpPr>
          <p:cNvPr id="8" name="Text 4"/>
          <p:cNvSpPr txBox="1"/>
          <p:nvPr/>
        </p:nvSpPr>
        <p:spPr>
          <a:xfrm>
            <a:off x="8229600" y="1645920"/>
            <a:ext cx="338328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EL PANEL MUESTRA</a:t>
            </a:r>
            <a:endParaRPr lang="en-US" sz="1200" dirty="0"/>
          </a:p>
        </p:txBody>
      </p:sp>
      <p:sp>
        <p:nvSpPr>
          <p:cNvPr id="9" name="Text 5"/>
          <p:cNvSpPr txBox="1"/>
          <p:nvPr/>
        </p:nvSpPr>
        <p:spPr>
          <a:xfrm>
            <a:off x="8229600" y="2011680"/>
            <a:ext cx="3410712" cy="2194560"/>
          </a:xfrm>
          <a:prstGeom prst="rect">
            <a:avLst/>
          </a:prstGeom>
          <a:noFill/>
          <a:ln/>
        </p:spPr>
        <p:txBody>
          <a:bodyPr wrap="square" lIns="0" tIns="0" rIns="0" bIns="0" rtlCol="0" anchor="t"/>
          <a:lstStyle/>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Publicaciones por año</a:t>
            </a:r>
            <a:endParaRPr lang="en-US" sz="1600" dirty="0"/>
          </a:p>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Línea temporal de afiliaciones</a:t>
            </a:r>
            <a:endParaRPr lang="en-US" sz="1600" dirty="0"/>
          </a:p>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Colaboraciones solo entre datos reales de ORCID</a:t>
            </a:r>
            <a:endParaRPr lang="en-US" sz="1600" dirty="0"/>
          </a:p>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Procedencia de la ejecución</a:t>
            </a:r>
            <a:endParaRPr lang="en-US" sz="1600" dirty="0"/>
          </a:p>
        </p:txBody>
      </p:sp>
      <p:sp>
        <p:nvSpPr>
          <p:cNvPr id="10" name="Cifra panel"/>
          <p:cNvSpPr/>
          <p:nvPr/>
        </p:nvSpPr>
        <p:spPr>
          <a:xfrm>
            <a:off x="8229600" y="4343400"/>
            <a:ext cx="3410712" cy="1783080"/>
          </a:xfrm>
          <a:prstGeom prst="rect">
            <a:avLst/>
          </a:prstGeom>
          <a:solidFill>
            <a:schemeClr val="tx2"/>
          </a:solidFill>
          <a:ln w="9525">
            <a:solidFill>
              <a:schemeClr val="accent2"/>
            </a:solidFill>
            <a:prstDash val="solid"/>
          </a:ln>
        </p:spPr>
      </p:sp>
      <p:sp>
        <p:nvSpPr>
          <p:cNvPr id="11" name="Text 7"/>
          <p:cNvSpPr txBox="1"/>
          <p:nvPr/>
        </p:nvSpPr>
        <p:spPr>
          <a:xfrm>
            <a:off x="8412480" y="4480560"/>
            <a:ext cx="3044952"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1.040 s</a:t>
            </a:r>
            <a:endParaRPr lang="en-US" sz="3200" dirty="0"/>
          </a:p>
        </p:txBody>
      </p:sp>
      <p:sp>
        <p:nvSpPr>
          <p:cNvPr id="12" name="Text 8"/>
          <p:cNvSpPr txBox="1"/>
          <p:nvPr/>
        </p:nvSpPr>
        <p:spPr>
          <a:xfrm>
            <a:off x="8412480" y="5120640"/>
            <a:ext cx="3044952" cy="9144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y 238 consultas durante una ejecución completa, sin errores ni respuestas vacías</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Más ejecutores dan fiabilidad, no solo velocidad</a:t>
            </a:r>
            <a:endParaRPr lang="en-US" sz="3200" dirty="0"/>
          </a:p>
        </p:txBody>
      </p:sp>
      <p:sp>
        <p:nvSpPr>
          <p:cNvPr id="5" name="Como se midio"/>
          <p:cNvSpPr/>
          <p:nvPr/>
        </p:nvSpPr>
        <p:spPr>
          <a:xfrm>
            <a:off x="548640" y="1645920"/>
            <a:ext cx="6035040" cy="1691640"/>
          </a:xfrm>
          <a:prstGeom prst="rect">
            <a:avLst/>
          </a:prstGeom>
          <a:solidFill>
            <a:schemeClr val="tx2"/>
          </a:solidFill>
          <a:ln w="9525">
            <a:solidFill>
              <a:schemeClr val="accent2"/>
            </a:solidFill>
            <a:prstDash val="solid"/>
          </a:ln>
        </p:spPr>
      </p:sp>
      <p:sp>
        <p:nvSpPr>
          <p:cNvPr id="6" name="Text 3"/>
          <p:cNvSpPr txBox="1"/>
          <p:nvPr/>
        </p:nvSpPr>
        <p:spPr>
          <a:xfrm>
            <a:off x="777240" y="171907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CÓMO SE MIDIÓ</a:t>
            </a:r>
            <a:endParaRPr lang="en-US" sz="1100" dirty="0"/>
          </a:p>
        </p:txBody>
      </p:sp>
      <p:sp>
        <p:nvSpPr>
          <p:cNvPr id="7" name="Text 4"/>
          <p:cNvSpPr txBox="1"/>
          <p:nvPr/>
        </p:nvSpPr>
        <p:spPr>
          <a:xfrm>
            <a:off x="777240" y="1993392"/>
            <a:ext cx="5623560" cy="1280160"/>
          </a:xfrm>
          <a:prstGeom prst="rect">
            <a:avLst/>
          </a:prstGeom>
          <a:noFill/>
          <a:ln/>
        </p:spPr>
        <p:txBody>
          <a:bodyPr wrap="square" lIns="0" tIns="0" rIns="0" bIns="0" rtlCol="0" anchor="t"/>
          <a:lstStyle/>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Tres volúmenes de datos (1x, 2x y 4x), con 1, 2 y 4 ejecutores en cada uno</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Primera ejecución de cada volumen descartada (calentamiento)</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Tres repeticiones, intercaladas entre configuraciones</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Mismo contenido final en todas las configuraciones comparables</a:t>
            </a:r>
            <a:endParaRPr lang="en-US" sz="1400" dirty="0"/>
          </a:p>
        </p:txBody>
      </p:sp>
      <p:sp>
        <p:nvSpPr>
          <p:cNvPr id="8" name="Marco del grafico"/>
          <p:cNvSpPr/>
          <p:nvPr/>
        </p:nvSpPr>
        <p:spPr>
          <a:xfrm>
            <a:off x="548640" y="3474720"/>
            <a:ext cx="6035040" cy="2651760"/>
          </a:xfrm>
          <a:prstGeom prst="rect">
            <a:avLst/>
          </a:prstGeom>
          <a:solidFill>
            <a:schemeClr val="tx2"/>
          </a:solidFill>
          <a:ln w="9525">
            <a:solidFill>
              <a:schemeClr val="accent2"/>
            </a:solidFill>
            <a:prstDash val="solid"/>
          </a:ln>
        </p:spPr>
      </p:sp>
      <p:graphicFrame>
        <p:nvGraphicFramePr>
          <p:cNvPr id="9" name="Chart 0" descr=""/>
          <p:cNvGraphicFramePr/>
          <p:nvPr/>
        </p:nvGraphicFramePr>
        <p:xfrm>
          <a:off x="640080" y="3520440"/>
          <a:ext cx="5852160" cy="2560320"/>
        </p:xfrm>
        <a:graphic xmlns:a="http://schemas.openxmlformats.org/drawingml/2006/main">
          <a:graphicData uri="http://schemas.openxmlformats.org/drawingml/2006/chart">
            <c:chart xmlns:c="http://schemas.openxmlformats.org/drawingml/2006/chart" r:id="rId1"/>
          </a:graphicData>
        </a:graphic>
      </p:graphicFrame>
      <p:sp>
        <p:nvSpPr>
          <p:cNvPr id="10" name="Hallazgo rendimiento 1"/>
          <p:cNvSpPr/>
          <p:nvPr/>
        </p:nvSpPr>
        <p:spPr>
          <a:xfrm>
            <a:off x="6812280" y="1645920"/>
            <a:ext cx="4828032" cy="1371600"/>
          </a:xfrm>
          <a:prstGeom prst="rect">
            <a:avLst/>
          </a:prstGeom>
          <a:solidFill>
            <a:schemeClr val="tx2"/>
          </a:solidFill>
          <a:ln w="9525">
            <a:solidFill>
              <a:schemeClr val="accent2"/>
            </a:solidFill>
            <a:prstDash val="solid"/>
          </a:ln>
        </p:spPr>
      </p:sp>
      <p:sp>
        <p:nvSpPr>
          <p:cNvPr id="11" name="Text 7"/>
          <p:cNvSpPr txBox="1"/>
          <p:nvPr/>
        </p:nvSpPr>
        <p:spPr>
          <a:xfrm>
            <a:off x="7040880" y="1737360"/>
            <a:ext cx="4389120" cy="45720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1,50 → 1,63</a:t>
            </a:r>
            <a:endParaRPr lang="en-US" sz="2600" dirty="0"/>
          </a:p>
        </p:txBody>
      </p:sp>
      <p:sp>
        <p:nvSpPr>
          <p:cNvPr id="12" name="Text 8"/>
          <p:cNvSpPr txBox="1"/>
          <p:nvPr/>
        </p:nvSpPr>
        <p:spPr>
          <a:xfrm>
            <a:off x="7040880" y="2240280"/>
            <a:ext cx="4389120" cy="749808"/>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Aceleración de silver con 2 y 4 ejecutores respecto a 1; la ideal sería 2 y 4.</a:t>
            </a:r>
            <a:endParaRPr lang="en-US" sz="1400" dirty="0"/>
          </a:p>
        </p:txBody>
      </p:sp>
      <p:sp>
        <p:nvSpPr>
          <p:cNvPr id="13" name="Hallazgo rendimiento 2"/>
          <p:cNvSpPr/>
          <p:nvPr/>
        </p:nvSpPr>
        <p:spPr>
          <a:xfrm>
            <a:off x="6812280" y="3154680"/>
            <a:ext cx="4828032" cy="1371600"/>
          </a:xfrm>
          <a:prstGeom prst="rect">
            <a:avLst/>
          </a:prstGeom>
          <a:solidFill>
            <a:schemeClr val="tx2"/>
          </a:solidFill>
          <a:ln w="9525">
            <a:solidFill>
              <a:schemeClr val="accent2"/>
            </a:solidFill>
            <a:prstDash val="solid"/>
          </a:ln>
        </p:spPr>
      </p:sp>
      <p:sp>
        <p:nvSpPr>
          <p:cNvPr id="14" name="Text 10"/>
          <p:cNvSpPr txBox="1"/>
          <p:nvPr/>
        </p:nvSpPr>
        <p:spPr>
          <a:xfrm>
            <a:off x="7040880" y="3246120"/>
            <a:ext cx="4389120" cy="457200"/>
          </a:xfrm>
          <a:prstGeom prst="rect">
            <a:avLst/>
          </a:prstGeom>
          <a:noFill/>
          <a:ln/>
        </p:spPr>
        <p:txBody>
          <a:bodyPr wrap="square" lIns="0" tIns="0" rIns="0" bIns="0" rtlCol="0" anchor="t"/>
          <a:lstStyle/>
          <a:p>
            <a:pPr algn="l" indent="0" marL="0">
              <a:buNone/>
            </a:pPr>
            <a:r>
              <a:rPr lang="en-US" sz="1900" b="1" dirty="0">
                <a:solidFill>
                  <a:schemeClr val="accent1"/>
                </a:solidFill>
                <a:latin typeface="Calibri" pitchFamily="34" charset="0"/>
                <a:ea typeface="Calibri" pitchFamily="34" charset="-122"/>
                <a:cs typeface="Calibri" pitchFamily="34" charset="-120"/>
              </a:rPr>
              <a:t>Fiabilidad</a:t>
            </a:r>
            <a:endParaRPr lang="en-US" sz="1900" dirty="0"/>
          </a:p>
        </p:txBody>
      </p:sp>
      <p:sp>
        <p:nvSpPr>
          <p:cNvPr id="15" name="Text 11"/>
          <p:cNvSpPr txBox="1"/>
          <p:nvPr/>
        </p:nvSpPr>
        <p:spPr>
          <a:xfrm>
            <a:off x="7040880" y="3749040"/>
            <a:ext cx="4389120" cy="749808"/>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Con el doble de datos, un solo ejecutor agota la memoria en silver. Con el cuádruple de datos hacen falta cuatro ejecutores.</a:t>
            </a:r>
            <a:endParaRPr lang="en-US" sz="1400" dirty="0"/>
          </a:p>
        </p:txBody>
      </p:sp>
      <p:sp>
        <p:nvSpPr>
          <p:cNvPr id="16" name="Hallazgo rendimiento 3"/>
          <p:cNvSpPr/>
          <p:nvPr/>
        </p:nvSpPr>
        <p:spPr>
          <a:xfrm>
            <a:off x="6812280" y="4663440"/>
            <a:ext cx="4828032" cy="1371600"/>
          </a:xfrm>
          <a:prstGeom prst="rect">
            <a:avLst/>
          </a:prstGeom>
          <a:solidFill>
            <a:schemeClr val="tx2"/>
          </a:solidFill>
          <a:ln w="9525">
            <a:solidFill>
              <a:schemeClr val="accent2"/>
            </a:solidFill>
            <a:prstDash val="solid"/>
          </a:ln>
        </p:spPr>
      </p:sp>
      <p:sp>
        <p:nvSpPr>
          <p:cNvPr id="17" name="Text 13"/>
          <p:cNvSpPr txBox="1"/>
          <p:nvPr/>
        </p:nvSpPr>
        <p:spPr>
          <a:xfrm>
            <a:off x="7040880" y="4754880"/>
            <a:ext cx="4389120" cy="457200"/>
          </a:xfrm>
          <a:prstGeom prst="rect">
            <a:avLst/>
          </a:prstGeom>
          <a:noFill/>
          <a:ln/>
        </p:spPr>
        <p:txBody>
          <a:bodyPr wrap="square" lIns="0" tIns="0" rIns="0" bIns="0" rtlCol="0" anchor="t"/>
          <a:lstStyle/>
          <a:p>
            <a:pPr algn="l" indent="0" marL="0">
              <a:buNone/>
            </a:pPr>
            <a:r>
              <a:rPr lang="en-US" sz="1900" b="1" dirty="0">
                <a:solidFill>
                  <a:schemeClr val="accent1"/>
                </a:solidFill>
                <a:latin typeface="Calibri" pitchFamily="34" charset="0"/>
                <a:ea typeface="Calibri" pitchFamily="34" charset="-122"/>
                <a:cs typeface="Calibri" pitchFamily="34" charset="-120"/>
              </a:rPr>
              <a:t>Cuello de botella</a:t>
            </a:r>
            <a:endParaRPr lang="en-US" sz="1900" dirty="0"/>
          </a:p>
        </p:txBody>
      </p:sp>
      <p:sp>
        <p:nvSpPr>
          <p:cNvPr id="18" name="Text 14"/>
          <p:cNvSpPr txBox="1"/>
          <p:nvPr/>
        </p:nvSpPr>
        <p:spPr>
          <a:xfrm>
            <a:off x="7040880" y="5257800"/>
            <a:ext cx="4389120" cy="749808"/>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Las limitaciones de hardware del único nodo local: la CPU no pasó del 32,2 % y el pico coincidió con cuatro ejecutores.</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Endurecimiento: fallos reales corregidos</a:t>
            </a:r>
            <a:endParaRPr lang="en-US" sz="3200" dirty="0"/>
          </a:p>
        </p:txBody>
      </p:sp>
      <p:sp>
        <p:nvSpPr>
          <p:cNvPr id="5" name="Fallo 1"/>
          <p:cNvSpPr/>
          <p:nvPr/>
        </p:nvSpPr>
        <p:spPr>
          <a:xfrm>
            <a:off x="548640" y="1691640"/>
            <a:ext cx="3605784" cy="3017520"/>
          </a:xfrm>
          <a:prstGeom prst="rect">
            <a:avLst/>
          </a:prstGeom>
          <a:solidFill>
            <a:schemeClr val="tx2"/>
          </a:solidFill>
          <a:ln w="9525">
            <a:solidFill>
              <a:schemeClr val="accent2"/>
            </a:solidFill>
            <a:prstDash val="solid"/>
          </a:ln>
        </p:spPr>
      </p:sp>
      <p:sp>
        <p:nvSpPr>
          <p:cNvPr id="6" name="Text 3"/>
          <p:cNvSpPr txBox="1"/>
          <p:nvPr/>
        </p:nvSpPr>
        <p:spPr>
          <a:xfrm>
            <a:off x="777240" y="1828800"/>
            <a:ext cx="3148584"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ERROR DE AIRFLOW SIN CORRECCIÓN</a:t>
            </a:r>
            <a:endParaRPr lang="en-US" sz="1000" dirty="0"/>
          </a:p>
        </p:txBody>
      </p:sp>
      <p:sp>
        <p:nvSpPr>
          <p:cNvPr id="7" name="Text 4"/>
          <p:cNvSpPr txBox="1"/>
          <p:nvPr/>
        </p:nvSpPr>
        <p:spPr>
          <a:xfrm>
            <a:off x="777240" y="2148840"/>
            <a:ext cx="3148584" cy="68580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Bloqueo del orquestador</a:t>
            </a:r>
            <a:endParaRPr lang="en-US" sz="1800" dirty="0"/>
          </a:p>
        </p:txBody>
      </p:sp>
      <p:sp>
        <p:nvSpPr>
          <p:cNvPr id="8" name="Text 5"/>
          <p:cNvSpPr txBox="1"/>
          <p:nvPr/>
        </p:nvSpPr>
        <p:spPr>
          <a:xfrm>
            <a:off x="777240" y="2880360"/>
            <a:ext cx="3148584" cy="17373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Fallo conocido al reconciliar una tarea huérfana. Receta operativa: marcarla como fallida y reiniciar. Reapareció días después y se resolvió igual.</a:t>
            </a:r>
            <a:endParaRPr lang="en-US" sz="1400" dirty="0"/>
          </a:p>
        </p:txBody>
      </p:sp>
      <p:sp>
        <p:nvSpPr>
          <p:cNvPr id="9" name="Fallo 2"/>
          <p:cNvSpPr/>
          <p:nvPr/>
        </p:nvSpPr>
        <p:spPr>
          <a:xfrm>
            <a:off x="4291584" y="1691640"/>
            <a:ext cx="3605784" cy="3017520"/>
          </a:xfrm>
          <a:prstGeom prst="rect">
            <a:avLst/>
          </a:prstGeom>
          <a:solidFill>
            <a:schemeClr val="tx2"/>
          </a:solidFill>
          <a:ln w="9525">
            <a:solidFill>
              <a:schemeClr val="accent2"/>
            </a:solidFill>
            <a:prstDash val="solid"/>
          </a:ln>
        </p:spPr>
      </p:sp>
      <p:sp>
        <p:nvSpPr>
          <p:cNvPr id="10" name="Text 7"/>
          <p:cNvSpPr txBox="1"/>
          <p:nvPr/>
        </p:nvSpPr>
        <p:spPr>
          <a:xfrm>
            <a:off x="4520184" y="1828800"/>
            <a:ext cx="3148584"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SIN RESERVA DE RECURSOS</a:t>
            </a:r>
            <a:endParaRPr lang="en-US" sz="1000" dirty="0"/>
          </a:p>
        </p:txBody>
      </p:sp>
      <p:sp>
        <p:nvSpPr>
          <p:cNvPr id="11" name="Text 8"/>
          <p:cNvSpPr txBox="1"/>
          <p:nvPr/>
        </p:nvSpPr>
        <p:spPr>
          <a:xfrm>
            <a:off x="4520184" y="2148840"/>
            <a:ext cx="3148584" cy="68580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Interfaz de Airflow bajo carga</a:t>
            </a:r>
            <a:endParaRPr lang="en-US" sz="1800" dirty="0"/>
          </a:p>
        </p:txBody>
      </p:sp>
      <p:sp>
        <p:nvSpPr>
          <p:cNvPr id="12" name="Text 9"/>
          <p:cNvSpPr txBox="1"/>
          <p:nvPr/>
        </p:nvSpPr>
        <p:spPr>
          <a:xfrm>
            <a:off x="4520184" y="2880360"/>
            <a:ext cx="3148584" cy="17373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Su comprobación de salud lo reiniciaba. Solución: reserva explícita de CPU y memoria y tiempos de salud más holgados.</a:t>
            </a:r>
            <a:endParaRPr lang="en-US" sz="1400" dirty="0"/>
          </a:p>
        </p:txBody>
      </p:sp>
      <p:sp>
        <p:nvSpPr>
          <p:cNvPr id="13" name="Fallo 3"/>
          <p:cNvSpPr/>
          <p:nvPr/>
        </p:nvSpPr>
        <p:spPr>
          <a:xfrm>
            <a:off x="8034528" y="1691640"/>
            <a:ext cx="3605784" cy="3017520"/>
          </a:xfrm>
          <a:prstGeom prst="rect">
            <a:avLst/>
          </a:prstGeom>
          <a:solidFill>
            <a:schemeClr val="tx2"/>
          </a:solidFill>
          <a:ln w="9525">
            <a:solidFill>
              <a:schemeClr val="accent2"/>
            </a:solidFill>
            <a:prstDash val="solid"/>
          </a:ln>
        </p:spPr>
      </p:sp>
      <p:sp>
        <p:nvSpPr>
          <p:cNvPr id="14" name="Text 11"/>
          <p:cNvSpPr txBox="1"/>
          <p:nvPr/>
        </p:nvSpPr>
        <p:spPr>
          <a:xfrm>
            <a:off x="8263128" y="1828800"/>
            <a:ext cx="3148584"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HALLADO AL RECONSTRUIR</a:t>
            </a:r>
            <a:endParaRPr lang="en-US" sz="1000" dirty="0"/>
          </a:p>
        </p:txBody>
      </p:sp>
      <p:sp>
        <p:nvSpPr>
          <p:cNvPr id="15" name="Text 12"/>
          <p:cNvSpPr txBox="1"/>
          <p:nvPr/>
        </p:nvSpPr>
        <p:spPr>
          <a:xfrm>
            <a:off x="8263128" y="2148840"/>
            <a:ext cx="3148584" cy="68580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PostgreSQL sin usuario gold</a:t>
            </a:r>
            <a:endParaRPr lang="en-US" sz="1800" dirty="0"/>
          </a:p>
        </p:txBody>
      </p:sp>
      <p:sp>
        <p:nvSpPr>
          <p:cNvPr id="16" name="Text 13"/>
          <p:cNvSpPr txBox="1"/>
          <p:nvPr/>
        </p:nvSpPr>
        <p:spPr>
          <a:xfrm>
            <a:off x="8263128" y="2880360"/>
            <a:ext cx="3148584" cy="17373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Un primer arranque interrumpido no se reintenta. Solución: reinicializar el servicio.</a:t>
            </a:r>
            <a:endParaRPr lang="en-US" sz="1400" dirty="0"/>
          </a:p>
        </p:txBody>
      </p:sp>
      <p:sp>
        <p:nvSpPr>
          <p:cNvPr id="17" name="Reconstruccion desde cero"/>
          <p:cNvSpPr/>
          <p:nvPr/>
        </p:nvSpPr>
        <p:spPr>
          <a:xfrm>
            <a:off x="548640" y="4937760"/>
            <a:ext cx="11091672" cy="1143000"/>
          </a:xfrm>
          <a:prstGeom prst="rect">
            <a:avLst/>
          </a:prstGeom>
          <a:solidFill>
            <a:schemeClr val="tx2"/>
          </a:solidFill>
          <a:ln w="9525">
            <a:solidFill>
              <a:schemeClr val="accent2"/>
            </a:solidFill>
            <a:prstDash val="solid"/>
          </a:ln>
        </p:spPr>
      </p:sp>
      <p:sp>
        <p:nvSpPr>
          <p:cNvPr id="18" name="Text 15"/>
          <p:cNvSpPr txBox="1"/>
          <p:nvPr/>
        </p:nvSpPr>
        <p:spPr>
          <a:xfrm>
            <a:off x="822960" y="5029200"/>
            <a:ext cx="54864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RECONSTRUCCIÓN DESDE CERO</a:t>
            </a:r>
            <a:endParaRPr lang="en-US" sz="1100" dirty="0"/>
          </a:p>
        </p:txBody>
      </p:sp>
      <p:sp>
        <p:nvSpPr>
          <p:cNvPr id="19" name="Text 16"/>
          <p:cNvSpPr txBox="1"/>
          <p:nvPr/>
        </p:nvSpPr>
        <p:spPr>
          <a:xfrm>
            <a:off x="822960" y="5303520"/>
            <a:ext cx="10543032" cy="73152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Solo con la guía escrita y en un clúster k3d aislado con la misma versión de Kubernetes, ambos flujos y el panel funcionaron de extremo a extremo sin tocar el clúster real.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Garantías fuertes donde el proceso es determinista</a:t>
            </a:r>
            <a:endParaRPr lang="en-US" sz="3200" dirty="0"/>
          </a:p>
        </p:txBody>
      </p:sp>
      <p:sp>
        <p:nvSpPr>
          <p:cNvPr id="5" name="Columna GARANTÍAS FUERTES Y VERIFICADAS"/>
          <p:cNvSpPr/>
          <p:nvPr/>
        </p:nvSpPr>
        <p:spPr>
          <a:xfrm>
            <a:off x="548640" y="1691640"/>
            <a:ext cx="5477256" cy="3840480"/>
          </a:xfrm>
          <a:prstGeom prst="rect">
            <a:avLst/>
          </a:prstGeom>
          <a:solidFill>
            <a:schemeClr val="tx2"/>
          </a:solidFill>
          <a:ln w="9525">
            <a:solidFill>
              <a:schemeClr val="accent2"/>
            </a:solidFill>
            <a:prstDash val="solid"/>
          </a:ln>
        </p:spPr>
      </p:sp>
      <p:sp>
        <p:nvSpPr>
          <p:cNvPr id="6" name="Text 3"/>
          <p:cNvSpPr txBox="1"/>
          <p:nvPr/>
        </p:nvSpPr>
        <p:spPr>
          <a:xfrm>
            <a:off x="822960" y="1828800"/>
            <a:ext cx="4928616" cy="274320"/>
          </a:xfrm>
          <a:prstGeom prst="rect">
            <a:avLst/>
          </a:prstGeom>
          <a:noFill/>
          <a:ln/>
        </p:spPr>
        <p:txBody>
          <a:bodyPr wrap="square" lIns="0" tIns="0" rIns="0" bIns="0" rtlCol="0" anchor="t"/>
          <a:lstStyle/>
          <a:p>
            <a:pPr algn="l" indent="0" marL="0">
              <a:buNone/>
            </a:pPr>
            <a:r>
              <a:rPr lang="en-US" sz="1200" spc="100" kern="0" dirty="0">
                <a:solidFill>
                  <a:schemeClr val="accent4"/>
                </a:solidFill>
                <a:latin typeface="Consolas" pitchFamily="34" charset="0"/>
                <a:ea typeface="Consolas" pitchFamily="34" charset="-122"/>
                <a:cs typeface="Consolas" pitchFamily="34" charset="-120"/>
              </a:rPr>
              <a:t>GARANTÍAS FUERTES Y VERIFICADAS</a:t>
            </a:r>
            <a:endParaRPr lang="en-US" sz="1200" dirty="0"/>
          </a:p>
        </p:txBody>
      </p:sp>
      <p:sp>
        <p:nvSpPr>
          <p:cNvPr id="7" name="Text 4"/>
          <p:cNvSpPr txBox="1"/>
          <p:nvPr/>
        </p:nvSpPr>
        <p:spPr>
          <a:xfrm>
            <a:off x="822960" y="2286000"/>
            <a:ext cx="4928616" cy="3108960"/>
          </a:xfrm>
          <a:prstGeom prst="rect">
            <a:avLst/>
          </a:prstGeom>
          <a:noFill/>
          <a:ln/>
        </p:spPr>
        <p:txBody>
          <a:bodyPr wrap="square" lIns="0" tIns="0" rIns="0" bIns="0" rtlCol="0" anchor="t"/>
          <a:lstStyle/>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Mecanismo central: Spark desde Airflow sobre Iceberg y MinIO, comprobado con el registro del trabajo y con la lectura desde otro pod</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Ingesta: una lectura independiente con Spark coincide con los recuentos</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Gold: 0 discrepancias en 306.599 filas y segunda ejecución idéntica</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Publicación: matar el proceso a mitad dejó lo publicado intacto</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Reproducibilidad: reconstrucción desde cero con solo la guía escrita</a:t>
            </a:r>
            <a:endParaRPr lang="en-US" sz="1500" dirty="0"/>
          </a:p>
        </p:txBody>
      </p:sp>
      <p:sp>
        <p:nvSpPr>
          <p:cNvPr id="8" name="Columna GARANTÍAS PARCIALES Y DOCUMENTADAS"/>
          <p:cNvSpPr/>
          <p:nvPr/>
        </p:nvSpPr>
        <p:spPr>
          <a:xfrm>
            <a:off x="6163056" y="1691640"/>
            <a:ext cx="5477256" cy="3840480"/>
          </a:xfrm>
          <a:prstGeom prst="rect">
            <a:avLst/>
          </a:prstGeom>
          <a:solidFill>
            <a:schemeClr val="tx2"/>
          </a:solidFill>
          <a:ln w="9525">
            <a:solidFill>
              <a:schemeClr val="accent2"/>
            </a:solidFill>
            <a:prstDash val="solid"/>
          </a:ln>
        </p:spPr>
      </p:sp>
      <p:sp>
        <p:nvSpPr>
          <p:cNvPr id="9" name="Text 6"/>
          <p:cNvSpPr txBox="1"/>
          <p:nvPr/>
        </p:nvSpPr>
        <p:spPr>
          <a:xfrm>
            <a:off x="6437376" y="1828800"/>
            <a:ext cx="4928616"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GARANTÍAS PARCIALES Y DOCUMENTADAS</a:t>
            </a:r>
            <a:endParaRPr lang="en-US" sz="1200" dirty="0"/>
          </a:p>
        </p:txBody>
      </p:sp>
      <p:sp>
        <p:nvSpPr>
          <p:cNvPr id="10" name="Text 7"/>
          <p:cNvSpPr txBox="1"/>
          <p:nvPr/>
        </p:nvSpPr>
        <p:spPr>
          <a:xfrm>
            <a:off x="6437376" y="2286000"/>
            <a:ext cx="4928616" cy="3108960"/>
          </a:xfrm>
          <a:prstGeom prst="rect">
            <a:avLst/>
          </a:prstGeom>
          <a:noFill/>
          <a:ln/>
        </p:spPr>
        <p:txBody>
          <a:bodyPr wrap="square" lIns="0" tIns="0" rIns="0" bIns="0" rtlCol="0" anchor="t"/>
          <a:lstStyle/>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Identidad sin ORCID: 95,8 % de precisión y 74,2 % de cobertura</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Rendimiento limitado por el hardware del único nodo local</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Fallo del orquestador sin corrección oficial, resuelto con una receta operativa</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Alcance deliberado: un nodo local y reconstrucción completa de silver y gold en cada ejecución</a:t>
            </a:r>
            <a:endParaRPr lang="en-US" sz="1500" dirty="0"/>
          </a:p>
        </p:txBody>
      </p:sp>
      <p:sp>
        <p:nvSpPr>
          <p:cNvPr id="11" name="Text 8"/>
          <p:cNvSpPr txBox="1"/>
          <p:nvPr/>
        </p:nvSpPr>
        <p:spPr>
          <a:xfrm>
            <a:off x="548640" y="5623560"/>
            <a:ext cx="11091672" cy="548640"/>
          </a:xfrm>
          <a:prstGeom prst="rect">
            <a:avLst/>
          </a:prstGeom>
          <a:noFill/>
          <a:ln/>
        </p:spPr>
        <p:txBody>
          <a:bodyPr wrap="square" lIns="0" tIns="0" rIns="0" bIns="0" rtlCol="0" anchor="ctr"/>
          <a:lstStyle/>
          <a:p>
            <a:pPr algn="l" indent="0" marL="0">
              <a:buNone/>
            </a:pPr>
            <a:r>
              <a:rPr lang="en-US" sz="1600" i="1" dirty="0">
                <a:solidFill>
                  <a:schemeClr val="accent3"/>
                </a:solidFill>
                <a:latin typeface="Calibri" pitchFamily="34" charset="0"/>
                <a:ea typeface="Calibri" pitchFamily="34" charset="-122"/>
                <a:cs typeface="Calibri" pitchFamily="34" charset="-120"/>
              </a:rPr>
              <a:t>Las cifras proceden de un único nodo local: el despliegue en un clúster real y el estudio de cómo escalar quedan completamente como trabajo futuro.</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8 · CONCLUSIONES Y TRABAJO FUTURO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Ocho objetivos cumplidos y uno parcial</a:t>
            </a:r>
            <a:endParaRPr lang="en-US" sz="3200" dirty="0"/>
          </a:p>
        </p:txBody>
      </p:sp>
      <p:sp>
        <p:nvSpPr>
          <p:cNvPr id="5" name="Estado OE1"/>
          <p:cNvSpPr/>
          <p:nvPr/>
        </p:nvSpPr>
        <p:spPr>
          <a:xfrm>
            <a:off x="548640" y="1691640"/>
            <a:ext cx="1828800" cy="914400"/>
          </a:xfrm>
          <a:prstGeom prst="rect">
            <a:avLst/>
          </a:prstGeom>
          <a:solidFill>
            <a:schemeClr val="tx2"/>
          </a:solidFill>
          <a:ln w="9525">
            <a:solidFill>
              <a:schemeClr val="accent2"/>
            </a:solidFill>
            <a:prstDash val="solid"/>
          </a:ln>
        </p:spPr>
      </p:sp>
      <p:sp>
        <p:nvSpPr>
          <p:cNvPr id="6" name="Text 3"/>
          <p:cNvSpPr txBox="1"/>
          <p:nvPr/>
        </p:nvSpPr>
        <p:spPr>
          <a:xfrm>
            <a:off x="685800" y="176479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OE1</a:t>
            </a:r>
            <a:endParaRPr lang="en-US" sz="1100" dirty="0"/>
          </a:p>
        </p:txBody>
      </p:sp>
      <p:sp>
        <p:nvSpPr>
          <p:cNvPr id="7" name="Text 4"/>
          <p:cNvSpPr txBox="1"/>
          <p:nvPr/>
        </p:nvSpPr>
        <p:spPr>
          <a:xfrm>
            <a:off x="1188720" y="176479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8" name="Text 5"/>
          <p:cNvSpPr txBox="1"/>
          <p:nvPr/>
        </p:nvSpPr>
        <p:spPr>
          <a:xfrm>
            <a:off x="685800" y="205740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Infraestructura</a:t>
            </a:r>
            <a:endParaRPr lang="en-US" sz="1400" dirty="0"/>
          </a:p>
        </p:txBody>
      </p:sp>
      <p:sp>
        <p:nvSpPr>
          <p:cNvPr id="9" name="Estado OE2"/>
          <p:cNvSpPr/>
          <p:nvPr/>
        </p:nvSpPr>
        <p:spPr>
          <a:xfrm>
            <a:off x="2514600" y="1691640"/>
            <a:ext cx="1828800" cy="914400"/>
          </a:xfrm>
          <a:prstGeom prst="rect">
            <a:avLst/>
          </a:prstGeom>
          <a:solidFill>
            <a:schemeClr val="tx2"/>
          </a:solidFill>
          <a:ln w="9525">
            <a:solidFill>
              <a:schemeClr val="accent2"/>
            </a:solidFill>
            <a:prstDash val="solid"/>
          </a:ln>
        </p:spPr>
      </p:sp>
      <p:sp>
        <p:nvSpPr>
          <p:cNvPr id="10" name="Text 7"/>
          <p:cNvSpPr txBox="1"/>
          <p:nvPr/>
        </p:nvSpPr>
        <p:spPr>
          <a:xfrm>
            <a:off x="2651760" y="176479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OE2</a:t>
            </a:r>
            <a:endParaRPr lang="en-US" sz="1100" dirty="0"/>
          </a:p>
        </p:txBody>
      </p:sp>
      <p:sp>
        <p:nvSpPr>
          <p:cNvPr id="11" name="Text 8"/>
          <p:cNvSpPr txBox="1"/>
          <p:nvPr/>
        </p:nvSpPr>
        <p:spPr>
          <a:xfrm>
            <a:off x="3154680" y="176479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12" name="Text 9"/>
          <p:cNvSpPr txBox="1"/>
          <p:nvPr/>
        </p:nvSpPr>
        <p:spPr>
          <a:xfrm>
            <a:off x="2651760" y="205740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Mecanismo central</a:t>
            </a:r>
            <a:endParaRPr lang="en-US" sz="1400" dirty="0"/>
          </a:p>
        </p:txBody>
      </p:sp>
      <p:sp>
        <p:nvSpPr>
          <p:cNvPr id="13" name="Estado OE3"/>
          <p:cNvSpPr/>
          <p:nvPr/>
        </p:nvSpPr>
        <p:spPr>
          <a:xfrm>
            <a:off x="4480560" y="1691640"/>
            <a:ext cx="1828800" cy="914400"/>
          </a:xfrm>
          <a:prstGeom prst="rect">
            <a:avLst/>
          </a:prstGeom>
          <a:solidFill>
            <a:schemeClr val="tx2"/>
          </a:solidFill>
          <a:ln w="9525">
            <a:solidFill>
              <a:schemeClr val="accent2"/>
            </a:solidFill>
            <a:prstDash val="solid"/>
          </a:ln>
        </p:spPr>
      </p:sp>
      <p:sp>
        <p:nvSpPr>
          <p:cNvPr id="14" name="Text 11"/>
          <p:cNvSpPr txBox="1"/>
          <p:nvPr/>
        </p:nvSpPr>
        <p:spPr>
          <a:xfrm>
            <a:off x="4617720" y="176479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OE3</a:t>
            </a:r>
            <a:endParaRPr lang="en-US" sz="1100" dirty="0"/>
          </a:p>
        </p:txBody>
      </p:sp>
      <p:sp>
        <p:nvSpPr>
          <p:cNvPr id="15" name="Text 12"/>
          <p:cNvSpPr txBox="1"/>
          <p:nvPr/>
        </p:nvSpPr>
        <p:spPr>
          <a:xfrm>
            <a:off x="5120640" y="176479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16" name="Text 13"/>
          <p:cNvSpPr txBox="1"/>
          <p:nvPr/>
        </p:nvSpPr>
        <p:spPr>
          <a:xfrm>
            <a:off x="4617720" y="205740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ORCID real</a:t>
            </a:r>
            <a:endParaRPr lang="en-US" sz="1400" dirty="0"/>
          </a:p>
        </p:txBody>
      </p:sp>
      <p:sp>
        <p:nvSpPr>
          <p:cNvPr id="17" name="Estado OE4"/>
          <p:cNvSpPr/>
          <p:nvPr/>
        </p:nvSpPr>
        <p:spPr>
          <a:xfrm>
            <a:off x="548640" y="2697480"/>
            <a:ext cx="1828800" cy="914400"/>
          </a:xfrm>
          <a:prstGeom prst="rect">
            <a:avLst/>
          </a:prstGeom>
          <a:solidFill>
            <a:schemeClr val="tx2"/>
          </a:solidFill>
          <a:ln w="9525">
            <a:solidFill>
              <a:schemeClr val="accent2"/>
            </a:solidFill>
            <a:prstDash val="solid"/>
          </a:ln>
        </p:spPr>
      </p:sp>
      <p:sp>
        <p:nvSpPr>
          <p:cNvPr id="18" name="Text 15"/>
          <p:cNvSpPr txBox="1"/>
          <p:nvPr/>
        </p:nvSpPr>
        <p:spPr>
          <a:xfrm>
            <a:off x="685800" y="277063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OE4</a:t>
            </a:r>
            <a:endParaRPr lang="en-US" sz="1100" dirty="0"/>
          </a:p>
        </p:txBody>
      </p:sp>
      <p:sp>
        <p:nvSpPr>
          <p:cNvPr id="19" name="Text 16"/>
          <p:cNvSpPr txBox="1"/>
          <p:nvPr/>
        </p:nvSpPr>
        <p:spPr>
          <a:xfrm>
            <a:off x="1188720" y="277063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20" name="Text 17"/>
          <p:cNvSpPr txBox="1"/>
          <p:nvPr/>
        </p:nvSpPr>
        <p:spPr>
          <a:xfrm>
            <a:off x="685800" y="306324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CVN</a:t>
            </a:r>
            <a:endParaRPr lang="en-US" sz="1400" dirty="0"/>
          </a:p>
        </p:txBody>
      </p:sp>
      <p:sp>
        <p:nvSpPr>
          <p:cNvPr id="21" name="Estado OE5"/>
          <p:cNvSpPr/>
          <p:nvPr/>
        </p:nvSpPr>
        <p:spPr>
          <a:xfrm>
            <a:off x="2514600" y="2697480"/>
            <a:ext cx="1828800" cy="914400"/>
          </a:xfrm>
          <a:prstGeom prst="rect">
            <a:avLst/>
          </a:prstGeom>
          <a:solidFill>
            <a:schemeClr val="tx2"/>
          </a:solidFill>
          <a:ln w="9525">
            <a:solidFill>
              <a:schemeClr val="accent2"/>
            </a:solidFill>
            <a:prstDash val="solid"/>
          </a:ln>
        </p:spPr>
      </p:sp>
      <p:sp>
        <p:nvSpPr>
          <p:cNvPr id="22" name="Text 19"/>
          <p:cNvSpPr txBox="1"/>
          <p:nvPr/>
        </p:nvSpPr>
        <p:spPr>
          <a:xfrm>
            <a:off x="2651760" y="277063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OE5</a:t>
            </a:r>
            <a:endParaRPr lang="en-US" sz="1100" dirty="0"/>
          </a:p>
        </p:txBody>
      </p:sp>
      <p:sp>
        <p:nvSpPr>
          <p:cNvPr id="23" name="Text 20"/>
          <p:cNvSpPr txBox="1"/>
          <p:nvPr/>
        </p:nvSpPr>
        <p:spPr>
          <a:xfrm>
            <a:off x="3154680" y="2770632"/>
            <a:ext cx="1097280" cy="228600"/>
          </a:xfrm>
          <a:prstGeom prst="rect">
            <a:avLst/>
          </a:prstGeom>
          <a:noFill/>
          <a:ln/>
        </p:spPr>
        <p:txBody>
          <a:bodyPr wrap="square" lIns="0" tIns="0" rIns="0" bIns="0" rtlCol="0" anchor="t"/>
          <a:lstStyle/>
          <a:p>
            <a:pPr algn="r" indent="0" marL="0">
              <a:buNone/>
            </a:pPr>
            <a:r>
              <a:rPr lang="en-US" sz="1000" spc="100" kern="0" dirty="0">
                <a:solidFill>
                  <a:schemeClr val="accent1"/>
                </a:solidFill>
                <a:latin typeface="Consolas" pitchFamily="34" charset="0"/>
                <a:ea typeface="Consolas" pitchFamily="34" charset="-122"/>
                <a:cs typeface="Consolas" pitchFamily="34" charset="-120"/>
              </a:rPr>
              <a:t>PARCIAL</a:t>
            </a:r>
            <a:endParaRPr lang="en-US" sz="1000" dirty="0"/>
          </a:p>
        </p:txBody>
      </p:sp>
      <p:sp>
        <p:nvSpPr>
          <p:cNvPr id="24" name="Text 21"/>
          <p:cNvSpPr txBox="1"/>
          <p:nvPr/>
        </p:nvSpPr>
        <p:spPr>
          <a:xfrm>
            <a:off x="2651760" y="306324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Fusión de fuentes</a:t>
            </a:r>
            <a:endParaRPr lang="en-US" sz="1400" dirty="0"/>
          </a:p>
        </p:txBody>
      </p:sp>
      <p:sp>
        <p:nvSpPr>
          <p:cNvPr id="25" name="Estado OE6"/>
          <p:cNvSpPr/>
          <p:nvPr/>
        </p:nvSpPr>
        <p:spPr>
          <a:xfrm>
            <a:off x="4480560" y="2697480"/>
            <a:ext cx="1828800" cy="914400"/>
          </a:xfrm>
          <a:prstGeom prst="rect">
            <a:avLst/>
          </a:prstGeom>
          <a:solidFill>
            <a:schemeClr val="tx2"/>
          </a:solidFill>
          <a:ln w="9525">
            <a:solidFill>
              <a:schemeClr val="accent2"/>
            </a:solidFill>
            <a:prstDash val="solid"/>
          </a:ln>
        </p:spPr>
      </p:sp>
      <p:sp>
        <p:nvSpPr>
          <p:cNvPr id="26" name="Text 23"/>
          <p:cNvSpPr txBox="1"/>
          <p:nvPr/>
        </p:nvSpPr>
        <p:spPr>
          <a:xfrm>
            <a:off x="4617720" y="277063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OE6</a:t>
            </a:r>
            <a:endParaRPr lang="en-US" sz="1100" dirty="0"/>
          </a:p>
        </p:txBody>
      </p:sp>
      <p:sp>
        <p:nvSpPr>
          <p:cNvPr id="27" name="Text 24"/>
          <p:cNvSpPr txBox="1"/>
          <p:nvPr/>
        </p:nvSpPr>
        <p:spPr>
          <a:xfrm>
            <a:off x="5120640" y="277063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28" name="Text 25"/>
          <p:cNvSpPr txBox="1"/>
          <p:nvPr/>
        </p:nvSpPr>
        <p:spPr>
          <a:xfrm>
            <a:off x="4617720" y="306324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Indicadores</a:t>
            </a:r>
            <a:endParaRPr lang="en-US" sz="1400" dirty="0"/>
          </a:p>
        </p:txBody>
      </p:sp>
      <p:sp>
        <p:nvSpPr>
          <p:cNvPr id="29" name="Estado OE7"/>
          <p:cNvSpPr/>
          <p:nvPr/>
        </p:nvSpPr>
        <p:spPr>
          <a:xfrm>
            <a:off x="548640" y="3703320"/>
            <a:ext cx="1828800" cy="914400"/>
          </a:xfrm>
          <a:prstGeom prst="rect">
            <a:avLst/>
          </a:prstGeom>
          <a:solidFill>
            <a:schemeClr val="tx2"/>
          </a:solidFill>
          <a:ln w="9525">
            <a:solidFill>
              <a:schemeClr val="accent2"/>
            </a:solidFill>
            <a:prstDash val="solid"/>
          </a:ln>
        </p:spPr>
      </p:sp>
      <p:sp>
        <p:nvSpPr>
          <p:cNvPr id="30" name="Text 27"/>
          <p:cNvSpPr txBox="1"/>
          <p:nvPr/>
        </p:nvSpPr>
        <p:spPr>
          <a:xfrm>
            <a:off x="685800" y="377647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OE7</a:t>
            </a:r>
            <a:endParaRPr lang="en-US" sz="1100" dirty="0"/>
          </a:p>
        </p:txBody>
      </p:sp>
      <p:sp>
        <p:nvSpPr>
          <p:cNvPr id="31" name="Text 28"/>
          <p:cNvSpPr txBox="1"/>
          <p:nvPr/>
        </p:nvSpPr>
        <p:spPr>
          <a:xfrm>
            <a:off x="1188720" y="377647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32" name="Text 29"/>
          <p:cNvSpPr txBox="1"/>
          <p:nvPr/>
        </p:nvSpPr>
        <p:spPr>
          <a:xfrm>
            <a:off x="685800" y="406908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Panel</a:t>
            </a:r>
            <a:endParaRPr lang="en-US" sz="1400" dirty="0"/>
          </a:p>
        </p:txBody>
      </p:sp>
      <p:sp>
        <p:nvSpPr>
          <p:cNvPr id="33" name="Estado OE8"/>
          <p:cNvSpPr/>
          <p:nvPr/>
        </p:nvSpPr>
        <p:spPr>
          <a:xfrm>
            <a:off x="2514600" y="3703320"/>
            <a:ext cx="1828800" cy="914400"/>
          </a:xfrm>
          <a:prstGeom prst="rect">
            <a:avLst/>
          </a:prstGeom>
          <a:solidFill>
            <a:schemeClr val="tx2"/>
          </a:solidFill>
          <a:ln w="9525">
            <a:solidFill>
              <a:schemeClr val="accent2"/>
            </a:solidFill>
            <a:prstDash val="solid"/>
          </a:ln>
        </p:spPr>
      </p:sp>
      <p:sp>
        <p:nvSpPr>
          <p:cNvPr id="34" name="Text 31"/>
          <p:cNvSpPr txBox="1"/>
          <p:nvPr/>
        </p:nvSpPr>
        <p:spPr>
          <a:xfrm>
            <a:off x="2651760" y="377647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OE8</a:t>
            </a:r>
            <a:endParaRPr lang="en-US" sz="1100" dirty="0"/>
          </a:p>
        </p:txBody>
      </p:sp>
      <p:sp>
        <p:nvSpPr>
          <p:cNvPr id="35" name="Text 32"/>
          <p:cNvSpPr txBox="1"/>
          <p:nvPr/>
        </p:nvSpPr>
        <p:spPr>
          <a:xfrm>
            <a:off x="3154680" y="377647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36" name="Text 33"/>
          <p:cNvSpPr txBox="1"/>
          <p:nvPr/>
        </p:nvSpPr>
        <p:spPr>
          <a:xfrm>
            <a:off x="2651760" y="406908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Benchmark</a:t>
            </a:r>
            <a:endParaRPr lang="en-US" sz="1400" dirty="0"/>
          </a:p>
        </p:txBody>
      </p:sp>
      <p:sp>
        <p:nvSpPr>
          <p:cNvPr id="37" name="Estado OE9"/>
          <p:cNvSpPr/>
          <p:nvPr/>
        </p:nvSpPr>
        <p:spPr>
          <a:xfrm>
            <a:off x="4480560" y="3703320"/>
            <a:ext cx="1828800" cy="914400"/>
          </a:xfrm>
          <a:prstGeom prst="rect">
            <a:avLst/>
          </a:prstGeom>
          <a:solidFill>
            <a:schemeClr val="tx2"/>
          </a:solidFill>
          <a:ln w="9525">
            <a:solidFill>
              <a:schemeClr val="accent2"/>
            </a:solidFill>
            <a:prstDash val="solid"/>
          </a:ln>
        </p:spPr>
      </p:sp>
      <p:sp>
        <p:nvSpPr>
          <p:cNvPr id="38" name="Text 35"/>
          <p:cNvSpPr txBox="1"/>
          <p:nvPr/>
        </p:nvSpPr>
        <p:spPr>
          <a:xfrm>
            <a:off x="4617720" y="377647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OE9</a:t>
            </a:r>
            <a:endParaRPr lang="en-US" sz="1100" dirty="0"/>
          </a:p>
        </p:txBody>
      </p:sp>
      <p:sp>
        <p:nvSpPr>
          <p:cNvPr id="39" name="Text 36"/>
          <p:cNvSpPr txBox="1"/>
          <p:nvPr/>
        </p:nvSpPr>
        <p:spPr>
          <a:xfrm>
            <a:off x="5120640" y="377647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40" name="Text 37"/>
          <p:cNvSpPr txBox="1"/>
          <p:nvPr/>
        </p:nvSpPr>
        <p:spPr>
          <a:xfrm>
            <a:off x="4617720" y="406908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Robustez</a:t>
            </a:r>
            <a:endParaRPr lang="en-US" sz="1400" dirty="0"/>
          </a:p>
        </p:txBody>
      </p:sp>
      <p:sp>
        <p:nvSpPr>
          <p:cNvPr id="41" name="Text 38"/>
          <p:cNvSpPr txBox="1"/>
          <p:nvPr/>
        </p:nvSpPr>
        <p:spPr>
          <a:xfrm>
            <a:off x="548640" y="4754880"/>
            <a:ext cx="5760720" cy="1188720"/>
          </a:xfrm>
          <a:prstGeom prst="rect">
            <a:avLst/>
          </a:prstGeom>
          <a:noFill/>
          <a:ln/>
        </p:spPr>
        <p:txBody>
          <a:bodyPr wrap="square" lIns="0" tIns="0" rIns="0" bIns="0" rtlCol="0" anchor="t"/>
          <a:lstStyle/>
          <a:p>
            <a:pPr algn="l" indent="0" marL="0">
              <a:buNone/>
            </a:pPr>
            <a:r>
              <a:rPr lang="en-US" sz="1400" dirty="0">
                <a:solidFill>
                  <a:schemeClr val="accent3"/>
                </a:solidFill>
                <a:latin typeface="Calibri" pitchFamily="34" charset="0"/>
                <a:ea typeface="Calibri" pitchFamily="34" charset="-122"/>
                <a:cs typeface="Calibri" pitchFamily="34" charset="-120"/>
              </a:rPr>
              <a:t>OE5: la regla sin ORCID llega al 95,8 % de precisión y al 74,2 % de cobertura, por debajo del 99 % fijado. El objetivo general se considera cumplido.</a:t>
            </a:r>
            <a:endParaRPr lang="en-US" sz="1400" dirty="0"/>
          </a:p>
        </p:txBody>
      </p:sp>
      <p:sp>
        <p:nvSpPr>
          <p:cNvPr id="42" name="Contribuciones"/>
          <p:cNvSpPr/>
          <p:nvPr/>
        </p:nvSpPr>
        <p:spPr>
          <a:xfrm>
            <a:off x="6583680" y="1691640"/>
            <a:ext cx="5056632" cy="4389120"/>
          </a:xfrm>
          <a:prstGeom prst="rect">
            <a:avLst/>
          </a:prstGeom>
          <a:solidFill>
            <a:schemeClr val="tx2"/>
          </a:solidFill>
          <a:ln w="9525">
            <a:solidFill>
              <a:schemeClr val="accent2"/>
            </a:solidFill>
            <a:prstDash val="solid"/>
          </a:ln>
        </p:spPr>
      </p:sp>
      <p:sp>
        <p:nvSpPr>
          <p:cNvPr id="43" name="Text 40"/>
          <p:cNvSpPr txBox="1"/>
          <p:nvPr/>
        </p:nvSpPr>
        <p:spPr>
          <a:xfrm>
            <a:off x="6812280" y="1828800"/>
            <a:ext cx="4572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CONTRIBUCIONES</a:t>
            </a:r>
            <a:endParaRPr lang="en-US" sz="1200" dirty="0"/>
          </a:p>
        </p:txBody>
      </p:sp>
      <p:sp>
        <p:nvSpPr>
          <p:cNvPr id="44" name="Text 41"/>
          <p:cNvSpPr txBox="1"/>
          <p:nvPr/>
        </p:nvSpPr>
        <p:spPr>
          <a:xfrm>
            <a:off x="6812280" y="2240280"/>
            <a:ext cx="4617720" cy="3657600"/>
          </a:xfrm>
          <a:prstGeom prst="rect">
            <a:avLst/>
          </a:prstGeom>
          <a:noFill/>
          <a:ln/>
        </p:spPr>
        <p:txBody>
          <a:bodyPr wrap="square" lIns="0" tIns="0" rIns="0" bIns="0" rtlCol="0" anchor="t"/>
          <a:lstStyle/>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Plataforma lakehouse verificada de extremo a extremo</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Fusión ORCID y CVN diseñada desde el origen del dato</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Resolución de identidad determinista, con evidencia auditable</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El número de ejecutores de Spark es palanca de fiabilidad, no solo de velocidad</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Guía de reproducibilidad validada con una reconstrucción real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8 · CONCLUSIONES Y TRABAJO FUTURO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10243A"/>
                </a:solidFill>
                <a:latin typeface="Calibri" pitchFamily="34" charset="0"/>
                <a:ea typeface="Calibri" pitchFamily="34" charset="-122"/>
                <a:cs typeface="Calibri" pitchFamily="34" charset="-120"/>
              </a:rPr>
              <a:t>Conclusión y líneas de trabajo futuro</a:t>
            </a:r>
            <a:endParaRPr lang="en-US" sz="3200" dirty="0"/>
          </a:p>
        </p:txBody>
      </p:sp>
      <p:sp>
        <p:nvSpPr>
          <p:cNvPr id="5" name="Conclusion"/>
          <p:cNvSpPr/>
          <p:nvPr/>
        </p:nvSpPr>
        <p:spPr>
          <a:xfrm>
            <a:off x="548640" y="1691640"/>
            <a:ext cx="5669280" cy="4389120"/>
          </a:xfrm>
          <a:prstGeom prst="rect">
            <a:avLst/>
          </a:prstGeom>
          <a:solidFill>
            <a:schemeClr val="tx2"/>
          </a:solidFill>
          <a:ln w="9525">
            <a:solidFill>
              <a:schemeClr val="accent2"/>
            </a:solidFill>
            <a:prstDash val="solid"/>
          </a:ln>
        </p:spPr>
      </p:sp>
      <p:sp>
        <p:nvSpPr>
          <p:cNvPr id="6" name="Text 3"/>
          <p:cNvSpPr txBox="1"/>
          <p:nvPr/>
        </p:nvSpPr>
        <p:spPr>
          <a:xfrm>
            <a:off x="822960" y="1828800"/>
            <a:ext cx="4572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CONCLUSIÓN</a:t>
            </a:r>
            <a:endParaRPr lang="en-US" sz="1200" dirty="0"/>
          </a:p>
        </p:txBody>
      </p:sp>
      <p:sp>
        <p:nvSpPr>
          <p:cNvPr id="7" name="Text 4"/>
          <p:cNvSpPr txBox="1"/>
          <p:nvPr/>
        </p:nvSpPr>
        <p:spPr>
          <a:xfrm>
            <a:off x="822960" y="2240280"/>
            <a:ext cx="5120640" cy="256032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Este trabajo demuestra, con una plataforma desplegada y medida, que ORCID y CVN pueden integrarse en un lakehouse autoalojado y reproducible, con la identidad resuelta entre fuentes y con evidencia reproducible de su rendimiento y su robustez.</a:t>
            </a:r>
            <a:endParaRPr lang="en-US" sz="1900" dirty="0"/>
          </a:p>
        </p:txBody>
      </p:sp>
      <p:sp>
        <p:nvSpPr>
          <p:cNvPr id="8" name="Text 5"/>
          <p:cNvSpPr txBox="1"/>
          <p:nvPr/>
        </p:nvSpPr>
        <p:spPr>
          <a:xfrm>
            <a:off x="822960" y="4937760"/>
            <a:ext cx="5120640" cy="1005840"/>
          </a:xfrm>
          <a:prstGeom prst="rect">
            <a:avLst/>
          </a:prstGeom>
          <a:noFill/>
          <a:ln/>
        </p:spPr>
        <p:txBody>
          <a:bodyPr wrap="square" lIns="0" tIns="0" rIns="0" bIns="0" rtlCol="0" anchor="t"/>
          <a:lstStyle/>
          <a:p>
            <a:pPr algn="l" indent="0" marL="0">
              <a:buNone/>
            </a:pPr>
            <a:r>
              <a:rPr lang="en-US" sz="1500" dirty="0">
                <a:solidFill>
                  <a:schemeClr val="accent3"/>
                </a:solidFill>
                <a:latin typeface="Calibri" pitchFamily="34" charset="0"/>
                <a:ea typeface="Calibri" pitchFamily="34" charset="-122"/>
                <a:cs typeface="Calibri" pitchFamily="34" charset="-120"/>
              </a:rPr>
              <a:t>Las limitaciones proceden de un componente externo o son decisiones deliberadas de alcance.</a:t>
            </a:r>
            <a:endParaRPr lang="en-US" sz="1500" dirty="0"/>
          </a:p>
        </p:txBody>
      </p:sp>
      <p:sp>
        <p:nvSpPr>
          <p:cNvPr id="9" name="Text 6"/>
          <p:cNvSpPr txBox="1"/>
          <p:nvPr/>
        </p:nvSpPr>
        <p:spPr>
          <a:xfrm>
            <a:off x="6492240" y="1737360"/>
            <a:ext cx="4572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TRABAJO FUTURO</a:t>
            </a:r>
            <a:endParaRPr lang="en-US" sz="1200" dirty="0"/>
          </a:p>
        </p:txBody>
      </p:sp>
      <p:sp>
        <p:nvSpPr>
          <p:cNvPr id="10" name="Trabajo futuro 1"/>
          <p:cNvSpPr/>
          <p:nvPr/>
        </p:nvSpPr>
        <p:spPr>
          <a:xfrm>
            <a:off x="6492240" y="2103120"/>
            <a:ext cx="5148072" cy="566928"/>
          </a:xfrm>
          <a:prstGeom prst="rect">
            <a:avLst/>
          </a:prstGeom>
          <a:solidFill>
            <a:schemeClr val="tx2"/>
          </a:solidFill>
          <a:ln w="9525">
            <a:solidFill>
              <a:schemeClr val="accent2"/>
            </a:solidFill>
            <a:prstDash val="solid"/>
          </a:ln>
        </p:spPr>
      </p:sp>
      <p:sp>
        <p:nvSpPr>
          <p:cNvPr id="11" name="Text 8"/>
          <p:cNvSpPr txBox="1"/>
          <p:nvPr/>
        </p:nvSpPr>
        <p:spPr>
          <a:xfrm>
            <a:off x="6675120" y="2103120"/>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1</a:t>
            </a:r>
            <a:endParaRPr lang="en-US" sz="1600" dirty="0"/>
          </a:p>
        </p:txBody>
      </p:sp>
      <p:sp>
        <p:nvSpPr>
          <p:cNvPr id="12" name="Text 9"/>
          <p:cNvSpPr txBox="1"/>
          <p:nvPr/>
        </p:nvSpPr>
        <p:spPr>
          <a:xfrm>
            <a:off x="7132320" y="2103120"/>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Despliegue en un clúster real y estudio de cómo escalar</a:t>
            </a:r>
            <a:endParaRPr lang="en-US" sz="1400" dirty="0"/>
          </a:p>
        </p:txBody>
      </p:sp>
      <p:sp>
        <p:nvSpPr>
          <p:cNvPr id="13" name="Trabajo futuro 2"/>
          <p:cNvSpPr/>
          <p:nvPr/>
        </p:nvSpPr>
        <p:spPr>
          <a:xfrm>
            <a:off x="6492240" y="2761488"/>
            <a:ext cx="5148072" cy="566928"/>
          </a:xfrm>
          <a:prstGeom prst="rect">
            <a:avLst/>
          </a:prstGeom>
          <a:solidFill>
            <a:schemeClr val="tx2"/>
          </a:solidFill>
          <a:ln w="9525">
            <a:solidFill>
              <a:schemeClr val="accent2"/>
            </a:solidFill>
            <a:prstDash val="solid"/>
          </a:ln>
        </p:spPr>
      </p:sp>
      <p:sp>
        <p:nvSpPr>
          <p:cNvPr id="14" name="Text 11"/>
          <p:cNvSpPr txBox="1"/>
          <p:nvPr/>
        </p:nvSpPr>
        <p:spPr>
          <a:xfrm>
            <a:off x="6675120" y="2761488"/>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2</a:t>
            </a:r>
            <a:endParaRPr lang="en-US" sz="1600" dirty="0"/>
          </a:p>
        </p:txBody>
      </p:sp>
      <p:sp>
        <p:nvSpPr>
          <p:cNvPr id="15" name="Text 12"/>
          <p:cNvSpPr txBox="1"/>
          <p:nvPr/>
        </p:nvSpPr>
        <p:spPr>
          <a:xfrm>
            <a:off x="7132320" y="2761488"/>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Incorporar la corrección oficial del orquestador cuando exista</a:t>
            </a:r>
            <a:endParaRPr lang="en-US" sz="1400" dirty="0"/>
          </a:p>
        </p:txBody>
      </p:sp>
      <p:sp>
        <p:nvSpPr>
          <p:cNvPr id="16" name="Trabajo futuro 3"/>
          <p:cNvSpPr/>
          <p:nvPr/>
        </p:nvSpPr>
        <p:spPr>
          <a:xfrm>
            <a:off x="6492240" y="3419856"/>
            <a:ext cx="5148072" cy="566928"/>
          </a:xfrm>
          <a:prstGeom prst="rect">
            <a:avLst/>
          </a:prstGeom>
          <a:solidFill>
            <a:schemeClr val="tx2"/>
          </a:solidFill>
          <a:ln w="9525">
            <a:solidFill>
              <a:schemeClr val="accent2"/>
            </a:solidFill>
            <a:prstDash val="solid"/>
          </a:ln>
        </p:spPr>
      </p:sp>
      <p:sp>
        <p:nvSpPr>
          <p:cNvPr id="17" name="Text 14"/>
          <p:cNvSpPr txBox="1"/>
          <p:nvPr/>
        </p:nvSpPr>
        <p:spPr>
          <a:xfrm>
            <a:off x="6675120" y="3419856"/>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3</a:t>
            </a:r>
            <a:endParaRPr lang="en-US" sz="1600" dirty="0"/>
          </a:p>
        </p:txBody>
      </p:sp>
      <p:sp>
        <p:nvSpPr>
          <p:cNvPr id="18" name="Text 15"/>
          <p:cNvSpPr txBox="1"/>
          <p:nvPr/>
        </p:nvSpPr>
        <p:spPr>
          <a:xfrm>
            <a:off x="7132320" y="3419856"/>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Motor de consulta SQL sobre Iceberg (como Trino): consultar gold sin copiarlo a PostgreSQL</a:t>
            </a:r>
            <a:endParaRPr lang="en-US" sz="1400" dirty="0"/>
          </a:p>
        </p:txBody>
      </p:sp>
      <p:sp>
        <p:nvSpPr>
          <p:cNvPr id="19" name="Trabajo futuro 4"/>
          <p:cNvSpPr/>
          <p:nvPr/>
        </p:nvSpPr>
        <p:spPr>
          <a:xfrm>
            <a:off x="6492240" y="4078224"/>
            <a:ext cx="5148072" cy="566928"/>
          </a:xfrm>
          <a:prstGeom prst="rect">
            <a:avLst/>
          </a:prstGeom>
          <a:solidFill>
            <a:schemeClr val="tx2"/>
          </a:solidFill>
          <a:ln w="9525">
            <a:solidFill>
              <a:schemeClr val="accent2"/>
            </a:solidFill>
            <a:prstDash val="solid"/>
          </a:ln>
        </p:spPr>
      </p:sp>
      <p:sp>
        <p:nvSpPr>
          <p:cNvPr id="20" name="Text 17"/>
          <p:cNvSpPr txBox="1"/>
          <p:nvPr/>
        </p:nvSpPr>
        <p:spPr>
          <a:xfrm>
            <a:off x="6675120" y="4078224"/>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4</a:t>
            </a:r>
            <a:endParaRPr lang="en-US" sz="1600" dirty="0"/>
          </a:p>
        </p:txBody>
      </p:sp>
      <p:sp>
        <p:nvSpPr>
          <p:cNvPr id="21" name="Text 18"/>
          <p:cNvSpPr txBox="1"/>
          <p:nvPr/>
        </p:nvSpPr>
        <p:spPr>
          <a:xfrm>
            <a:off x="7132320" y="4078224"/>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Monitorización permanente en producción: métricas, registros y alertas</a:t>
            </a:r>
            <a:endParaRPr lang="en-US" sz="1400" dirty="0"/>
          </a:p>
        </p:txBody>
      </p:sp>
      <p:sp>
        <p:nvSpPr>
          <p:cNvPr id="22" name="Trabajo futuro 5"/>
          <p:cNvSpPr/>
          <p:nvPr/>
        </p:nvSpPr>
        <p:spPr>
          <a:xfrm>
            <a:off x="6492240" y="4736592"/>
            <a:ext cx="5148072" cy="566928"/>
          </a:xfrm>
          <a:prstGeom prst="rect">
            <a:avLst/>
          </a:prstGeom>
          <a:solidFill>
            <a:schemeClr val="tx2"/>
          </a:solidFill>
          <a:ln w="9525">
            <a:solidFill>
              <a:schemeClr val="accent2"/>
            </a:solidFill>
            <a:prstDash val="solid"/>
          </a:ln>
        </p:spPr>
      </p:sp>
      <p:sp>
        <p:nvSpPr>
          <p:cNvPr id="23" name="Text 20"/>
          <p:cNvSpPr txBox="1"/>
          <p:nvPr/>
        </p:nvSpPr>
        <p:spPr>
          <a:xfrm>
            <a:off x="6675120" y="4736592"/>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5</a:t>
            </a:r>
            <a:endParaRPr lang="en-US" sz="1600" dirty="0"/>
          </a:p>
        </p:txBody>
      </p:sp>
      <p:sp>
        <p:nvSpPr>
          <p:cNvPr id="24" name="Text 21"/>
          <p:cNvSpPr txBox="1"/>
          <p:nvPr/>
        </p:nvSpPr>
        <p:spPr>
          <a:xfrm>
            <a:off x="7132320" y="4736592"/>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Procesamiento incremental sobre snapshots de Iceberg</a:t>
            </a:r>
            <a:endParaRPr lang="en-US" sz="1400" dirty="0"/>
          </a:p>
        </p:txBody>
      </p:sp>
      <p:sp>
        <p:nvSpPr>
          <p:cNvPr id="25" name="Trabajo futuro 6"/>
          <p:cNvSpPr/>
          <p:nvPr/>
        </p:nvSpPr>
        <p:spPr>
          <a:xfrm>
            <a:off x="6492240" y="5394960"/>
            <a:ext cx="5148072" cy="566928"/>
          </a:xfrm>
          <a:prstGeom prst="rect">
            <a:avLst/>
          </a:prstGeom>
          <a:solidFill>
            <a:schemeClr val="tx2"/>
          </a:solidFill>
          <a:ln w="9525">
            <a:solidFill>
              <a:schemeClr val="accent2"/>
            </a:solidFill>
            <a:prstDash val="solid"/>
          </a:ln>
        </p:spPr>
      </p:sp>
      <p:sp>
        <p:nvSpPr>
          <p:cNvPr id="26" name="Text 23"/>
          <p:cNvSpPr txBox="1"/>
          <p:nvPr/>
        </p:nvSpPr>
        <p:spPr>
          <a:xfrm>
            <a:off x="6675120" y="5394960"/>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6</a:t>
            </a:r>
            <a:endParaRPr lang="en-US" sz="1600" dirty="0"/>
          </a:p>
        </p:txBody>
      </p:sp>
      <p:sp>
        <p:nvSpPr>
          <p:cNvPr id="27" name="Text 24"/>
          <p:cNvSpPr txBox="1"/>
          <p:nvPr/>
        </p:nvSpPr>
        <p:spPr>
          <a:xfrm>
            <a:off x="7132320" y="5394960"/>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Vinculación probabilística o con aprendizaje automático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731520" y="2103120"/>
            <a:ext cx="9144000" cy="320040"/>
          </a:xfrm>
          <a:prstGeom prst="rect">
            <a:avLst/>
          </a:prstGeom>
          <a:noFill/>
          <a:ln/>
        </p:spPr>
        <p:txBody>
          <a:bodyPr wrap="square" lIns="0" tIns="0" rIns="0" bIns="0" rtlCol="0" anchor="t"/>
          <a:lstStyle/>
          <a:p>
            <a:pPr algn="l" indent="0" marL="0">
              <a:buNone/>
            </a:pPr>
            <a:r>
              <a:rPr lang="en-US" sz="1400" spc="300" kern="0" dirty="0">
                <a:solidFill>
                  <a:schemeClr val="accent1"/>
                </a:solidFill>
                <a:latin typeface="Consolas" pitchFamily="34" charset="0"/>
                <a:ea typeface="Consolas" pitchFamily="34" charset="-122"/>
                <a:cs typeface="Consolas" pitchFamily="34" charset="-120"/>
              </a:rPr>
              <a:t>FIN DE LA EXPOSICIÓN · TURNO DE PREGUNTAS</a:t>
            </a:r>
            <a:endParaRPr lang="en-US" sz="1400" dirty="0"/>
          </a:p>
        </p:txBody>
      </p:sp>
      <p:sp>
        <p:nvSpPr>
          <p:cNvPr id="4" name="Agradecimiento"/>
          <p:cNvSpPr txBox="1"/>
          <p:nvPr/>
        </p:nvSpPr>
        <p:spPr>
          <a:xfrm>
            <a:off x="731520" y="2560320"/>
            <a:ext cx="9144000" cy="1280160"/>
          </a:xfrm>
          <a:prstGeom prst="rect">
            <a:avLst/>
          </a:prstGeom>
          <a:noFill/>
          <a:ln/>
        </p:spPr>
        <p:txBody>
          <a:bodyPr wrap="square" lIns="0" tIns="0" rIns="0" bIns="0" rtlCol="0" anchor="t"/>
          <a:lstStyle/>
          <a:p>
            <a:pPr algn="l" indent="0" marL="0">
              <a:buNone/>
            </a:pPr>
            <a:r>
              <a:rPr lang="en-US" sz="6600" b="1" dirty="0">
                <a:solidFill>
                  <a:schemeClr val="bg1"/>
                </a:solidFill>
                <a:latin typeface="Calibri" pitchFamily="34" charset="0"/>
                <a:ea typeface="Calibri" pitchFamily="34" charset="-122"/>
                <a:cs typeface="Calibri" pitchFamily="34" charset="-120"/>
              </a:rPr>
              <a:t>Gracias</a:t>
            </a:r>
            <a:endParaRPr lang="en-US" sz="6600" dirty="0"/>
          </a:p>
        </p:txBody>
      </p:sp>
      <p:sp>
        <p:nvSpPr>
          <p:cNvPr id="5" name="Text 2"/>
          <p:cNvSpPr txBox="1"/>
          <p:nvPr/>
        </p:nvSpPr>
        <p:spPr>
          <a:xfrm>
            <a:off x="731520" y="4023360"/>
            <a:ext cx="7772400" cy="822960"/>
          </a:xfrm>
          <a:prstGeom prst="rect">
            <a:avLst/>
          </a:prstGeom>
          <a:noFill/>
          <a:ln/>
        </p:spPr>
        <p:txBody>
          <a:bodyPr wrap="square" lIns="0" tIns="0" rIns="0" bIns="0" rtlCol="0" anchor="t"/>
          <a:lstStyle/>
          <a:p>
            <a:pPr algn="l" indent="0" marL="0">
              <a:buNone/>
            </a:pPr>
            <a:r>
              <a:rPr lang="en-US" sz="1800" dirty="0">
                <a:solidFill>
                  <a:schemeClr val="accent3"/>
                </a:solidFill>
                <a:latin typeface="Calibri" pitchFamily="34" charset="0"/>
                <a:ea typeface="Calibri" pitchFamily="34" charset="-122"/>
                <a:cs typeface="Calibri" pitchFamily="34" charset="-120"/>
              </a:rPr>
              <a:t>Arquitectura lakehouse escalable para la integración y análisis de información curricular académica</a:t>
            </a:r>
            <a:endParaRPr lang="en-US" sz="1800" dirty="0"/>
          </a:p>
        </p:txBody>
      </p:sp>
      <p:sp>
        <p:nvSpPr>
          <p:cNvPr id="6" name="Text 3"/>
          <p:cNvSpPr txBox="1"/>
          <p:nvPr/>
        </p:nvSpPr>
        <p:spPr>
          <a:xfrm>
            <a:off x="731520" y="4983480"/>
            <a:ext cx="73152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libri" pitchFamily="34" charset="0"/>
                <a:ea typeface="Calibri" pitchFamily="34" charset="-122"/>
                <a:cs typeface="Calibri" pitchFamily="34" charset="-120"/>
              </a:rPr>
              <a:t>Carlos Martínez Jaén</a:t>
            </a:r>
            <a:endParaRPr lang="en-US" sz="18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5A00"/>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TFM Plano tecnico impresion">
  <a:themeElements>
    <a:clrScheme name="TFM Plano tecnico impresion">
      <a:dk1>
        <a:srgbClr val="FFFFFF"/>
      </a:dk1>
      <a:lt1>
        <a:srgbClr val="10243A"/>
      </a:lt1>
      <a:dk2>
        <a:srgbClr val="EEF3F8"/>
      </a:dk2>
      <a:lt2>
        <a:srgbClr val="10243A"/>
      </a:lt2>
      <a:accent1>
        <a:srgbClr val="A85A00"/>
      </a:accent1>
      <a:accent2>
        <a:srgbClr val="7A93AE"/>
      </a:accent2>
      <a:accent3>
        <a:srgbClr val="44566A"/>
      </a:accent3>
      <a:accent4>
        <a:srgbClr val="2E7D5B"/>
      </a:accent4>
      <a:accent5>
        <a:srgbClr val="2F6EA8"/>
      </a:accent5>
      <a:accent6>
        <a:srgbClr val="2B3E52"/>
      </a:accent6>
      <a:hlink>
        <a:srgbClr val="A85A00"/>
      </a:hlink>
      <a:folHlink>
        <a:srgbClr val="44566A"/>
      </a:folHlink>
    </a:clrScheme>
    <a:fontScheme name="TFM Plano tecnico impres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del TFM: arquitectura lakehouse para información curricular académica</dc:title>
  <dc:subject>PptxGenJS Presentation</dc:subject>
  <dc:creator>Carlos Martínez Jaén</dc:creator>
  <cp:lastModifiedBy>Carlos Martínez Jaén</cp:lastModifiedBy>
  <cp:revision>1</cp:revision>
  <dcterms:created xsi:type="dcterms:W3CDTF">2026-10-23T06:55:43Z</dcterms:created>
  <dcterms:modified xsi:type="dcterms:W3CDTF">2026-10-23T06:55:43Z</dcterms:modified>
</cp:coreProperties>
</file>